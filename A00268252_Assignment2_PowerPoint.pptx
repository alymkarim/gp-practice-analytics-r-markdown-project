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22.xml"/>
  <Override ContentType="application/vnd.openxmlformats-officedocument.presentationml.slide+xml" PartName="/ppt/slides/slide23.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Lst>
  <p:sldSz cx="18288000" cy="10287000"/>
  <p:notesSz cx="6858000" cy="9144000"/>
  <p:embeddedFontLst>
    <p:embeddedFont>
      <p:font typeface="Helios Extended Bold" charset="1" panose="02000805050000020004"/>
      <p:regular r:id="rId29"/>
    </p:embeddedFont>
    <p:embeddedFont>
      <p:font typeface="League Spartan" charset="1" panose="00000800000000000000"/>
      <p:regular r:id="rId30"/>
    </p:embeddedFont>
    <p:embeddedFont>
      <p:font typeface="Helios Extended" charset="1" panose="02000505040000020004"/>
      <p:regular r:id="rId31"/>
    </p:embeddedFont>
    <p:embeddedFont>
      <p:font typeface="TAN Pearl" charset="1" panose="00000000000000000000"/>
      <p:regular r:id="rId32"/>
    </p:embeddedFont>
    <p:embeddedFont>
      <p:font typeface="Glacial Indifference Bold" charset="1" panose="00000800000000000000"/>
      <p:regular r:id="rId33"/>
    </p:embeddedFont>
    <p:embeddedFont>
      <p:font typeface="Glacial Indifference" charset="1" panose="00000000000000000000"/>
      <p:regular r:id="rId34"/>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slides/slide18.xml" Type="http://schemas.openxmlformats.org/officeDocument/2006/relationships/slide"/><Relationship Id="rId24" Target="slides/slide19.xml" Type="http://schemas.openxmlformats.org/officeDocument/2006/relationships/slide"/><Relationship Id="rId25" Target="slides/slide20.xml" Type="http://schemas.openxmlformats.org/officeDocument/2006/relationships/slide"/><Relationship Id="rId26" Target="slides/slide21.xml" Type="http://schemas.openxmlformats.org/officeDocument/2006/relationships/slide"/><Relationship Id="rId27" Target="slides/slide22.xml" Type="http://schemas.openxmlformats.org/officeDocument/2006/relationships/slide"/><Relationship Id="rId28" Target="slides/slide23.xml" Type="http://schemas.openxmlformats.org/officeDocument/2006/relationships/slide"/><Relationship Id="rId29" Target="fonts/font29.fntdata" Type="http://schemas.openxmlformats.org/officeDocument/2006/relationships/font"/><Relationship Id="rId3" Target="viewProps.xml" Type="http://schemas.openxmlformats.org/officeDocument/2006/relationships/viewProps"/><Relationship Id="rId30" Target="fonts/font30.fntdata" Type="http://schemas.openxmlformats.org/officeDocument/2006/relationships/font"/><Relationship Id="rId31" Target="fonts/font31.fntdata" Type="http://schemas.openxmlformats.org/officeDocument/2006/relationships/font"/><Relationship Id="rId32" Target="fonts/font32.fntdata" Type="http://schemas.openxmlformats.org/officeDocument/2006/relationships/font"/><Relationship Id="rId33" Target="fonts/font33.fntdata" Type="http://schemas.openxmlformats.org/officeDocument/2006/relationships/font"/><Relationship Id="rId34" Target="fonts/font34.fntdata" Type="http://schemas.openxmlformats.org/officeDocument/2006/relationships/font"/><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4.png" Type="http://schemas.openxmlformats.org/officeDocument/2006/relationships/image"/><Relationship Id="rId6" Target="../media/image5.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6.jpe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jpe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jpeg" Type="http://schemas.openxmlformats.org/officeDocument/2006/relationships/image"/><Relationship Id="rId3" Target="../media/image7.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jpeg" Type="http://schemas.openxmlformats.org/officeDocument/2006/relationships/image"/><Relationship Id="rId3" Target="../media/image8.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5.png" Type="http://schemas.openxmlformats.org/officeDocument/2006/relationships/image"/><Relationship Id="rId2" Target="../media/image2.png" Type="http://schemas.openxmlformats.org/officeDocument/2006/relationships/image"/><Relationship Id="rId3" Target="../media/image3.svg" Type="http://schemas.openxmlformats.org/officeDocument/2006/relationships/image"/><Relationship Id="rId4" Target="../media/image9.png" Type="http://schemas.openxmlformats.org/officeDocument/2006/relationships/image"/><Relationship Id="rId5" Target="../media/image10.svg" Type="http://schemas.openxmlformats.org/officeDocument/2006/relationships/image"/><Relationship Id="rId6" Target="../media/image11.png" Type="http://schemas.openxmlformats.org/officeDocument/2006/relationships/image"/><Relationship Id="rId7" Target="../media/image12.png" Type="http://schemas.openxmlformats.org/officeDocument/2006/relationships/image"/><Relationship Id="rId8" Target="../media/image13.png" Type="http://schemas.openxmlformats.org/officeDocument/2006/relationships/image"/><Relationship Id="rId9" Target="../media/image14.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3.svg" Type="http://schemas.openxmlformats.org/officeDocument/2006/relationships/image"/><Relationship Id="rId4" Target="../media/image16.png" Type="http://schemas.openxmlformats.org/officeDocument/2006/relationships/image"/><Relationship Id="rId5" Target="../media/image17.png" Type="http://schemas.openxmlformats.org/officeDocument/2006/relationships/image"/><Relationship Id="rId6" Target="../media/image18.png" Type="http://schemas.openxmlformats.org/officeDocument/2006/relationships/image"/><Relationship Id="rId7" Target="../media/image19.sv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3.svg" Type="http://schemas.openxmlformats.org/officeDocument/2006/relationships/image"/><Relationship Id="rId4" Target="../media/image20.png" Type="http://schemas.openxmlformats.org/officeDocument/2006/relationships/image"/><Relationship Id="rId5" Target="../media/image18.png" Type="http://schemas.openxmlformats.org/officeDocument/2006/relationships/image"/><Relationship Id="rId6" Target="../media/image19.sv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3.svg" Type="http://schemas.openxmlformats.org/officeDocument/2006/relationships/image"/><Relationship Id="rId4" Target="../media/image21.png" Type="http://schemas.openxmlformats.org/officeDocument/2006/relationships/image"/><Relationship Id="rId5" Target="../media/image18.png" Type="http://schemas.openxmlformats.org/officeDocument/2006/relationships/image"/><Relationship Id="rId6" Target="../media/image19.sv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3.svg" Type="http://schemas.openxmlformats.org/officeDocument/2006/relationships/image"/><Relationship Id="rId4" Target="../media/image22.png" Type="http://schemas.openxmlformats.org/officeDocument/2006/relationships/image"/><Relationship Id="rId5" Target="../media/image18.png" Type="http://schemas.openxmlformats.org/officeDocument/2006/relationships/image"/><Relationship Id="rId6" Target="../media/image19.sv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3.svg" Type="http://schemas.openxmlformats.org/officeDocument/2006/relationships/image"/><Relationship Id="rId4" Target="../media/image23.png" Type="http://schemas.openxmlformats.org/officeDocument/2006/relationships/image"/><Relationship Id="rId5" Target="../media/image18.png" Type="http://schemas.openxmlformats.org/officeDocument/2006/relationships/image"/><Relationship Id="rId6" Target="../media/image19.sv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3.svg" Type="http://schemas.openxmlformats.org/officeDocument/2006/relationships/image"/><Relationship Id="rId4" Target="../media/image24.png" Type="http://schemas.openxmlformats.org/officeDocument/2006/relationships/image"/><Relationship Id="rId5" Target="../media/image18.png" Type="http://schemas.openxmlformats.org/officeDocument/2006/relationships/image"/><Relationship Id="rId6" Target="../media/image19.sv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3.svg" Type="http://schemas.openxmlformats.org/officeDocument/2006/relationships/image"/><Relationship Id="rId4" Target="../media/image25.png" Type="http://schemas.openxmlformats.org/officeDocument/2006/relationships/image"/><Relationship Id="rId5" Target="../media/image26.sv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3.svg" Type="http://schemas.openxmlformats.org/officeDocument/2006/relationships/image"/><Relationship Id="rId4" Target="../media/image27.png" Type="http://schemas.openxmlformats.org/officeDocument/2006/relationships/image"/><Relationship Id="rId5" Target="../media/image18.png" Type="http://schemas.openxmlformats.org/officeDocument/2006/relationships/image"/><Relationship Id="rId6" Target="../media/image19.sv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3.svg" Type="http://schemas.openxmlformats.org/officeDocument/2006/relationships/image"/><Relationship Id="rId4" Target="../media/image28.png" Type="http://schemas.openxmlformats.org/officeDocument/2006/relationships/image"/><Relationship Id="rId5" Target="../media/image29.svg" Type="http://schemas.openxmlformats.org/officeDocument/2006/relationships/image"/><Relationship Id="rId6" Target="../media/image30.png" Type="http://schemas.openxmlformats.org/officeDocument/2006/relationships/image"/><Relationship Id="rId7" Target="../media/image11.png" Type="http://schemas.openxmlformats.org/officeDocument/2006/relationships/image"/><Relationship Id="rId8" Target="../media/image12.png" Type="http://schemas.openxmlformats.org/officeDocument/2006/relationships/image"/></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35.svg" Type="http://schemas.openxmlformats.org/officeDocument/2006/relationships/image"/><Relationship Id="rId11" Target="../media/image36.png" Type="http://schemas.openxmlformats.org/officeDocument/2006/relationships/image"/><Relationship Id="rId12" Target="../media/image37.svg" Type="http://schemas.openxmlformats.org/officeDocument/2006/relationships/image"/><Relationship Id="rId13" Target="../media/image38.png" Type="http://schemas.openxmlformats.org/officeDocument/2006/relationships/image"/><Relationship Id="rId2" Target="../media/image2.png" Type="http://schemas.openxmlformats.org/officeDocument/2006/relationships/image"/><Relationship Id="rId3" Target="../media/image3.svg" Type="http://schemas.openxmlformats.org/officeDocument/2006/relationships/image"/><Relationship Id="rId4" Target="../media/image31.png" Type="http://schemas.openxmlformats.org/officeDocument/2006/relationships/image"/><Relationship Id="rId5" Target="../media/image32.png" Type="http://schemas.openxmlformats.org/officeDocument/2006/relationships/image"/><Relationship Id="rId6" Target="../media/image33.png" Type="http://schemas.openxmlformats.org/officeDocument/2006/relationships/image"/><Relationship Id="rId7" Target="../media/image18.png" Type="http://schemas.openxmlformats.org/officeDocument/2006/relationships/image"/><Relationship Id="rId8" Target="../media/image19.svg" Type="http://schemas.openxmlformats.org/officeDocument/2006/relationships/image"/><Relationship Id="rId9" Target="../media/image34.png" Type="http://schemas.openxmlformats.org/officeDocument/2006/relationships/image"/></Relationships>
</file>

<file path=ppt/slides/_rels/slide18.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37.svg" Type="http://schemas.openxmlformats.org/officeDocument/2006/relationships/image"/><Relationship Id="rId11" Target="../media/image18.png" Type="http://schemas.openxmlformats.org/officeDocument/2006/relationships/image"/><Relationship Id="rId12" Target="../media/image19.svg" Type="http://schemas.openxmlformats.org/officeDocument/2006/relationships/image"/><Relationship Id="rId2" Target="../media/image2.png" Type="http://schemas.openxmlformats.org/officeDocument/2006/relationships/image"/><Relationship Id="rId3" Target="../media/image3.svg" Type="http://schemas.openxmlformats.org/officeDocument/2006/relationships/image"/><Relationship Id="rId4" Target="../media/image39.png" Type="http://schemas.openxmlformats.org/officeDocument/2006/relationships/image"/><Relationship Id="rId5" Target="../media/image40.png" Type="http://schemas.openxmlformats.org/officeDocument/2006/relationships/image"/><Relationship Id="rId6" Target="../media/image41.png" Type="http://schemas.openxmlformats.org/officeDocument/2006/relationships/image"/><Relationship Id="rId7" Target="../media/image42.png" Type="http://schemas.openxmlformats.org/officeDocument/2006/relationships/image"/><Relationship Id="rId8" Target="../media/image43.svg" Type="http://schemas.openxmlformats.org/officeDocument/2006/relationships/image"/><Relationship Id="rId9" Target="../media/image36.png" Type="http://schemas.openxmlformats.org/officeDocument/2006/relationships/image"/></Relationships>
</file>

<file path=ppt/slides/_rels/slide1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3.svg" Type="http://schemas.openxmlformats.org/officeDocument/2006/relationships/image"/><Relationship Id="rId4" Target="../media/image44.png" Type="http://schemas.openxmlformats.org/officeDocument/2006/relationships/image"/><Relationship Id="rId5" Target="../media/image45.svg" Type="http://schemas.openxmlformats.org/officeDocument/2006/relationships/image"/><Relationship Id="rId6" Target="../media/image11.png" Type="http://schemas.openxmlformats.org/officeDocument/2006/relationships/image"/><Relationship Id="rId7" Target="../media/image46.png" Type="http://schemas.openxmlformats.org/officeDocument/2006/relationships/image"/><Relationship Id="rId8" Target="../media/image47.png" Type="http://schemas.openxmlformats.org/officeDocument/2006/relationships/image"/></Relationships>
</file>

<file path=ppt/slides/_rels/slide20.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9.svg" Type="http://schemas.openxmlformats.org/officeDocument/2006/relationships/image"/><Relationship Id="rId2" Target="../media/image2.png" Type="http://schemas.openxmlformats.org/officeDocument/2006/relationships/image"/><Relationship Id="rId3" Target="../media/image3.svg" Type="http://schemas.openxmlformats.org/officeDocument/2006/relationships/image"/><Relationship Id="rId4" Target="../media/image48.png" Type="http://schemas.openxmlformats.org/officeDocument/2006/relationships/image"/><Relationship Id="rId5" Target="../media/image49.png" Type="http://schemas.openxmlformats.org/officeDocument/2006/relationships/image"/><Relationship Id="rId6" Target="../media/image50.png" Type="http://schemas.openxmlformats.org/officeDocument/2006/relationships/image"/><Relationship Id="rId7" Target="../media/image51.png" Type="http://schemas.openxmlformats.org/officeDocument/2006/relationships/image"/><Relationship Id="rId8" Target="../media/image52.svg" Type="http://schemas.openxmlformats.org/officeDocument/2006/relationships/image"/><Relationship Id="rId9" Target="../media/image18.png" Type="http://schemas.openxmlformats.org/officeDocument/2006/relationships/image"/></Relationships>
</file>

<file path=ppt/slides/_rels/slide21.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57.svg" Type="http://schemas.openxmlformats.org/officeDocument/2006/relationships/image"/><Relationship Id="rId11" Target="../media/image58.png" Type="http://schemas.openxmlformats.org/officeDocument/2006/relationships/image"/><Relationship Id="rId12" Target="../media/image59.svg" Type="http://schemas.openxmlformats.org/officeDocument/2006/relationships/image"/><Relationship Id="rId2" Target="../media/image2.png" Type="http://schemas.openxmlformats.org/officeDocument/2006/relationships/image"/><Relationship Id="rId3" Target="../media/image3.svg" Type="http://schemas.openxmlformats.org/officeDocument/2006/relationships/image"/><Relationship Id="rId4" Target="../media/image53.png" Type="http://schemas.openxmlformats.org/officeDocument/2006/relationships/image"/><Relationship Id="rId5" Target="../media/image54.png" Type="http://schemas.openxmlformats.org/officeDocument/2006/relationships/image"/><Relationship Id="rId6" Target="../media/image55.png" Type="http://schemas.openxmlformats.org/officeDocument/2006/relationships/image"/><Relationship Id="rId7" Target="../media/image18.png" Type="http://schemas.openxmlformats.org/officeDocument/2006/relationships/image"/><Relationship Id="rId8" Target="../media/image19.svg" Type="http://schemas.openxmlformats.org/officeDocument/2006/relationships/image"/><Relationship Id="rId9" Target="../media/image56.png" Type="http://schemas.openxmlformats.org/officeDocument/2006/relationships/image"/></Relationships>
</file>

<file path=ppt/slides/_rels/slide2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6.jpeg" Type="http://schemas.openxmlformats.org/officeDocument/2006/relationships/image"/></Relationships>
</file>

<file path=ppt/slides/_rels/slide2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520" t="-9253" r="-11258" b="-23212"/>
            </a:stretch>
          </a:blipFill>
        </p:spPr>
      </p:sp>
      <p:grpSp>
        <p:nvGrpSpPr>
          <p:cNvPr name="Group 3" id="3"/>
          <p:cNvGrpSpPr/>
          <p:nvPr/>
        </p:nvGrpSpPr>
        <p:grpSpPr>
          <a:xfrm rot="0">
            <a:off x="-4491542" y="-1187572"/>
            <a:ext cx="16846659" cy="12662144"/>
            <a:chOff x="0" y="0"/>
            <a:chExt cx="929336" cy="698500"/>
          </a:xfrm>
        </p:grpSpPr>
        <p:sp>
          <p:nvSpPr>
            <p:cNvPr name="Freeform 4" id="4"/>
            <p:cNvSpPr/>
            <p:nvPr/>
          </p:nvSpPr>
          <p:spPr>
            <a:xfrm flipH="false" flipV="false" rot="0">
              <a:off x="0" y="0"/>
              <a:ext cx="929336" cy="698500"/>
            </a:xfrm>
            <a:custGeom>
              <a:avLst/>
              <a:gdLst/>
              <a:ahLst/>
              <a:cxnLst/>
              <a:rect r="r" b="b" t="t" l="l"/>
              <a:pathLst>
                <a:path h="698500" w="929336">
                  <a:moveTo>
                    <a:pt x="929336" y="349250"/>
                  </a:moveTo>
                  <a:lnTo>
                    <a:pt x="726136" y="698500"/>
                  </a:lnTo>
                  <a:lnTo>
                    <a:pt x="203200" y="698500"/>
                  </a:lnTo>
                  <a:lnTo>
                    <a:pt x="0" y="349250"/>
                  </a:lnTo>
                  <a:lnTo>
                    <a:pt x="203200" y="0"/>
                  </a:lnTo>
                  <a:lnTo>
                    <a:pt x="726136" y="0"/>
                  </a:lnTo>
                  <a:lnTo>
                    <a:pt x="929336" y="349250"/>
                  </a:lnTo>
                  <a:close/>
                </a:path>
              </a:pathLst>
            </a:custGeom>
            <a:solidFill>
              <a:srgbClr val="FFFFFF">
                <a:alpha val="83922"/>
              </a:srgbClr>
            </a:solidFill>
          </p:spPr>
        </p:sp>
        <p:sp>
          <p:nvSpPr>
            <p:cNvPr name="TextBox 5" id="5"/>
            <p:cNvSpPr txBox="true"/>
            <p:nvPr/>
          </p:nvSpPr>
          <p:spPr>
            <a:xfrm>
              <a:off x="114300" y="-38100"/>
              <a:ext cx="700736" cy="736600"/>
            </a:xfrm>
            <a:prstGeom prst="rect">
              <a:avLst/>
            </a:prstGeom>
          </p:spPr>
          <p:txBody>
            <a:bodyPr anchor="ctr" rtlCol="false" tIns="50800" lIns="50800" bIns="50800" rIns="50800"/>
            <a:lstStyle/>
            <a:p>
              <a:pPr algn="ctr">
                <a:lnSpc>
                  <a:spcPts val="2659"/>
                </a:lnSpc>
                <a:spcBef>
                  <a:spcPct val="0"/>
                </a:spcBef>
              </a:pPr>
            </a:p>
          </p:txBody>
        </p:sp>
      </p:grpSp>
      <p:sp>
        <p:nvSpPr>
          <p:cNvPr name="Freeform 6" id="6"/>
          <p:cNvSpPr/>
          <p:nvPr/>
        </p:nvSpPr>
        <p:spPr>
          <a:xfrm flipH="false" flipV="false" rot="0">
            <a:off x="0" y="6365042"/>
            <a:ext cx="3931788" cy="3921958"/>
          </a:xfrm>
          <a:custGeom>
            <a:avLst/>
            <a:gdLst/>
            <a:ahLst/>
            <a:cxnLst/>
            <a:rect r="r" b="b" t="t" l="l"/>
            <a:pathLst>
              <a:path h="3921958" w="3931788">
                <a:moveTo>
                  <a:pt x="0" y="0"/>
                </a:moveTo>
                <a:lnTo>
                  <a:pt x="3931788" y="0"/>
                </a:lnTo>
                <a:lnTo>
                  <a:pt x="3931788" y="3921958"/>
                </a:lnTo>
                <a:lnTo>
                  <a:pt x="0" y="3921958"/>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7" id="7"/>
          <p:cNvGrpSpPr/>
          <p:nvPr/>
        </p:nvGrpSpPr>
        <p:grpSpPr>
          <a:xfrm rot="3514545">
            <a:off x="2136743" y="1871976"/>
            <a:ext cx="13665829" cy="1525700"/>
            <a:chOff x="0" y="0"/>
            <a:chExt cx="3599231" cy="401831"/>
          </a:xfrm>
        </p:grpSpPr>
        <p:sp>
          <p:nvSpPr>
            <p:cNvPr name="Freeform 8" id="8"/>
            <p:cNvSpPr/>
            <p:nvPr/>
          </p:nvSpPr>
          <p:spPr>
            <a:xfrm flipH="false" flipV="false" rot="0">
              <a:off x="0" y="0"/>
              <a:ext cx="3599231" cy="401831"/>
            </a:xfrm>
            <a:custGeom>
              <a:avLst/>
              <a:gdLst/>
              <a:ahLst/>
              <a:cxnLst/>
              <a:rect r="r" b="b" t="t" l="l"/>
              <a:pathLst>
                <a:path h="401831" w="3599231">
                  <a:moveTo>
                    <a:pt x="203200" y="0"/>
                  </a:moveTo>
                  <a:lnTo>
                    <a:pt x="3599231" y="0"/>
                  </a:lnTo>
                  <a:lnTo>
                    <a:pt x="3396031" y="401831"/>
                  </a:lnTo>
                  <a:lnTo>
                    <a:pt x="0" y="401831"/>
                  </a:lnTo>
                  <a:lnTo>
                    <a:pt x="203200" y="0"/>
                  </a:lnTo>
                  <a:close/>
                </a:path>
              </a:pathLst>
            </a:custGeom>
            <a:solidFill>
              <a:srgbClr val="578EAF"/>
            </a:solidFill>
          </p:spPr>
        </p:sp>
        <p:sp>
          <p:nvSpPr>
            <p:cNvPr name="TextBox 9" id="9"/>
            <p:cNvSpPr txBox="true"/>
            <p:nvPr/>
          </p:nvSpPr>
          <p:spPr>
            <a:xfrm>
              <a:off x="101600" y="-38100"/>
              <a:ext cx="3396031" cy="439931"/>
            </a:xfrm>
            <a:prstGeom prst="rect">
              <a:avLst/>
            </a:prstGeom>
          </p:spPr>
          <p:txBody>
            <a:bodyPr anchor="ctr" rtlCol="false" tIns="50800" lIns="50800" bIns="50800" rIns="50800"/>
            <a:lstStyle/>
            <a:p>
              <a:pPr algn="ctr">
                <a:lnSpc>
                  <a:spcPts val="2659"/>
                </a:lnSpc>
              </a:pPr>
            </a:p>
          </p:txBody>
        </p:sp>
      </p:grpSp>
      <p:grpSp>
        <p:nvGrpSpPr>
          <p:cNvPr name="Group 10" id="10"/>
          <p:cNvGrpSpPr/>
          <p:nvPr/>
        </p:nvGrpSpPr>
        <p:grpSpPr>
          <a:xfrm rot="7225038">
            <a:off x="5047261" y="10910186"/>
            <a:ext cx="10495456" cy="1412986"/>
            <a:chOff x="0" y="0"/>
            <a:chExt cx="2764235" cy="372144"/>
          </a:xfrm>
        </p:grpSpPr>
        <p:sp>
          <p:nvSpPr>
            <p:cNvPr name="Freeform 11" id="11"/>
            <p:cNvSpPr/>
            <p:nvPr/>
          </p:nvSpPr>
          <p:spPr>
            <a:xfrm flipH="false" flipV="false" rot="0">
              <a:off x="0" y="0"/>
              <a:ext cx="2764235" cy="372144"/>
            </a:xfrm>
            <a:custGeom>
              <a:avLst/>
              <a:gdLst/>
              <a:ahLst/>
              <a:cxnLst/>
              <a:rect r="r" b="b" t="t" l="l"/>
              <a:pathLst>
                <a:path h="372144" w="2764235">
                  <a:moveTo>
                    <a:pt x="203200" y="0"/>
                  </a:moveTo>
                  <a:lnTo>
                    <a:pt x="2764235" y="0"/>
                  </a:lnTo>
                  <a:lnTo>
                    <a:pt x="2561035" y="372144"/>
                  </a:lnTo>
                  <a:lnTo>
                    <a:pt x="0" y="372144"/>
                  </a:lnTo>
                  <a:lnTo>
                    <a:pt x="203200" y="0"/>
                  </a:lnTo>
                  <a:close/>
                </a:path>
              </a:pathLst>
            </a:custGeom>
            <a:solidFill>
              <a:srgbClr val="6AABD2"/>
            </a:solidFill>
          </p:spPr>
        </p:sp>
        <p:sp>
          <p:nvSpPr>
            <p:cNvPr name="TextBox 12" id="12"/>
            <p:cNvSpPr txBox="true"/>
            <p:nvPr/>
          </p:nvSpPr>
          <p:spPr>
            <a:xfrm>
              <a:off x="101600" y="-38100"/>
              <a:ext cx="2561035" cy="410244"/>
            </a:xfrm>
            <a:prstGeom prst="rect">
              <a:avLst/>
            </a:prstGeom>
          </p:spPr>
          <p:txBody>
            <a:bodyPr anchor="ctr" rtlCol="false" tIns="50800" lIns="50800" bIns="50800" rIns="50800"/>
            <a:lstStyle/>
            <a:p>
              <a:pPr algn="ctr">
                <a:lnSpc>
                  <a:spcPts val="2659"/>
                </a:lnSpc>
              </a:pPr>
            </a:p>
          </p:txBody>
        </p:sp>
      </p:grpSp>
      <p:sp>
        <p:nvSpPr>
          <p:cNvPr name="Freeform 13" id="13"/>
          <p:cNvSpPr/>
          <p:nvPr/>
        </p:nvSpPr>
        <p:spPr>
          <a:xfrm flipH="false" flipV="false" rot="0">
            <a:off x="1028700" y="883434"/>
            <a:ext cx="753496" cy="698867"/>
          </a:xfrm>
          <a:custGeom>
            <a:avLst/>
            <a:gdLst/>
            <a:ahLst/>
            <a:cxnLst/>
            <a:rect r="r" b="b" t="t" l="l"/>
            <a:pathLst>
              <a:path h="698867" w="753496">
                <a:moveTo>
                  <a:pt x="0" y="0"/>
                </a:moveTo>
                <a:lnTo>
                  <a:pt x="753496" y="0"/>
                </a:lnTo>
                <a:lnTo>
                  <a:pt x="753496" y="698867"/>
                </a:lnTo>
                <a:lnTo>
                  <a:pt x="0" y="698867"/>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14" id="14"/>
          <p:cNvSpPr txBox="true"/>
          <p:nvPr/>
        </p:nvSpPr>
        <p:spPr>
          <a:xfrm rot="0">
            <a:off x="979150" y="6374567"/>
            <a:ext cx="6757729" cy="592454"/>
          </a:xfrm>
          <a:prstGeom prst="rect">
            <a:avLst/>
          </a:prstGeom>
        </p:spPr>
        <p:txBody>
          <a:bodyPr anchor="t" rtlCol="false" tIns="0" lIns="0" bIns="0" rIns="0">
            <a:spAutoFit/>
          </a:bodyPr>
          <a:lstStyle/>
          <a:p>
            <a:pPr algn="ctr">
              <a:lnSpc>
                <a:spcPts val="4620"/>
              </a:lnSpc>
            </a:pPr>
            <a:r>
              <a:rPr lang="en-US" b="true" sz="3300" spc="495">
                <a:solidFill>
                  <a:srgbClr val="0B1320"/>
                </a:solidFill>
                <a:latin typeface="Helios Extended Bold"/>
                <a:ea typeface="Helios Extended Bold"/>
                <a:cs typeface="Helios Extended Bold"/>
                <a:sym typeface="Helios Extended Bold"/>
              </a:rPr>
              <a:t>PRESENTATION</a:t>
            </a:r>
          </a:p>
        </p:txBody>
      </p:sp>
      <p:sp>
        <p:nvSpPr>
          <p:cNvPr name="TextBox 15" id="15"/>
          <p:cNvSpPr txBox="true"/>
          <p:nvPr/>
        </p:nvSpPr>
        <p:spPr>
          <a:xfrm rot="0">
            <a:off x="491547" y="3873848"/>
            <a:ext cx="7802649" cy="2725485"/>
          </a:xfrm>
          <a:prstGeom prst="rect">
            <a:avLst/>
          </a:prstGeom>
        </p:spPr>
        <p:txBody>
          <a:bodyPr anchor="t" rtlCol="false" tIns="0" lIns="0" bIns="0" rIns="0">
            <a:spAutoFit/>
          </a:bodyPr>
          <a:lstStyle/>
          <a:p>
            <a:pPr algn="ctr">
              <a:lnSpc>
                <a:spcPts val="3601"/>
              </a:lnSpc>
            </a:pPr>
            <a:r>
              <a:rPr lang="en-US" sz="2572" spc="295">
                <a:solidFill>
                  <a:srgbClr val="365679"/>
                </a:solidFill>
                <a:latin typeface="League Spartan"/>
                <a:ea typeface="League Spartan"/>
                <a:cs typeface="League Spartan"/>
                <a:sym typeface="League Spartan"/>
              </a:rPr>
              <a:t>PREPARING PROPERTY DATA FOR PRICE PREDICTION: A COMPREHENSIVE DATA CLEANING AND FEATURE ENGINEERING APPROACH</a:t>
            </a:r>
          </a:p>
          <a:p>
            <a:pPr algn="ctr">
              <a:lnSpc>
                <a:spcPts val="3601"/>
              </a:lnSpc>
            </a:pPr>
          </a:p>
        </p:txBody>
      </p:sp>
      <p:sp>
        <p:nvSpPr>
          <p:cNvPr name="TextBox 16" id="16"/>
          <p:cNvSpPr txBox="true"/>
          <p:nvPr/>
        </p:nvSpPr>
        <p:spPr>
          <a:xfrm rot="0">
            <a:off x="-4104358" y="2622045"/>
            <a:ext cx="16994458" cy="936610"/>
          </a:xfrm>
          <a:prstGeom prst="rect">
            <a:avLst/>
          </a:prstGeom>
        </p:spPr>
        <p:txBody>
          <a:bodyPr anchor="t" rtlCol="false" tIns="0" lIns="0" bIns="0" rIns="0">
            <a:spAutoFit/>
          </a:bodyPr>
          <a:lstStyle/>
          <a:p>
            <a:pPr algn="ctr">
              <a:lnSpc>
                <a:spcPts val="7700"/>
              </a:lnSpc>
            </a:pPr>
            <a:r>
              <a:rPr lang="en-US" sz="5500" spc="275">
                <a:solidFill>
                  <a:srgbClr val="0B1320"/>
                </a:solidFill>
                <a:latin typeface="League Spartan"/>
                <a:ea typeface="League Spartan"/>
                <a:cs typeface="League Spartan"/>
                <a:sym typeface="League Spartan"/>
              </a:rPr>
              <a:t>SARAH’S REPORT</a:t>
            </a:r>
          </a:p>
        </p:txBody>
      </p:sp>
      <p:sp>
        <p:nvSpPr>
          <p:cNvPr name="TextBox 17" id="17"/>
          <p:cNvSpPr txBox="true"/>
          <p:nvPr/>
        </p:nvSpPr>
        <p:spPr>
          <a:xfrm rot="0">
            <a:off x="47625" y="7214671"/>
            <a:ext cx="8526384" cy="782320"/>
          </a:xfrm>
          <a:prstGeom prst="rect">
            <a:avLst/>
          </a:prstGeom>
        </p:spPr>
        <p:txBody>
          <a:bodyPr anchor="t" rtlCol="false" tIns="0" lIns="0" bIns="0" rIns="0">
            <a:spAutoFit/>
          </a:bodyPr>
          <a:lstStyle/>
          <a:p>
            <a:pPr algn="ctr">
              <a:lnSpc>
                <a:spcPts val="3080"/>
              </a:lnSpc>
            </a:pPr>
            <a:r>
              <a:rPr lang="en-US" sz="2200">
                <a:solidFill>
                  <a:srgbClr val="0B1320"/>
                </a:solidFill>
                <a:latin typeface="Helios Extended"/>
                <a:ea typeface="Helios Extended"/>
                <a:cs typeface="Helios Extended"/>
                <a:sym typeface="Helios Extended"/>
              </a:rPr>
              <a:t>Nur Alya Maisarah Abd Karim</a:t>
            </a:r>
          </a:p>
          <a:p>
            <a:pPr algn="ctr">
              <a:lnSpc>
                <a:spcPts val="3080"/>
              </a:lnSpc>
            </a:pPr>
            <a:r>
              <a:rPr lang="en-US" sz="2200">
                <a:solidFill>
                  <a:srgbClr val="0B1320"/>
                </a:solidFill>
                <a:latin typeface="Helios Extended"/>
                <a:ea typeface="Helios Extended"/>
                <a:cs typeface="Helios Extended"/>
                <a:sym typeface="Helios Extended"/>
              </a:rPr>
              <a:t>A00268252</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D9E4EC"/>
        </a:solidFill>
      </p:bgPr>
    </p:bg>
    <p:spTree>
      <p:nvGrpSpPr>
        <p:cNvPr id="1" name=""/>
        <p:cNvGrpSpPr/>
        <p:nvPr/>
      </p:nvGrpSpPr>
      <p:grpSpPr>
        <a:xfrm>
          <a:off x="0" y="0"/>
          <a:ext cx="0" cy="0"/>
          <a:chOff x="0" y="0"/>
          <a:chExt cx="0" cy="0"/>
        </a:xfrm>
      </p:grpSpPr>
      <p:grpSp>
        <p:nvGrpSpPr>
          <p:cNvPr name="Group 2" id="2"/>
          <p:cNvGrpSpPr/>
          <p:nvPr/>
        </p:nvGrpSpPr>
        <p:grpSpPr>
          <a:xfrm rot="-10800000">
            <a:off x="8330897" y="-1056201"/>
            <a:ext cx="7281625" cy="6371422"/>
            <a:chOff x="0" y="0"/>
            <a:chExt cx="812800" cy="711200"/>
          </a:xfrm>
        </p:grpSpPr>
        <p:sp>
          <p:nvSpPr>
            <p:cNvPr name="Freeform 3" id="3"/>
            <p:cNvSpPr/>
            <p:nvPr/>
          </p:nvSpPr>
          <p:spPr>
            <a:xfrm flipH="true" flipV="true" rot="0">
              <a:off x="0" y="0"/>
              <a:ext cx="812800" cy="711200"/>
            </a:xfrm>
            <a:custGeom>
              <a:avLst/>
              <a:gdLst/>
              <a:ahLst/>
              <a:cxnLst/>
              <a:rect r="r" b="b" t="t" l="l"/>
              <a:pathLst>
                <a:path h="711200" w="812800">
                  <a:moveTo>
                    <a:pt x="406400" y="711200"/>
                  </a:moveTo>
                  <a:lnTo>
                    <a:pt x="0" y="0"/>
                  </a:lnTo>
                  <a:lnTo>
                    <a:pt x="812800" y="0"/>
                  </a:lnTo>
                  <a:lnTo>
                    <a:pt x="406400" y="711200"/>
                  </a:lnTo>
                  <a:close/>
                </a:path>
              </a:pathLst>
            </a:custGeom>
            <a:blipFill>
              <a:blip r:embed="rId2"/>
              <a:stretch>
                <a:fillRect l="-30247" t="0" r="-28863" b="-21227"/>
              </a:stretch>
            </a:blipFill>
          </p:spPr>
        </p:sp>
      </p:grpSp>
      <p:grpSp>
        <p:nvGrpSpPr>
          <p:cNvPr name="Group 4" id="4"/>
          <p:cNvGrpSpPr/>
          <p:nvPr/>
        </p:nvGrpSpPr>
        <p:grpSpPr>
          <a:xfrm rot="0">
            <a:off x="10154241" y="2520315"/>
            <a:ext cx="8174893" cy="7153032"/>
            <a:chOff x="0" y="0"/>
            <a:chExt cx="812800" cy="711200"/>
          </a:xfrm>
        </p:grpSpPr>
        <p:sp>
          <p:nvSpPr>
            <p:cNvPr name="Freeform 5" id="5"/>
            <p:cNvSpPr/>
            <p:nvPr/>
          </p:nvSpPr>
          <p:spPr>
            <a:xfrm flipH="false" flipV="false" rot="0">
              <a:off x="0" y="0"/>
              <a:ext cx="812800" cy="711200"/>
            </a:xfrm>
            <a:custGeom>
              <a:avLst/>
              <a:gdLst/>
              <a:ahLst/>
              <a:cxnLst/>
              <a:rect r="r" b="b" t="t" l="l"/>
              <a:pathLst>
                <a:path h="711200" w="812800">
                  <a:moveTo>
                    <a:pt x="406400" y="0"/>
                  </a:moveTo>
                  <a:lnTo>
                    <a:pt x="812800" y="711200"/>
                  </a:lnTo>
                  <a:lnTo>
                    <a:pt x="0" y="711200"/>
                  </a:lnTo>
                  <a:lnTo>
                    <a:pt x="406400" y="0"/>
                  </a:lnTo>
                  <a:close/>
                </a:path>
              </a:pathLst>
            </a:custGeom>
            <a:blipFill>
              <a:blip r:embed="rId2"/>
              <a:stretch>
                <a:fillRect l="-30247" t="0" r="-28863" b="-21227"/>
              </a:stretch>
            </a:blipFill>
          </p:spPr>
        </p:sp>
      </p:grpSp>
      <p:grpSp>
        <p:nvGrpSpPr>
          <p:cNvPr name="Group 6" id="6"/>
          <p:cNvGrpSpPr/>
          <p:nvPr/>
        </p:nvGrpSpPr>
        <p:grpSpPr>
          <a:xfrm rot="3703639">
            <a:off x="7950079" y="-415398"/>
            <a:ext cx="13665829" cy="1525700"/>
            <a:chOff x="0" y="0"/>
            <a:chExt cx="3599231" cy="401831"/>
          </a:xfrm>
        </p:grpSpPr>
        <p:sp>
          <p:nvSpPr>
            <p:cNvPr name="Freeform 7" id="7"/>
            <p:cNvSpPr/>
            <p:nvPr/>
          </p:nvSpPr>
          <p:spPr>
            <a:xfrm flipH="false" flipV="false" rot="0">
              <a:off x="0" y="0"/>
              <a:ext cx="3599231" cy="401831"/>
            </a:xfrm>
            <a:custGeom>
              <a:avLst/>
              <a:gdLst/>
              <a:ahLst/>
              <a:cxnLst/>
              <a:rect r="r" b="b" t="t" l="l"/>
              <a:pathLst>
                <a:path h="401831" w="3599231">
                  <a:moveTo>
                    <a:pt x="203200" y="0"/>
                  </a:moveTo>
                  <a:lnTo>
                    <a:pt x="3599231" y="0"/>
                  </a:lnTo>
                  <a:lnTo>
                    <a:pt x="3396031" y="401831"/>
                  </a:lnTo>
                  <a:lnTo>
                    <a:pt x="0" y="401831"/>
                  </a:lnTo>
                  <a:lnTo>
                    <a:pt x="203200" y="0"/>
                  </a:lnTo>
                  <a:close/>
                </a:path>
              </a:pathLst>
            </a:custGeom>
            <a:solidFill>
              <a:srgbClr val="578EAF"/>
            </a:solidFill>
          </p:spPr>
        </p:sp>
        <p:sp>
          <p:nvSpPr>
            <p:cNvPr name="TextBox 8" id="8"/>
            <p:cNvSpPr txBox="true"/>
            <p:nvPr/>
          </p:nvSpPr>
          <p:spPr>
            <a:xfrm>
              <a:off x="101600" y="-38100"/>
              <a:ext cx="3396031" cy="439931"/>
            </a:xfrm>
            <a:prstGeom prst="rect">
              <a:avLst/>
            </a:prstGeom>
          </p:spPr>
          <p:txBody>
            <a:bodyPr anchor="ctr" rtlCol="false" tIns="50800" lIns="50800" bIns="50800" rIns="50800"/>
            <a:lstStyle/>
            <a:p>
              <a:pPr algn="ctr">
                <a:lnSpc>
                  <a:spcPts val="2659"/>
                </a:lnSpc>
              </a:pPr>
            </a:p>
          </p:txBody>
        </p:sp>
      </p:grpSp>
      <p:grpSp>
        <p:nvGrpSpPr>
          <p:cNvPr name="Group 9" id="9"/>
          <p:cNvGrpSpPr/>
          <p:nvPr/>
        </p:nvGrpSpPr>
        <p:grpSpPr>
          <a:xfrm rot="7414131">
            <a:off x="10364794" y="8682091"/>
            <a:ext cx="10495456" cy="1412986"/>
            <a:chOff x="0" y="0"/>
            <a:chExt cx="2764235" cy="372144"/>
          </a:xfrm>
        </p:grpSpPr>
        <p:sp>
          <p:nvSpPr>
            <p:cNvPr name="Freeform 10" id="10"/>
            <p:cNvSpPr/>
            <p:nvPr/>
          </p:nvSpPr>
          <p:spPr>
            <a:xfrm flipH="false" flipV="false" rot="0">
              <a:off x="0" y="0"/>
              <a:ext cx="2764235" cy="372144"/>
            </a:xfrm>
            <a:custGeom>
              <a:avLst/>
              <a:gdLst/>
              <a:ahLst/>
              <a:cxnLst/>
              <a:rect r="r" b="b" t="t" l="l"/>
              <a:pathLst>
                <a:path h="372144" w="2764235">
                  <a:moveTo>
                    <a:pt x="203200" y="0"/>
                  </a:moveTo>
                  <a:lnTo>
                    <a:pt x="2764235" y="0"/>
                  </a:lnTo>
                  <a:lnTo>
                    <a:pt x="2561035" y="372144"/>
                  </a:lnTo>
                  <a:lnTo>
                    <a:pt x="0" y="372144"/>
                  </a:lnTo>
                  <a:lnTo>
                    <a:pt x="203200" y="0"/>
                  </a:lnTo>
                  <a:close/>
                </a:path>
              </a:pathLst>
            </a:custGeom>
            <a:solidFill>
              <a:srgbClr val="6AABD2"/>
            </a:solidFill>
          </p:spPr>
        </p:sp>
        <p:sp>
          <p:nvSpPr>
            <p:cNvPr name="TextBox 11" id="11"/>
            <p:cNvSpPr txBox="true"/>
            <p:nvPr/>
          </p:nvSpPr>
          <p:spPr>
            <a:xfrm>
              <a:off x="101600" y="-38100"/>
              <a:ext cx="2561035" cy="410244"/>
            </a:xfrm>
            <a:prstGeom prst="rect">
              <a:avLst/>
            </a:prstGeom>
          </p:spPr>
          <p:txBody>
            <a:bodyPr anchor="ctr" rtlCol="false" tIns="50800" lIns="50800" bIns="50800" rIns="50800"/>
            <a:lstStyle/>
            <a:p>
              <a:pPr algn="ctr">
                <a:lnSpc>
                  <a:spcPts val="2659"/>
                </a:lnSpc>
              </a:pPr>
            </a:p>
          </p:txBody>
        </p:sp>
      </p:grpSp>
      <p:sp>
        <p:nvSpPr>
          <p:cNvPr name="Freeform 12" id="12"/>
          <p:cNvSpPr/>
          <p:nvPr/>
        </p:nvSpPr>
        <p:spPr>
          <a:xfrm flipH="false" flipV="false" rot="0">
            <a:off x="0" y="6884035"/>
            <a:ext cx="3411494" cy="3402965"/>
          </a:xfrm>
          <a:custGeom>
            <a:avLst/>
            <a:gdLst/>
            <a:ahLst/>
            <a:cxnLst/>
            <a:rect r="r" b="b" t="t" l="l"/>
            <a:pathLst>
              <a:path h="3402965" w="3411494">
                <a:moveTo>
                  <a:pt x="0" y="0"/>
                </a:moveTo>
                <a:lnTo>
                  <a:pt x="3411494" y="0"/>
                </a:lnTo>
                <a:lnTo>
                  <a:pt x="3411494" y="3402965"/>
                </a:lnTo>
                <a:lnTo>
                  <a:pt x="0" y="3402965"/>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13" id="13"/>
          <p:cNvSpPr txBox="true"/>
          <p:nvPr/>
        </p:nvSpPr>
        <p:spPr>
          <a:xfrm rot="0">
            <a:off x="2759313" y="1999408"/>
            <a:ext cx="8115300" cy="1546242"/>
          </a:xfrm>
          <a:prstGeom prst="rect">
            <a:avLst/>
          </a:prstGeom>
        </p:spPr>
        <p:txBody>
          <a:bodyPr anchor="t" rtlCol="false" tIns="0" lIns="0" bIns="0" rIns="0">
            <a:spAutoFit/>
          </a:bodyPr>
          <a:lstStyle/>
          <a:p>
            <a:pPr algn="l">
              <a:lnSpc>
                <a:spcPts val="12662"/>
              </a:lnSpc>
            </a:pPr>
            <a:r>
              <a:rPr lang="en-US" sz="9044">
                <a:solidFill>
                  <a:srgbClr val="253247"/>
                </a:solidFill>
                <a:latin typeface="League Spartan"/>
                <a:ea typeface="League Spartan"/>
                <a:cs typeface="League Spartan"/>
                <a:sym typeface="League Spartan"/>
              </a:rPr>
              <a:t>CONTENT</a:t>
            </a:r>
          </a:p>
        </p:txBody>
      </p:sp>
      <p:sp>
        <p:nvSpPr>
          <p:cNvPr name="TextBox 14" id="14"/>
          <p:cNvSpPr txBox="true"/>
          <p:nvPr/>
        </p:nvSpPr>
        <p:spPr>
          <a:xfrm rot="0">
            <a:off x="2759313" y="838200"/>
            <a:ext cx="8115300" cy="1224287"/>
          </a:xfrm>
          <a:prstGeom prst="rect">
            <a:avLst/>
          </a:prstGeom>
        </p:spPr>
        <p:txBody>
          <a:bodyPr anchor="t" rtlCol="false" tIns="0" lIns="0" bIns="0" rIns="0">
            <a:spAutoFit/>
          </a:bodyPr>
          <a:lstStyle/>
          <a:p>
            <a:pPr algn="l">
              <a:lnSpc>
                <a:spcPts val="9496"/>
              </a:lnSpc>
            </a:pPr>
            <a:r>
              <a:rPr lang="en-US" sz="6783">
                <a:solidFill>
                  <a:srgbClr val="385E72"/>
                </a:solidFill>
                <a:latin typeface="TAN Pearl"/>
                <a:ea typeface="TAN Pearl"/>
                <a:cs typeface="TAN Pearl"/>
                <a:sym typeface="TAN Pearl"/>
              </a:rPr>
              <a:t>Lists of</a:t>
            </a:r>
          </a:p>
        </p:txBody>
      </p:sp>
      <p:sp>
        <p:nvSpPr>
          <p:cNvPr name="TextBox 15" id="15"/>
          <p:cNvSpPr txBox="true"/>
          <p:nvPr/>
        </p:nvSpPr>
        <p:spPr>
          <a:xfrm rot="0">
            <a:off x="2729941" y="3952352"/>
            <a:ext cx="5555855" cy="4674665"/>
          </a:xfrm>
          <a:prstGeom prst="rect">
            <a:avLst/>
          </a:prstGeom>
        </p:spPr>
        <p:txBody>
          <a:bodyPr anchor="t" rtlCol="false" tIns="0" lIns="0" bIns="0" rIns="0">
            <a:spAutoFit/>
          </a:bodyPr>
          <a:lstStyle/>
          <a:p>
            <a:pPr algn="just">
              <a:lnSpc>
                <a:spcPts val="4100"/>
              </a:lnSpc>
            </a:pPr>
          </a:p>
          <a:p>
            <a:pPr algn="just" marL="553337" indent="-276668" lvl="1">
              <a:lnSpc>
                <a:spcPts val="4100"/>
              </a:lnSpc>
              <a:buFont typeface="Arial"/>
              <a:buChar char="•"/>
            </a:pPr>
            <a:r>
              <a:rPr lang="en-US" sz="2562">
                <a:solidFill>
                  <a:srgbClr val="0B1320"/>
                </a:solidFill>
                <a:latin typeface="Helios Extended"/>
                <a:ea typeface="Helios Extended"/>
                <a:cs typeface="Helios Extended"/>
                <a:sym typeface="Helios Extended"/>
              </a:rPr>
              <a:t>Executive Summary</a:t>
            </a:r>
          </a:p>
          <a:p>
            <a:pPr algn="just" marL="553337" indent="-276668" lvl="1">
              <a:lnSpc>
                <a:spcPts val="4100"/>
              </a:lnSpc>
              <a:buFont typeface="Arial"/>
              <a:buChar char="•"/>
            </a:pPr>
            <a:r>
              <a:rPr lang="en-US" sz="2562">
                <a:solidFill>
                  <a:srgbClr val="0B1320"/>
                </a:solidFill>
                <a:latin typeface="Helios Extended"/>
                <a:ea typeface="Helios Extended"/>
                <a:cs typeface="Helios Extended"/>
                <a:sym typeface="Helios Extended"/>
              </a:rPr>
              <a:t>Introduction</a:t>
            </a:r>
          </a:p>
          <a:p>
            <a:pPr algn="just" marL="553337" indent="-276668" lvl="1">
              <a:lnSpc>
                <a:spcPts val="4100"/>
              </a:lnSpc>
              <a:buFont typeface="Arial"/>
              <a:buChar char="•"/>
            </a:pPr>
            <a:r>
              <a:rPr lang="en-US" sz="2562">
                <a:solidFill>
                  <a:srgbClr val="0B1320"/>
                </a:solidFill>
                <a:latin typeface="Helios Extended"/>
                <a:ea typeface="Helios Extended"/>
                <a:cs typeface="Helios Extended"/>
                <a:sym typeface="Helios Extended"/>
              </a:rPr>
              <a:t>D</a:t>
            </a:r>
            <a:r>
              <a:rPr lang="en-US" sz="2562">
                <a:solidFill>
                  <a:srgbClr val="0B1320"/>
                </a:solidFill>
                <a:latin typeface="Helios Extended"/>
                <a:ea typeface="Helios Extended"/>
                <a:cs typeface="Helios Extended"/>
                <a:sym typeface="Helios Extended"/>
              </a:rPr>
              <a:t>ata Cleaning</a:t>
            </a:r>
          </a:p>
          <a:p>
            <a:pPr algn="just" marL="553337" indent="-276668" lvl="1">
              <a:lnSpc>
                <a:spcPts val="4100"/>
              </a:lnSpc>
              <a:buFont typeface="Arial"/>
              <a:buChar char="•"/>
            </a:pPr>
            <a:r>
              <a:rPr lang="en-US" sz="2562">
                <a:solidFill>
                  <a:srgbClr val="0B1320"/>
                </a:solidFill>
                <a:latin typeface="Helios Extended"/>
                <a:ea typeface="Helios Extended"/>
                <a:cs typeface="Helios Extended"/>
                <a:sym typeface="Helios Extended"/>
              </a:rPr>
              <a:t>Removing Outliers</a:t>
            </a:r>
          </a:p>
          <a:p>
            <a:pPr algn="just" marL="553337" indent="-276668" lvl="1">
              <a:lnSpc>
                <a:spcPts val="4100"/>
              </a:lnSpc>
              <a:buFont typeface="Arial"/>
              <a:buChar char="•"/>
            </a:pPr>
            <a:r>
              <a:rPr lang="en-US" sz="2562">
                <a:solidFill>
                  <a:srgbClr val="0B1320"/>
                </a:solidFill>
                <a:latin typeface="Helios Extended"/>
                <a:ea typeface="Helios Extended"/>
                <a:cs typeface="Helios Extended"/>
                <a:sym typeface="Helios Extended"/>
              </a:rPr>
              <a:t>Creating </a:t>
            </a:r>
            <a:r>
              <a:rPr lang="en-US" sz="2562">
                <a:solidFill>
                  <a:srgbClr val="0B1320"/>
                </a:solidFill>
                <a:latin typeface="Helios Extended"/>
                <a:ea typeface="Helios Extended"/>
                <a:cs typeface="Helios Extended"/>
                <a:sym typeface="Helios Extended"/>
              </a:rPr>
              <a:t>Additional Columns</a:t>
            </a:r>
          </a:p>
          <a:p>
            <a:pPr algn="just" marL="553337" indent="-276668" lvl="1">
              <a:lnSpc>
                <a:spcPts val="4100"/>
              </a:lnSpc>
              <a:buFont typeface="Arial"/>
              <a:buChar char="•"/>
            </a:pPr>
            <a:r>
              <a:rPr lang="en-US" sz="2562">
                <a:solidFill>
                  <a:srgbClr val="0B1320"/>
                </a:solidFill>
                <a:latin typeface="Helios Extended"/>
                <a:ea typeface="Helios Extended"/>
                <a:cs typeface="Helios Extended"/>
                <a:sym typeface="Helios Extended"/>
              </a:rPr>
              <a:t>Visualization</a:t>
            </a:r>
          </a:p>
          <a:p>
            <a:pPr algn="just" marL="553337" indent="-276668" lvl="1">
              <a:lnSpc>
                <a:spcPts val="4100"/>
              </a:lnSpc>
              <a:buFont typeface="Arial"/>
              <a:buChar char="•"/>
            </a:pPr>
            <a:r>
              <a:rPr lang="en-US" sz="2562">
                <a:solidFill>
                  <a:srgbClr val="0B1320"/>
                </a:solidFill>
                <a:latin typeface="Helios Extended"/>
                <a:ea typeface="Helios Extended"/>
                <a:cs typeface="Helios Extended"/>
                <a:sym typeface="Helios Extended"/>
              </a:rPr>
              <a:t>C</a:t>
            </a:r>
            <a:r>
              <a:rPr lang="en-US" sz="2562">
                <a:solidFill>
                  <a:srgbClr val="0B1320"/>
                </a:solidFill>
                <a:latin typeface="Helios Extended"/>
                <a:ea typeface="Helios Extended"/>
                <a:cs typeface="Helios Extended"/>
                <a:sym typeface="Helios Extended"/>
              </a:rPr>
              <a:t>onclusion</a:t>
            </a:r>
          </a:p>
          <a:p>
            <a:pPr algn="just">
              <a:lnSpc>
                <a:spcPts val="4100"/>
              </a:lnSpc>
            </a:pP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520" t="-9253" r="-11258" b="-23212"/>
            </a:stretch>
          </a:blipFill>
        </p:spPr>
      </p:sp>
      <p:grpSp>
        <p:nvGrpSpPr>
          <p:cNvPr name="Group 3" id="3"/>
          <p:cNvGrpSpPr/>
          <p:nvPr/>
        </p:nvGrpSpPr>
        <p:grpSpPr>
          <a:xfrm rot="0">
            <a:off x="0" y="4378109"/>
            <a:ext cx="5577362" cy="4880191"/>
            <a:chOff x="0" y="0"/>
            <a:chExt cx="812800" cy="711200"/>
          </a:xfrm>
        </p:grpSpPr>
        <p:sp>
          <p:nvSpPr>
            <p:cNvPr name="Freeform 4" id="4"/>
            <p:cNvSpPr/>
            <p:nvPr/>
          </p:nvSpPr>
          <p:spPr>
            <a:xfrm flipH="false" flipV="false" rot="0">
              <a:off x="0" y="0"/>
              <a:ext cx="812800" cy="711200"/>
            </a:xfrm>
            <a:custGeom>
              <a:avLst/>
              <a:gdLst/>
              <a:ahLst/>
              <a:cxnLst/>
              <a:rect r="r" b="b" t="t" l="l"/>
              <a:pathLst>
                <a:path h="711200" w="812800">
                  <a:moveTo>
                    <a:pt x="406400" y="0"/>
                  </a:moveTo>
                  <a:lnTo>
                    <a:pt x="812800" y="711200"/>
                  </a:lnTo>
                  <a:lnTo>
                    <a:pt x="0" y="711200"/>
                  </a:lnTo>
                  <a:lnTo>
                    <a:pt x="406400" y="0"/>
                  </a:lnTo>
                  <a:close/>
                </a:path>
              </a:pathLst>
            </a:custGeom>
            <a:blipFill>
              <a:blip r:embed="rId3"/>
              <a:stretch>
                <a:fillRect l="-30247" t="0" r="-28863" b="-21227"/>
              </a:stretch>
            </a:blipFill>
            <a:ln w="38100" cap="sq">
              <a:solidFill>
                <a:srgbClr val="FFFFFF"/>
              </a:solidFill>
              <a:prstDash val="solid"/>
              <a:miter/>
            </a:ln>
          </p:spPr>
        </p:sp>
      </p:grpSp>
      <p:grpSp>
        <p:nvGrpSpPr>
          <p:cNvPr name="Group 5" id="5"/>
          <p:cNvGrpSpPr/>
          <p:nvPr/>
        </p:nvGrpSpPr>
        <p:grpSpPr>
          <a:xfrm rot="-10800000">
            <a:off x="774418" y="0"/>
            <a:ext cx="9072464" cy="7938406"/>
            <a:chOff x="0" y="0"/>
            <a:chExt cx="812800" cy="711200"/>
          </a:xfrm>
        </p:grpSpPr>
        <p:sp>
          <p:nvSpPr>
            <p:cNvPr name="Freeform 6" id="6"/>
            <p:cNvSpPr/>
            <p:nvPr/>
          </p:nvSpPr>
          <p:spPr>
            <a:xfrm flipH="true" flipV="true" rot="0">
              <a:off x="0" y="0"/>
              <a:ext cx="812800" cy="711200"/>
            </a:xfrm>
            <a:custGeom>
              <a:avLst/>
              <a:gdLst/>
              <a:ahLst/>
              <a:cxnLst/>
              <a:rect r="r" b="b" t="t" l="l"/>
              <a:pathLst>
                <a:path h="711200" w="812800">
                  <a:moveTo>
                    <a:pt x="406400" y="711200"/>
                  </a:moveTo>
                  <a:lnTo>
                    <a:pt x="0" y="0"/>
                  </a:lnTo>
                  <a:lnTo>
                    <a:pt x="812800" y="0"/>
                  </a:lnTo>
                  <a:lnTo>
                    <a:pt x="406400" y="711200"/>
                  </a:lnTo>
                  <a:close/>
                </a:path>
              </a:pathLst>
            </a:custGeom>
            <a:blipFill>
              <a:blip r:embed="rId3"/>
              <a:stretch>
                <a:fillRect l="-30247" t="0" r="-28863" b="-21227"/>
              </a:stretch>
            </a:blipFill>
            <a:ln w="38100" cap="sq">
              <a:solidFill>
                <a:srgbClr val="FFFFFF"/>
              </a:solidFill>
              <a:prstDash val="solid"/>
              <a:miter/>
            </a:ln>
          </p:spPr>
        </p:sp>
      </p:grpSp>
      <p:grpSp>
        <p:nvGrpSpPr>
          <p:cNvPr name="Group 7" id="7"/>
          <p:cNvGrpSpPr/>
          <p:nvPr/>
        </p:nvGrpSpPr>
        <p:grpSpPr>
          <a:xfrm rot="0">
            <a:off x="5926133" y="2091298"/>
            <a:ext cx="16846659" cy="12662144"/>
            <a:chOff x="0" y="0"/>
            <a:chExt cx="929336" cy="698500"/>
          </a:xfrm>
        </p:grpSpPr>
        <p:sp>
          <p:nvSpPr>
            <p:cNvPr name="Freeform 8" id="8"/>
            <p:cNvSpPr/>
            <p:nvPr/>
          </p:nvSpPr>
          <p:spPr>
            <a:xfrm flipH="false" flipV="false" rot="0">
              <a:off x="0" y="0"/>
              <a:ext cx="929336" cy="698500"/>
            </a:xfrm>
            <a:custGeom>
              <a:avLst/>
              <a:gdLst/>
              <a:ahLst/>
              <a:cxnLst/>
              <a:rect r="r" b="b" t="t" l="l"/>
              <a:pathLst>
                <a:path h="698500" w="929336">
                  <a:moveTo>
                    <a:pt x="929336" y="349250"/>
                  </a:moveTo>
                  <a:lnTo>
                    <a:pt x="726136" y="698500"/>
                  </a:lnTo>
                  <a:lnTo>
                    <a:pt x="203200" y="698500"/>
                  </a:lnTo>
                  <a:lnTo>
                    <a:pt x="0" y="349250"/>
                  </a:lnTo>
                  <a:lnTo>
                    <a:pt x="203200" y="0"/>
                  </a:lnTo>
                  <a:lnTo>
                    <a:pt x="726136" y="0"/>
                  </a:lnTo>
                  <a:lnTo>
                    <a:pt x="929336" y="349250"/>
                  </a:lnTo>
                  <a:close/>
                </a:path>
              </a:pathLst>
            </a:custGeom>
            <a:solidFill>
              <a:srgbClr val="FFFFFF">
                <a:alpha val="88627"/>
              </a:srgbClr>
            </a:solidFill>
          </p:spPr>
        </p:sp>
        <p:sp>
          <p:nvSpPr>
            <p:cNvPr name="TextBox 9" id="9"/>
            <p:cNvSpPr txBox="true"/>
            <p:nvPr/>
          </p:nvSpPr>
          <p:spPr>
            <a:xfrm>
              <a:off x="114300" y="-38100"/>
              <a:ext cx="700736" cy="736600"/>
            </a:xfrm>
            <a:prstGeom prst="rect">
              <a:avLst/>
            </a:prstGeom>
          </p:spPr>
          <p:txBody>
            <a:bodyPr anchor="ctr" rtlCol="false" tIns="50800" lIns="50800" bIns="50800" rIns="50800"/>
            <a:lstStyle/>
            <a:p>
              <a:pPr algn="ctr">
                <a:lnSpc>
                  <a:spcPts val="2659"/>
                </a:lnSpc>
                <a:spcBef>
                  <a:spcPct val="0"/>
                </a:spcBef>
              </a:pPr>
            </a:p>
          </p:txBody>
        </p:sp>
      </p:grpSp>
      <p:sp>
        <p:nvSpPr>
          <p:cNvPr name="TextBox 10" id="10"/>
          <p:cNvSpPr txBox="true"/>
          <p:nvPr/>
        </p:nvSpPr>
        <p:spPr>
          <a:xfrm rot="0">
            <a:off x="7259166" y="3016068"/>
            <a:ext cx="10363476" cy="953135"/>
          </a:xfrm>
          <a:prstGeom prst="rect">
            <a:avLst/>
          </a:prstGeom>
        </p:spPr>
        <p:txBody>
          <a:bodyPr anchor="t" rtlCol="false" tIns="0" lIns="0" bIns="0" rIns="0">
            <a:spAutoFit/>
          </a:bodyPr>
          <a:lstStyle/>
          <a:p>
            <a:pPr algn="r">
              <a:lnSpc>
                <a:spcPts val="7840"/>
              </a:lnSpc>
            </a:pPr>
            <a:r>
              <a:rPr lang="en-US" sz="5600">
                <a:solidFill>
                  <a:srgbClr val="253247"/>
                </a:solidFill>
                <a:latin typeface="League Spartan"/>
                <a:ea typeface="League Spartan"/>
                <a:cs typeface="League Spartan"/>
                <a:sym typeface="League Spartan"/>
              </a:rPr>
              <a:t>EXECUTIVE SUMMARY</a:t>
            </a:r>
          </a:p>
        </p:txBody>
      </p:sp>
      <p:sp>
        <p:nvSpPr>
          <p:cNvPr name="TextBox 11" id="11"/>
          <p:cNvSpPr txBox="true"/>
          <p:nvPr/>
        </p:nvSpPr>
        <p:spPr>
          <a:xfrm rot="0">
            <a:off x="9488333" y="4330484"/>
            <a:ext cx="8368199" cy="5566410"/>
          </a:xfrm>
          <a:prstGeom prst="rect">
            <a:avLst/>
          </a:prstGeom>
        </p:spPr>
        <p:txBody>
          <a:bodyPr anchor="t" rtlCol="false" tIns="0" lIns="0" bIns="0" rIns="0">
            <a:spAutoFit/>
          </a:bodyPr>
          <a:lstStyle/>
          <a:p>
            <a:pPr algn="l">
              <a:lnSpc>
                <a:spcPts val="2939"/>
              </a:lnSpc>
              <a:spcBef>
                <a:spcPct val="0"/>
              </a:spcBef>
            </a:pPr>
            <a:r>
              <a:rPr lang="en-US" b="true" sz="2099">
                <a:solidFill>
                  <a:srgbClr val="253247"/>
                </a:solidFill>
                <a:latin typeface="Glacial Indifference Bold"/>
                <a:ea typeface="Glacial Indifference Bold"/>
                <a:cs typeface="Glacial Indifference Bold"/>
                <a:sym typeface="Glacial Indifference Bold"/>
              </a:rPr>
              <a:t>Objective: </a:t>
            </a:r>
            <a:r>
              <a:rPr lang="en-US" sz="2099">
                <a:solidFill>
                  <a:srgbClr val="253247"/>
                </a:solidFill>
                <a:latin typeface="Glacial Indifference"/>
                <a:ea typeface="Glacial Indifference"/>
                <a:cs typeface="Glacial Indifference"/>
                <a:sym typeface="Glacial Indifference"/>
              </a:rPr>
              <a:t>Prepare PropertyDataset1 and PropertyDataset2 for predictive modeling of property prices in Ireland</a:t>
            </a:r>
          </a:p>
          <a:p>
            <a:pPr algn="l">
              <a:lnSpc>
                <a:spcPts val="2939"/>
              </a:lnSpc>
              <a:spcBef>
                <a:spcPct val="0"/>
              </a:spcBef>
            </a:pPr>
          </a:p>
          <a:p>
            <a:pPr algn="l">
              <a:lnSpc>
                <a:spcPts val="2939"/>
              </a:lnSpc>
              <a:spcBef>
                <a:spcPct val="0"/>
              </a:spcBef>
            </a:pPr>
            <a:r>
              <a:rPr lang="en-US" b="true" sz="2099">
                <a:solidFill>
                  <a:srgbClr val="253247"/>
                </a:solidFill>
                <a:latin typeface="Glacial Indifference Bold"/>
                <a:ea typeface="Glacial Indifference Bold"/>
                <a:cs typeface="Glacial Indifference Bold"/>
                <a:sym typeface="Glacial Indifference Bold"/>
              </a:rPr>
              <a:t>Key Steps:</a:t>
            </a:r>
          </a:p>
          <a:p>
            <a:pPr algn="l" marL="453388" indent="-226694" lvl="1">
              <a:lnSpc>
                <a:spcPts val="2939"/>
              </a:lnSpc>
              <a:buFont typeface="Arial"/>
              <a:buChar char="•"/>
            </a:pPr>
            <a:r>
              <a:rPr lang="en-US" b="true" sz="2099">
                <a:solidFill>
                  <a:srgbClr val="253247"/>
                </a:solidFill>
                <a:latin typeface="Glacial Indifference Bold"/>
                <a:ea typeface="Glacial Indifference Bold"/>
                <a:cs typeface="Glacial Indifference Bold"/>
                <a:sym typeface="Glacial Indifference Bold"/>
              </a:rPr>
              <a:t>Data Cleaning:</a:t>
            </a:r>
            <a:r>
              <a:rPr lang="en-US" sz="2099">
                <a:solidFill>
                  <a:srgbClr val="253247"/>
                </a:solidFill>
                <a:latin typeface="Glacial Indifference"/>
                <a:ea typeface="Glacial Indifference"/>
                <a:cs typeface="Glacial Indifference"/>
                <a:sym typeface="Glacial Indifference"/>
              </a:rPr>
              <a:t> Addressed missing values, standardized formats, and removed outliers</a:t>
            </a:r>
          </a:p>
          <a:p>
            <a:pPr algn="l" marL="453388" indent="-226694" lvl="1">
              <a:lnSpc>
                <a:spcPts val="2939"/>
              </a:lnSpc>
              <a:buFont typeface="Arial"/>
              <a:buChar char="•"/>
            </a:pPr>
            <a:r>
              <a:rPr lang="en-US" b="true" sz="2099">
                <a:solidFill>
                  <a:srgbClr val="253247"/>
                </a:solidFill>
                <a:latin typeface="Glacial Indifference Bold"/>
                <a:ea typeface="Glacial Indifference Bold"/>
                <a:cs typeface="Glacial Indifference Bold"/>
                <a:sym typeface="Glacial Indifference Bold"/>
              </a:rPr>
              <a:t>Data Enrichment: </a:t>
            </a:r>
            <a:r>
              <a:rPr lang="en-US" sz="2099">
                <a:solidFill>
                  <a:srgbClr val="253247"/>
                </a:solidFill>
                <a:latin typeface="Glacial Indifference"/>
                <a:ea typeface="Glacial Indifference"/>
                <a:cs typeface="Glacial Indifference"/>
                <a:sym typeface="Glacial Indifference"/>
              </a:rPr>
              <a:t>Created new explanatory variables, such as year of sale and price categories</a:t>
            </a:r>
          </a:p>
          <a:p>
            <a:pPr algn="l" marL="453388" indent="-226694" lvl="1">
              <a:lnSpc>
                <a:spcPts val="2939"/>
              </a:lnSpc>
              <a:buFont typeface="Arial"/>
              <a:buChar char="•"/>
            </a:pPr>
            <a:r>
              <a:rPr lang="en-US" b="true" sz="2099">
                <a:solidFill>
                  <a:srgbClr val="253247"/>
                </a:solidFill>
                <a:latin typeface="Glacial Indifference Bold"/>
                <a:ea typeface="Glacial Indifference Bold"/>
                <a:cs typeface="Glacial Indifference Bold"/>
                <a:sym typeface="Glacial Indifference Bold"/>
              </a:rPr>
              <a:t>Visualization:</a:t>
            </a:r>
            <a:r>
              <a:rPr lang="en-US" sz="2099">
                <a:solidFill>
                  <a:srgbClr val="253247"/>
                </a:solidFill>
                <a:latin typeface="Glacial Indifference"/>
                <a:ea typeface="Glacial Indifference"/>
                <a:cs typeface="Glacial Indifference"/>
                <a:sym typeface="Glacial Indifference"/>
              </a:rPr>
              <a:t> Highlighted trends and relationships in property transactions</a:t>
            </a:r>
          </a:p>
          <a:p>
            <a:pPr algn="l">
              <a:lnSpc>
                <a:spcPts val="2939"/>
              </a:lnSpc>
            </a:pPr>
          </a:p>
          <a:p>
            <a:pPr algn="l">
              <a:lnSpc>
                <a:spcPts val="2939"/>
              </a:lnSpc>
              <a:spcBef>
                <a:spcPct val="0"/>
              </a:spcBef>
            </a:pPr>
            <a:r>
              <a:rPr lang="en-US" b="true" sz="2099">
                <a:solidFill>
                  <a:srgbClr val="253247"/>
                </a:solidFill>
                <a:latin typeface="Glacial Indifference Bold"/>
                <a:ea typeface="Glacial Indifference Bold"/>
                <a:cs typeface="Glacial Indifference Bold"/>
                <a:sym typeface="Glacial Indifference Bold"/>
              </a:rPr>
              <a:t>Outcome:</a:t>
            </a:r>
          </a:p>
          <a:p>
            <a:pPr algn="l">
              <a:lnSpc>
                <a:spcPts val="2939"/>
              </a:lnSpc>
              <a:spcBef>
                <a:spcPct val="0"/>
              </a:spcBef>
            </a:pPr>
            <a:r>
              <a:rPr lang="en-US" sz="2099">
                <a:solidFill>
                  <a:srgbClr val="253247"/>
                </a:solidFill>
                <a:latin typeface="Glacial Indifference"/>
                <a:ea typeface="Glacial Indifference"/>
                <a:cs typeface="Glacial Indifference"/>
                <a:sym typeface="Glacial Indifference"/>
              </a:rPr>
              <a:t>To deliver a unified and structured dataset, ready for analysis and to enable Sarah to proceed directly with modeling property prices effectively</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59" r="0" b="-9259"/>
            </a:stretch>
          </a:blipFill>
        </p:spPr>
      </p:sp>
      <p:grpSp>
        <p:nvGrpSpPr>
          <p:cNvPr name="Group 3" id="3"/>
          <p:cNvGrpSpPr/>
          <p:nvPr/>
        </p:nvGrpSpPr>
        <p:grpSpPr>
          <a:xfrm rot="0">
            <a:off x="720671" y="-907108"/>
            <a:ext cx="16846659" cy="12662144"/>
            <a:chOff x="0" y="0"/>
            <a:chExt cx="929336" cy="698500"/>
          </a:xfrm>
        </p:grpSpPr>
        <p:sp>
          <p:nvSpPr>
            <p:cNvPr name="Freeform 4" id="4"/>
            <p:cNvSpPr/>
            <p:nvPr/>
          </p:nvSpPr>
          <p:spPr>
            <a:xfrm flipH="false" flipV="false" rot="0">
              <a:off x="0" y="0"/>
              <a:ext cx="929336" cy="698500"/>
            </a:xfrm>
            <a:custGeom>
              <a:avLst/>
              <a:gdLst/>
              <a:ahLst/>
              <a:cxnLst/>
              <a:rect r="r" b="b" t="t" l="l"/>
              <a:pathLst>
                <a:path h="698500" w="929336">
                  <a:moveTo>
                    <a:pt x="929336" y="349250"/>
                  </a:moveTo>
                  <a:lnTo>
                    <a:pt x="726136" y="698500"/>
                  </a:lnTo>
                  <a:lnTo>
                    <a:pt x="203200" y="698500"/>
                  </a:lnTo>
                  <a:lnTo>
                    <a:pt x="0" y="349250"/>
                  </a:lnTo>
                  <a:lnTo>
                    <a:pt x="203200" y="0"/>
                  </a:lnTo>
                  <a:lnTo>
                    <a:pt x="726136" y="0"/>
                  </a:lnTo>
                  <a:lnTo>
                    <a:pt x="929336" y="349250"/>
                  </a:lnTo>
                  <a:close/>
                </a:path>
              </a:pathLst>
            </a:custGeom>
            <a:solidFill>
              <a:srgbClr val="FFFFFF">
                <a:alpha val="83922"/>
              </a:srgbClr>
            </a:solidFill>
          </p:spPr>
        </p:sp>
        <p:sp>
          <p:nvSpPr>
            <p:cNvPr name="TextBox 5" id="5"/>
            <p:cNvSpPr txBox="true"/>
            <p:nvPr/>
          </p:nvSpPr>
          <p:spPr>
            <a:xfrm>
              <a:off x="114300" y="-38100"/>
              <a:ext cx="700736" cy="736600"/>
            </a:xfrm>
            <a:prstGeom prst="rect">
              <a:avLst/>
            </a:prstGeom>
          </p:spPr>
          <p:txBody>
            <a:bodyPr anchor="ctr" rtlCol="false" tIns="50800" lIns="50800" bIns="50800" rIns="50800"/>
            <a:lstStyle/>
            <a:p>
              <a:pPr algn="ctr">
                <a:lnSpc>
                  <a:spcPts val="2659"/>
                </a:lnSpc>
                <a:spcBef>
                  <a:spcPct val="0"/>
                </a:spcBef>
              </a:pPr>
            </a:p>
          </p:txBody>
        </p:sp>
      </p:grpSp>
      <p:grpSp>
        <p:nvGrpSpPr>
          <p:cNvPr name="Group 6" id="6"/>
          <p:cNvGrpSpPr/>
          <p:nvPr/>
        </p:nvGrpSpPr>
        <p:grpSpPr>
          <a:xfrm rot="3514545">
            <a:off x="-5583389" y="2513110"/>
            <a:ext cx="13665829" cy="1525700"/>
            <a:chOff x="0" y="0"/>
            <a:chExt cx="3599231" cy="401831"/>
          </a:xfrm>
        </p:grpSpPr>
        <p:sp>
          <p:nvSpPr>
            <p:cNvPr name="Freeform 7" id="7"/>
            <p:cNvSpPr/>
            <p:nvPr/>
          </p:nvSpPr>
          <p:spPr>
            <a:xfrm flipH="false" flipV="false" rot="0">
              <a:off x="0" y="0"/>
              <a:ext cx="3599231" cy="401831"/>
            </a:xfrm>
            <a:custGeom>
              <a:avLst/>
              <a:gdLst/>
              <a:ahLst/>
              <a:cxnLst/>
              <a:rect r="r" b="b" t="t" l="l"/>
              <a:pathLst>
                <a:path h="401831" w="3599231">
                  <a:moveTo>
                    <a:pt x="203200" y="0"/>
                  </a:moveTo>
                  <a:lnTo>
                    <a:pt x="3599231" y="0"/>
                  </a:lnTo>
                  <a:lnTo>
                    <a:pt x="3396031" y="401831"/>
                  </a:lnTo>
                  <a:lnTo>
                    <a:pt x="0" y="401831"/>
                  </a:lnTo>
                  <a:lnTo>
                    <a:pt x="203200" y="0"/>
                  </a:lnTo>
                  <a:close/>
                </a:path>
              </a:pathLst>
            </a:custGeom>
            <a:solidFill>
              <a:srgbClr val="578EAF"/>
            </a:solidFill>
          </p:spPr>
        </p:sp>
        <p:sp>
          <p:nvSpPr>
            <p:cNvPr name="TextBox 8" id="8"/>
            <p:cNvSpPr txBox="true"/>
            <p:nvPr/>
          </p:nvSpPr>
          <p:spPr>
            <a:xfrm>
              <a:off x="101600" y="-38100"/>
              <a:ext cx="3396031" cy="439931"/>
            </a:xfrm>
            <a:prstGeom prst="rect">
              <a:avLst/>
            </a:prstGeom>
          </p:spPr>
          <p:txBody>
            <a:bodyPr anchor="ctr" rtlCol="false" tIns="50800" lIns="50800" bIns="50800" rIns="50800"/>
            <a:lstStyle/>
            <a:p>
              <a:pPr algn="ctr">
                <a:lnSpc>
                  <a:spcPts val="2659"/>
                </a:lnSpc>
              </a:pPr>
            </a:p>
          </p:txBody>
        </p:sp>
      </p:grpSp>
      <p:grpSp>
        <p:nvGrpSpPr>
          <p:cNvPr name="Group 9" id="9"/>
          <p:cNvGrpSpPr/>
          <p:nvPr/>
        </p:nvGrpSpPr>
        <p:grpSpPr>
          <a:xfrm rot="7225038">
            <a:off x="-2672871" y="11551320"/>
            <a:ext cx="10495456" cy="1412986"/>
            <a:chOff x="0" y="0"/>
            <a:chExt cx="2764235" cy="372144"/>
          </a:xfrm>
        </p:grpSpPr>
        <p:sp>
          <p:nvSpPr>
            <p:cNvPr name="Freeform 10" id="10"/>
            <p:cNvSpPr/>
            <p:nvPr/>
          </p:nvSpPr>
          <p:spPr>
            <a:xfrm flipH="false" flipV="false" rot="0">
              <a:off x="0" y="0"/>
              <a:ext cx="2764235" cy="372144"/>
            </a:xfrm>
            <a:custGeom>
              <a:avLst/>
              <a:gdLst/>
              <a:ahLst/>
              <a:cxnLst/>
              <a:rect r="r" b="b" t="t" l="l"/>
              <a:pathLst>
                <a:path h="372144" w="2764235">
                  <a:moveTo>
                    <a:pt x="203200" y="0"/>
                  </a:moveTo>
                  <a:lnTo>
                    <a:pt x="2764235" y="0"/>
                  </a:lnTo>
                  <a:lnTo>
                    <a:pt x="2561035" y="372144"/>
                  </a:lnTo>
                  <a:lnTo>
                    <a:pt x="0" y="372144"/>
                  </a:lnTo>
                  <a:lnTo>
                    <a:pt x="203200" y="0"/>
                  </a:lnTo>
                  <a:close/>
                </a:path>
              </a:pathLst>
            </a:custGeom>
            <a:solidFill>
              <a:srgbClr val="6AABD2"/>
            </a:solidFill>
          </p:spPr>
        </p:sp>
        <p:sp>
          <p:nvSpPr>
            <p:cNvPr name="TextBox 11" id="11"/>
            <p:cNvSpPr txBox="true"/>
            <p:nvPr/>
          </p:nvSpPr>
          <p:spPr>
            <a:xfrm>
              <a:off x="101600" y="-38100"/>
              <a:ext cx="2561035" cy="410244"/>
            </a:xfrm>
            <a:prstGeom prst="rect">
              <a:avLst/>
            </a:prstGeom>
          </p:spPr>
          <p:txBody>
            <a:bodyPr anchor="ctr" rtlCol="false" tIns="50800" lIns="50800" bIns="50800" rIns="50800"/>
            <a:lstStyle/>
            <a:p>
              <a:pPr algn="ctr">
                <a:lnSpc>
                  <a:spcPts val="2659"/>
                </a:lnSpc>
              </a:pPr>
            </a:p>
          </p:txBody>
        </p:sp>
      </p:grpSp>
      <p:grpSp>
        <p:nvGrpSpPr>
          <p:cNvPr name="Group 12" id="12"/>
          <p:cNvGrpSpPr/>
          <p:nvPr/>
        </p:nvGrpSpPr>
        <p:grpSpPr>
          <a:xfrm rot="-7285454">
            <a:off x="10960213" y="7819531"/>
            <a:ext cx="13665829" cy="1525700"/>
            <a:chOff x="0" y="0"/>
            <a:chExt cx="3599231" cy="401831"/>
          </a:xfrm>
        </p:grpSpPr>
        <p:sp>
          <p:nvSpPr>
            <p:cNvPr name="Freeform 13" id="13"/>
            <p:cNvSpPr/>
            <p:nvPr/>
          </p:nvSpPr>
          <p:spPr>
            <a:xfrm flipH="false" flipV="false" rot="0">
              <a:off x="0" y="0"/>
              <a:ext cx="3599231" cy="401831"/>
            </a:xfrm>
            <a:custGeom>
              <a:avLst/>
              <a:gdLst/>
              <a:ahLst/>
              <a:cxnLst/>
              <a:rect r="r" b="b" t="t" l="l"/>
              <a:pathLst>
                <a:path h="401831" w="3599231">
                  <a:moveTo>
                    <a:pt x="203200" y="0"/>
                  </a:moveTo>
                  <a:lnTo>
                    <a:pt x="3599231" y="0"/>
                  </a:lnTo>
                  <a:lnTo>
                    <a:pt x="3396031" y="401831"/>
                  </a:lnTo>
                  <a:lnTo>
                    <a:pt x="0" y="401831"/>
                  </a:lnTo>
                  <a:lnTo>
                    <a:pt x="203200" y="0"/>
                  </a:lnTo>
                  <a:close/>
                </a:path>
              </a:pathLst>
            </a:custGeom>
            <a:solidFill>
              <a:srgbClr val="578EAF"/>
            </a:solidFill>
          </p:spPr>
        </p:sp>
        <p:sp>
          <p:nvSpPr>
            <p:cNvPr name="TextBox 14" id="14"/>
            <p:cNvSpPr txBox="true"/>
            <p:nvPr/>
          </p:nvSpPr>
          <p:spPr>
            <a:xfrm>
              <a:off x="101600" y="-38100"/>
              <a:ext cx="3396031" cy="439931"/>
            </a:xfrm>
            <a:prstGeom prst="rect">
              <a:avLst/>
            </a:prstGeom>
          </p:spPr>
          <p:txBody>
            <a:bodyPr anchor="ctr" rtlCol="false" tIns="50800" lIns="50800" bIns="50800" rIns="50800"/>
            <a:lstStyle/>
            <a:p>
              <a:pPr algn="ctr">
                <a:lnSpc>
                  <a:spcPts val="2659"/>
                </a:lnSpc>
              </a:pPr>
            </a:p>
          </p:txBody>
        </p:sp>
      </p:grpSp>
      <p:grpSp>
        <p:nvGrpSpPr>
          <p:cNvPr name="Group 15" id="15"/>
          <p:cNvGrpSpPr/>
          <p:nvPr/>
        </p:nvGrpSpPr>
        <p:grpSpPr>
          <a:xfrm rot="-3574961">
            <a:off x="11220068" y="-1105964"/>
            <a:ext cx="10495456" cy="1412986"/>
            <a:chOff x="0" y="0"/>
            <a:chExt cx="2764235" cy="372144"/>
          </a:xfrm>
        </p:grpSpPr>
        <p:sp>
          <p:nvSpPr>
            <p:cNvPr name="Freeform 16" id="16"/>
            <p:cNvSpPr/>
            <p:nvPr/>
          </p:nvSpPr>
          <p:spPr>
            <a:xfrm flipH="false" flipV="false" rot="0">
              <a:off x="0" y="0"/>
              <a:ext cx="2764235" cy="372144"/>
            </a:xfrm>
            <a:custGeom>
              <a:avLst/>
              <a:gdLst/>
              <a:ahLst/>
              <a:cxnLst/>
              <a:rect r="r" b="b" t="t" l="l"/>
              <a:pathLst>
                <a:path h="372144" w="2764235">
                  <a:moveTo>
                    <a:pt x="203200" y="0"/>
                  </a:moveTo>
                  <a:lnTo>
                    <a:pt x="2764235" y="0"/>
                  </a:lnTo>
                  <a:lnTo>
                    <a:pt x="2561035" y="372144"/>
                  </a:lnTo>
                  <a:lnTo>
                    <a:pt x="0" y="372144"/>
                  </a:lnTo>
                  <a:lnTo>
                    <a:pt x="203200" y="0"/>
                  </a:lnTo>
                  <a:close/>
                </a:path>
              </a:pathLst>
            </a:custGeom>
            <a:solidFill>
              <a:srgbClr val="6AABD2"/>
            </a:solidFill>
          </p:spPr>
        </p:sp>
        <p:sp>
          <p:nvSpPr>
            <p:cNvPr name="TextBox 17" id="17"/>
            <p:cNvSpPr txBox="true"/>
            <p:nvPr/>
          </p:nvSpPr>
          <p:spPr>
            <a:xfrm>
              <a:off x="101600" y="-38100"/>
              <a:ext cx="2561035" cy="410244"/>
            </a:xfrm>
            <a:prstGeom prst="rect">
              <a:avLst/>
            </a:prstGeom>
          </p:spPr>
          <p:txBody>
            <a:bodyPr anchor="ctr" rtlCol="false" tIns="50800" lIns="50800" bIns="50800" rIns="50800"/>
            <a:lstStyle/>
            <a:p>
              <a:pPr algn="ctr">
                <a:lnSpc>
                  <a:spcPts val="2659"/>
                </a:lnSpc>
              </a:pPr>
            </a:p>
          </p:txBody>
        </p:sp>
      </p:grpSp>
      <p:sp>
        <p:nvSpPr>
          <p:cNvPr name="TextBox 18" id="18"/>
          <p:cNvSpPr txBox="true"/>
          <p:nvPr/>
        </p:nvSpPr>
        <p:spPr>
          <a:xfrm rot="0">
            <a:off x="4434293" y="2392716"/>
            <a:ext cx="8926319" cy="1250483"/>
          </a:xfrm>
          <a:prstGeom prst="rect">
            <a:avLst/>
          </a:prstGeom>
        </p:spPr>
        <p:txBody>
          <a:bodyPr anchor="t" rtlCol="false" tIns="0" lIns="0" bIns="0" rIns="0">
            <a:spAutoFit/>
          </a:bodyPr>
          <a:lstStyle/>
          <a:p>
            <a:pPr algn="ctr">
              <a:lnSpc>
                <a:spcPts val="10233"/>
              </a:lnSpc>
            </a:pPr>
            <a:r>
              <a:rPr lang="en-US" sz="7309">
                <a:solidFill>
                  <a:srgbClr val="253247"/>
                </a:solidFill>
                <a:latin typeface="League Spartan"/>
                <a:ea typeface="League Spartan"/>
                <a:cs typeface="League Spartan"/>
                <a:sym typeface="League Spartan"/>
              </a:rPr>
              <a:t>INTRODUCTION</a:t>
            </a:r>
          </a:p>
        </p:txBody>
      </p:sp>
      <p:sp>
        <p:nvSpPr>
          <p:cNvPr name="TextBox 19" id="19"/>
          <p:cNvSpPr txBox="true"/>
          <p:nvPr/>
        </p:nvSpPr>
        <p:spPr>
          <a:xfrm rot="0">
            <a:off x="5110201" y="3940866"/>
            <a:ext cx="8067597" cy="5190698"/>
          </a:xfrm>
          <a:prstGeom prst="rect">
            <a:avLst/>
          </a:prstGeom>
        </p:spPr>
        <p:txBody>
          <a:bodyPr anchor="t" rtlCol="false" tIns="0" lIns="0" bIns="0" rIns="0">
            <a:spAutoFit/>
          </a:bodyPr>
          <a:lstStyle/>
          <a:p>
            <a:pPr algn="l">
              <a:lnSpc>
                <a:spcPts val="3173"/>
              </a:lnSpc>
              <a:spcBef>
                <a:spcPct val="0"/>
              </a:spcBef>
            </a:pPr>
            <a:r>
              <a:rPr lang="en-US" b="true" sz="2266">
                <a:solidFill>
                  <a:srgbClr val="253247"/>
                </a:solidFill>
                <a:latin typeface="Glacial Indifference Bold"/>
                <a:ea typeface="Glacial Indifference Bold"/>
                <a:cs typeface="Glacial Indifference Bold"/>
                <a:sym typeface="Glacial Indifference Bold"/>
              </a:rPr>
              <a:t>Objective:</a:t>
            </a:r>
          </a:p>
          <a:p>
            <a:pPr algn="l">
              <a:lnSpc>
                <a:spcPts val="3173"/>
              </a:lnSpc>
              <a:spcBef>
                <a:spcPct val="0"/>
              </a:spcBef>
            </a:pPr>
            <a:r>
              <a:rPr lang="en-US" sz="2266">
                <a:solidFill>
                  <a:srgbClr val="253247"/>
                </a:solidFill>
                <a:latin typeface="Glacial Indifference"/>
                <a:ea typeface="Glacial Indifference"/>
                <a:cs typeface="Glacial Indifference"/>
                <a:sym typeface="Glacial Indifference"/>
              </a:rPr>
              <a:t> Transform PropertyDataset1 and PropertyDataset2 into clean, structured, and enriched datasets for predictive modeling of property prices in Ireland</a:t>
            </a:r>
          </a:p>
          <a:p>
            <a:pPr algn="l">
              <a:lnSpc>
                <a:spcPts val="3173"/>
              </a:lnSpc>
              <a:spcBef>
                <a:spcPct val="0"/>
              </a:spcBef>
            </a:pPr>
          </a:p>
          <a:p>
            <a:pPr algn="l">
              <a:lnSpc>
                <a:spcPts val="3173"/>
              </a:lnSpc>
              <a:spcBef>
                <a:spcPct val="0"/>
              </a:spcBef>
            </a:pPr>
            <a:r>
              <a:rPr lang="en-US" b="true" sz="2266">
                <a:solidFill>
                  <a:srgbClr val="253247"/>
                </a:solidFill>
                <a:latin typeface="Glacial Indifference Bold"/>
                <a:ea typeface="Glacial Indifference Bold"/>
                <a:cs typeface="Glacial Indifference Bold"/>
                <a:sym typeface="Glacial Indifference Bold"/>
              </a:rPr>
              <a:t>Datasets Overview:</a:t>
            </a:r>
          </a:p>
          <a:p>
            <a:pPr algn="l" marL="489409" indent="-244704" lvl="1">
              <a:lnSpc>
                <a:spcPts val="3173"/>
              </a:lnSpc>
              <a:buFont typeface="Arial"/>
              <a:buChar char="•"/>
            </a:pPr>
            <a:r>
              <a:rPr lang="en-US" b="true" sz="2266">
                <a:solidFill>
                  <a:srgbClr val="253247"/>
                </a:solidFill>
                <a:latin typeface="Glacial Indifference Bold"/>
                <a:ea typeface="Glacial Indifference Bold"/>
                <a:cs typeface="Glacial Indifference Bold"/>
                <a:sym typeface="Glacial Indifference Bold"/>
              </a:rPr>
              <a:t>PropertyDataset1</a:t>
            </a:r>
            <a:r>
              <a:rPr lang="en-US" sz="2266">
                <a:solidFill>
                  <a:srgbClr val="253247"/>
                </a:solidFill>
                <a:latin typeface="Glacial Indifference"/>
                <a:ea typeface="Glacial Indifference"/>
                <a:cs typeface="Glacial Indifference"/>
                <a:sym typeface="Glacial Indifference"/>
              </a:rPr>
              <a:t>: Includes additional fields like geohash and raw_address, offering precise location data for analysis</a:t>
            </a:r>
          </a:p>
          <a:p>
            <a:pPr algn="l" marL="489409" indent="-244704" lvl="1">
              <a:lnSpc>
                <a:spcPts val="3173"/>
              </a:lnSpc>
              <a:buFont typeface="Arial"/>
              <a:buChar char="•"/>
            </a:pPr>
            <a:r>
              <a:rPr lang="en-US" b="true" sz="2266">
                <a:solidFill>
                  <a:srgbClr val="253247"/>
                </a:solidFill>
                <a:latin typeface="Glacial Indifference Bold"/>
                <a:ea typeface="Glacial Indifference Bold"/>
                <a:cs typeface="Glacial Indifference Bold"/>
                <a:sym typeface="Glacial Indifference Bold"/>
              </a:rPr>
              <a:t>PropertyDataset2</a:t>
            </a:r>
            <a:r>
              <a:rPr lang="en-US" sz="2266">
                <a:solidFill>
                  <a:srgbClr val="253247"/>
                </a:solidFill>
                <a:latin typeface="Glacial Indifference"/>
                <a:ea typeface="Glacial Indifference"/>
                <a:cs typeface="Glacial Indifference"/>
                <a:sym typeface="Glacial Indifference"/>
              </a:rPr>
              <a:t>: Contains sale details, with encoding issues requiring adjustment (ISO-8859-1 for special characters)</a:t>
            </a:r>
          </a:p>
          <a:p>
            <a:pPr algn="l">
              <a:lnSpc>
                <a:spcPts val="3173"/>
              </a:lnSpc>
              <a:spcBef>
                <a:spcPct val="0"/>
              </a:spcBef>
            </a:pPr>
          </a:p>
          <a:p>
            <a:pPr algn="l">
              <a:lnSpc>
                <a:spcPts val="3173"/>
              </a:lnSpc>
            </a:pP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59" r="0" b="-9259"/>
            </a:stretch>
          </a:blipFill>
        </p:spPr>
      </p:sp>
      <p:grpSp>
        <p:nvGrpSpPr>
          <p:cNvPr name="Group 3" id="3"/>
          <p:cNvGrpSpPr/>
          <p:nvPr/>
        </p:nvGrpSpPr>
        <p:grpSpPr>
          <a:xfrm rot="0">
            <a:off x="720671" y="-907108"/>
            <a:ext cx="16846659" cy="12662144"/>
            <a:chOff x="0" y="0"/>
            <a:chExt cx="929336" cy="698500"/>
          </a:xfrm>
        </p:grpSpPr>
        <p:sp>
          <p:nvSpPr>
            <p:cNvPr name="Freeform 4" id="4"/>
            <p:cNvSpPr/>
            <p:nvPr/>
          </p:nvSpPr>
          <p:spPr>
            <a:xfrm flipH="false" flipV="false" rot="0">
              <a:off x="0" y="0"/>
              <a:ext cx="929336" cy="698500"/>
            </a:xfrm>
            <a:custGeom>
              <a:avLst/>
              <a:gdLst/>
              <a:ahLst/>
              <a:cxnLst/>
              <a:rect r="r" b="b" t="t" l="l"/>
              <a:pathLst>
                <a:path h="698500" w="929336">
                  <a:moveTo>
                    <a:pt x="929336" y="349250"/>
                  </a:moveTo>
                  <a:lnTo>
                    <a:pt x="726136" y="698500"/>
                  </a:lnTo>
                  <a:lnTo>
                    <a:pt x="203200" y="698500"/>
                  </a:lnTo>
                  <a:lnTo>
                    <a:pt x="0" y="349250"/>
                  </a:lnTo>
                  <a:lnTo>
                    <a:pt x="203200" y="0"/>
                  </a:lnTo>
                  <a:lnTo>
                    <a:pt x="726136" y="0"/>
                  </a:lnTo>
                  <a:lnTo>
                    <a:pt x="929336" y="349250"/>
                  </a:lnTo>
                  <a:close/>
                </a:path>
              </a:pathLst>
            </a:custGeom>
            <a:solidFill>
              <a:srgbClr val="FFFFFF">
                <a:alpha val="83922"/>
              </a:srgbClr>
            </a:solidFill>
          </p:spPr>
        </p:sp>
        <p:sp>
          <p:nvSpPr>
            <p:cNvPr name="TextBox 5" id="5"/>
            <p:cNvSpPr txBox="true"/>
            <p:nvPr/>
          </p:nvSpPr>
          <p:spPr>
            <a:xfrm>
              <a:off x="114300" y="-38100"/>
              <a:ext cx="700736" cy="736600"/>
            </a:xfrm>
            <a:prstGeom prst="rect">
              <a:avLst/>
            </a:prstGeom>
          </p:spPr>
          <p:txBody>
            <a:bodyPr anchor="ctr" rtlCol="false" tIns="50800" lIns="50800" bIns="50800" rIns="50800"/>
            <a:lstStyle/>
            <a:p>
              <a:pPr algn="ctr">
                <a:lnSpc>
                  <a:spcPts val="2659"/>
                </a:lnSpc>
                <a:spcBef>
                  <a:spcPct val="0"/>
                </a:spcBef>
              </a:pPr>
            </a:p>
          </p:txBody>
        </p:sp>
      </p:grpSp>
      <p:grpSp>
        <p:nvGrpSpPr>
          <p:cNvPr name="Group 6" id="6"/>
          <p:cNvGrpSpPr/>
          <p:nvPr/>
        </p:nvGrpSpPr>
        <p:grpSpPr>
          <a:xfrm rot="3514545">
            <a:off x="-5583389" y="2513110"/>
            <a:ext cx="13665829" cy="1525700"/>
            <a:chOff x="0" y="0"/>
            <a:chExt cx="3599231" cy="401831"/>
          </a:xfrm>
        </p:grpSpPr>
        <p:sp>
          <p:nvSpPr>
            <p:cNvPr name="Freeform 7" id="7"/>
            <p:cNvSpPr/>
            <p:nvPr/>
          </p:nvSpPr>
          <p:spPr>
            <a:xfrm flipH="false" flipV="false" rot="0">
              <a:off x="0" y="0"/>
              <a:ext cx="3599231" cy="401831"/>
            </a:xfrm>
            <a:custGeom>
              <a:avLst/>
              <a:gdLst/>
              <a:ahLst/>
              <a:cxnLst/>
              <a:rect r="r" b="b" t="t" l="l"/>
              <a:pathLst>
                <a:path h="401831" w="3599231">
                  <a:moveTo>
                    <a:pt x="203200" y="0"/>
                  </a:moveTo>
                  <a:lnTo>
                    <a:pt x="3599231" y="0"/>
                  </a:lnTo>
                  <a:lnTo>
                    <a:pt x="3396031" y="401831"/>
                  </a:lnTo>
                  <a:lnTo>
                    <a:pt x="0" y="401831"/>
                  </a:lnTo>
                  <a:lnTo>
                    <a:pt x="203200" y="0"/>
                  </a:lnTo>
                  <a:close/>
                </a:path>
              </a:pathLst>
            </a:custGeom>
            <a:solidFill>
              <a:srgbClr val="578EAF"/>
            </a:solidFill>
          </p:spPr>
        </p:sp>
        <p:sp>
          <p:nvSpPr>
            <p:cNvPr name="TextBox 8" id="8"/>
            <p:cNvSpPr txBox="true"/>
            <p:nvPr/>
          </p:nvSpPr>
          <p:spPr>
            <a:xfrm>
              <a:off x="101600" y="-38100"/>
              <a:ext cx="3396031" cy="439931"/>
            </a:xfrm>
            <a:prstGeom prst="rect">
              <a:avLst/>
            </a:prstGeom>
          </p:spPr>
          <p:txBody>
            <a:bodyPr anchor="ctr" rtlCol="false" tIns="50800" lIns="50800" bIns="50800" rIns="50800"/>
            <a:lstStyle/>
            <a:p>
              <a:pPr algn="ctr">
                <a:lnSpc>
                  <a:spcPts val="2659"/>
                </a:lnSpc>
              </a:pPr>
            </a:p>
          </p:txBody>
        </p:sp>
      </p:grpSp>
      <p:grpSp>
        <p:nvGrpSpPr>
          <p:cNvPr name="Group 9" id="9"/>
          <p:cNvGrpSpPr/>
          <p:nvPr/>
        </p:nvGrpSpPr>
        <p:grpSpPr>
          <a:xfrm rot="7225038">
            <a:off x="-2672871" y="11551320"/>
            <a:ext cx="10495456" cy="1412986"/>
            <a:chOff x="0" y="0"/>
            <a:chExt cx="2764235" cy="372144"/>
          </a:xfrm>
        </p:grpSpPr>
        <p:sp>
          <p:nvSpPr>
            <p:cNvPr name="Freeform 10" id="10"/>
            <p:cNvSpPr/>
            <p:nvPr/>
          </p:nvSpPr>
          <p:spPr>
            <a:xfrm flipH="false" flipV="false" rot="0">
              <a:off x="0" y="0"/>
              <a:ext cx="2764235" cy="372144"/>
            </a:xfrm>
            <a:custGeom>
              <a:avLst/>
              <a:gdLst/>
              <a:ahLst/>
              <a:cxnLst/>
              <a:rect r="r" b="b" t="t" l="l"/>
              <a:pathLst>
                <a:path h="372144" w="2764235">
                  <a:moveTo>
                    <a:pt x="203200" y="0"/>
                  </a:moveTo>
                  <a:lnTo>
                    <a:pt x="2764235" y="0"/>
                  </a:lnTo>
                  <a:lnTo>
                    <a:pt x="2561035" y="372144"/>
                  </a:lnTo>
                  <a:lnTo>
                    <a:pt x="0" y="372144"/>
                  </a:lnTo>
                  <a:lnTo>
                    <a:pt x="203200" y="0"/>
                  </a:lnTo>
                  <a:close/>
                </a:path>
              </a:pathLst>
            </a:custGeom>
            <a:solidFill>
              <a:srgbClr val="6AABD2"/>
            </a:solidFill>
          </p:spPr>
        </p:sp>
        <p:sp>
          <p:nvSpPr>
            <p:cNvPr name="TextBox 11" id="11"/>
            <p:cNvSpPr txBox="true"/>
            <p:nvPr/>
          </p:nvSpPr>
          <p:spPr>
            <a:xfrm>
              <a:off x="101600" y="-38100"/>
              <a:ext cx="2561035" cy="410244"/>
            </a:xfrm>
            <a:prstGeom prst="rect">
              <a:avLst/>
            </a:prstGeom>
          </p:spPr>
          <p:txBody>
            <a:bodyPr anchor="ctr" rtlCol="false" tIns="50800" lIns="50800" bIns="50800" rIns="50800"/>
            <a:lstStyle/>
            <a:p>
              <a:pPr algn="ctr">
                <a:lnSpc>
                  <a:spcPts val="2659"/>
                </a:lnSpc>
              </a:pPr>
            </a:p>
          </p:txBody>
        </p:sp>
      </p:grpSp>
      <p:grpSp>
        <p:nvGrpSpPr>
          <p:cNvPr name="Group 12" id="12"/>
          <p:cNvGrpSpPr/>
          <p:nvPr/>
        </p:nvGrpSpPr>
        <p:grpSpPr>
          <a:xfrm rot="-7285454">
            <a:off x="10960213" y="7819531"/>
            <a:ext cx="13665829" cy="1525700"/>
            <a:chOff x="0" y="0"/>
            <a:chExt cx="3599231" cy="401831"/>
          </a:xfrm>
        </p:grpSpPr>
        <p:sp>
          <p:nvSpPr>
            <p:cNvPr name="Freeform 13" id="13"/>
            <p:cNvSpPr/>
            <p:nvPr/>
          </p:nvSpPr>
          <p:spPr>
            <a:xfrm flipH="false" flipV="false" rot="0">
              <a:off x="0" y="0"/>
              <a:ext cx="3599231" cy="401831"/>
            </a:xfrm>
            <a:custGeom>
              <a:avLst/>
              <a:gdLst/>
              <a:ahLst/>
              <a:cxnLst/>
              <a:rect r="r" b="b" t="t" l="l"/>
              <a:pathLst>
                <a:path h="401831" w="3599231">
                  <a:moveTo>
                    <a:pt x="203200" y="0"/>
                  </a:moveTo>
                  <a:lnTo>
                    <a:pt x="3599231" y="0"/>
                  </a:lnTo>
                  <a:lnTo>
                    <a:pt x="3396031" y="401831"/>
                  </a:lnTo>
                  <a:lnTo>
                    <a:pt x="0" y="401831"/>
                  </a:lnTo>
                  <a:lnTo>
                    <a:pt x="203200" y="0"/>
                  </a:lnTo>
                  <a:close/>
                </a:path>
              </a:pathLst>
            </a:custGeom>
            <a:solidFill>
              <a:srgbClr val="578EAF"/>
            </a:solidFill>
          </p:spPr>
        </p:sp>
        <p:sp>
          <p:nvSpPr>
            <p:cNvPr name="TextBox 14" id="14"/>
            <p:cNvSpPr txBox="true"/>
            <p:nvPr/>
          </p:nvSpPr>
          <p:spPr>
            <a:xfrm>
              <a:off x="101600" y="-38100"/>
              <a:ext cx="3396031" cy="439931"/>
            </a:xfrm>
            <a:prstGeom prst="rect">
              <a:avLst/>
            </a:prstGeom>
          </p:spPr>
          <p:txBody>
            <a:bodyPr anchor="ctr" rtlCol="false" tIns="50800" lIns="50800" bIns="50800" rIns="50800"/>
            <a:lstStyle/>
            <a:p>
              <a:pPr algn="ctr">
                <a:lnSpc>
                  <a:spcPts val="2659"/>
                </a:lnSpc>
              </a:pPr>
            </a:p>
          </p:txBody>
        </p:sp>
      </p:grpSp>
      <p:grpSp>
        <p:nvGrpSpPr>
          <p:cNvPr name="Group 15" id="15"/>
          <p:cNvGrpSpPr/>
          <p:nvPr/>
        </p:nvGrpSpPr>
        <p:grpSpPr>
          <a:xfrm rot="-3574961">
            <a:off x="11220068" y="-1105964"/>
            <a:ext cx="10495456" cy="1412986"/>
            <a:chOff x="0" y="0"/>
            <a:chExt cx="2764235" cy="372144"/>
          </a:xfrm>
        </p:grpSpPr>
        <p:sp>
          <p:nvSpPr>
            <p:cNvPr name="Freeform 16" id="16"/>
            <p:cNvSpPr/>
            <p:nvPr/>
          </p:nvSpPr>
          <p:spPr>
            <a:xfrm flipH="false" flipV="false" rot="0">
              <a:off x="0" y="0"/>
              <a:ext cx="2764235" cy="372144"/>
            </a:xfrm>
            <a:custGeom>
              <a:avLst/>
              <a:gdLst/>
              <a:ahLst/>
              <a:cxnLst/>
              <a:rect r="r" b="b" t="t" l="l"/>
              <a:pathLst>
                <a:path h="372144" w="2764235">
                  <a:moveTo>
                    <a:pt x="203200" y="0"/>
                  </a:moveTo>
                  <a:lnTo>
                    <a:pt x="2764235" y="0"/>
                  </a:lnTo>
                  <a:lnTo>
                    <a:pt x="2561035" y="372144"/>
                  </a:lnTo>
                  <a:lnTo>
                    <a:pt x="0" y="372144"/>
                  </a:lnTo>
                  <a:lnTo>
                    <a:pt x="203200" y="0"/>
                  </a:lnTo>
                  <a:close/>
                </a:path>
              </a:pathLst>
            </a:custGeom>
            <a:solidFill>
              <a:srgbClr val="6AABD2"/>
            </a:solidFill>
          </p:spPr>
        </p:sp>
        <p:sp>
          <p:nvSpPr>
            <p:cNvPr name="TextBox 17" id="17"/>
            <p:cNvSpPr txBox="true"/>
            <p:nvPr/>
          </p:nvSpPr>
          <p:spPr>
            <a:xfrm>
              <a:off x="101600" y="-38100"/>
              <a:ext cx="2561035" cy="410244"/>
            </a:xfrm>
            <a:prstGeom prst="rect">
              <a:avLst/>
            </a:prstGeom>
          </p:spPr>
          <p:txBody>
            <a:bodyPr anchor="ctr" rtlCol="false" tIns="50800" lIns="50800" bIns="50800" rIns="50800"/>
            <a:lstStyle/>
            <a:p>
              <a:pPr algn="ctr">
                <a:lnSpc>
                  <a:spcPts val="2659"/>
                </a:lnSpc>
              </a:pPr>
            </a:p>
          </p:txBody>
        </p:sp>
      </p:grpSp>
      <p:sp>
        <p:nvSpPr>
          <p:cNvPr name="Freeform 18" id="18"/>
          <p:cNvSpPr/>
          <p:nvPr/>
        </p:nvSpPr>
        <p:spPr>
          <a:xfrm flipH="false" flipV="false" rot="0">
            <a:off x="401028" y="2157124"/>
            <a:ext cx="5061942" cy="815417"/>
          </a:xfrm>
          <a:custGeom>
            <a:avLst/>
            <a:gdLst/>
            <a:ahLst/>
            <a:cxnLst/>
            <a:rect r="r" b="b" t="t" l="l"/>
            <a:pathLst>
              <a:path h="815417" w="5061942">
                <a:moveTo>
                  <a:pt x="0" y="0"/>
                </a:moveTo>
                <a:lnTo>
                  <a:pt x="5061942" y="0"/>
                </a:lnTo>
                <a:lnTo>
                  <a:pt x="5061942" y="815417"/>
                </a:lnTo>
                <a:lnTo>
                  <a:pt x="0" y="815417"/>
                </a:lnTo>
                <a:lnTo>
                  <a:pt x="0" y="0"/>
                </a:lnTo>
                <a:close/>
              </a:path>
            </a:pathLst>
          </a:custGeom>
          <a:blipFill>
            <a:blip r:embed="rId3"/>
            <a:stretch>
              <a:fillRect l="0" t="0" r="0" b="0"/>
            </a:stretch>
          </a:blipFill>
        </p:spPr>
      </p:sp>
      <p:sp>
        <p:nvSpPr>
          <p:cNvPr name="TextBox 19" id="19"/>
          <p:cNvSpPr txBox="true"/>
          <p:nvPr/>
        </p:nvSpPr>
        <p:spPr>
          <a:xfrm rot="0">
            <a:off x="5462970" y="869389"/>
            <a:ext cx="8142977" cy="8500598"/>
          </a:xfrm>
          <a:prstGeom prst="rect">
            <a:avLst/>
          </a:prstGeom>
        </p:spPr>
        <p:txBody>
          <a:bodyPr anchor="t" rtlCol="false" tIns="0" lIns="0" bIns="0" rIns="0">
            <a:spAutoFit/>
          </a:bodyPr>
          <a:lstStyle/>
          <a:p>
            <a:pPr algn="l">
              <a:lnSpc>
                <a:spcPts val="3263"/>
              </a:lnSpc>
              <a:spcBef>
                <a:spcPct val="0"/>
              </a:spcBef>
            </a:pPr>
            <a:r>
              <a:rPr lang="en-US" b="true" sz="2330">
                <a:solidFill>
                  <a:srgbClr val="253247"/>
                </a:solidFill>
                <a:latin typeface="Glacial Indifference Bold"/>
                <a:ea typeface="Glacial Indifference Bold"/>
                <a:cs typeface="Glacial Indifference Bold"/>
                <a:sym typeface="Glacial Indifference Bold"/>
              </a:rPr>
              <a:t>Data Pr</a:t>
            </a:r>
            <a:r>
              <a:rPr lang="en-US" b="true" sz="2330">
                <a:solidFill>
                  <a:srgbClr val="253247"/>
                </a:solidFill>
                <a:latin typeface="Glacial Indifference Bold"/>
                <a:ea typeface="Glacial Indifference Bold"/>
                <a:cs typeface="Glacial Indifference Bold"/>
                <a:sym typeface="Glacial Indifference Bold"/>
              </a:rPr>
              <a:t>eparation Process</a:t>
            </a:r>
          </a:p>
          <a:p>
            <a:pPr algn="l">
              <a:lnSpc>
                <a:spcPts val="2563"/>
              </a:lnSpc>
              <a:spcBef>
                <a:spcPct val="0"/>
              </a:spcBef>
            </a:pPr>
          </a:p>
          <a:p>
            <a:pPr algn="l" marL="395269" indent="-197634" lvl="1">
              <a:lnSpc>
                <a:spcPts val="2563"/>
              </a:lnSpc>
              <a:spcBef>
                <a:spcPct val="0"/>
              </a:spcBef>
              <a:buFont typeface="Arial"/>
              <a:buChar char="•"/>
            </a:pPr>
            <a:r>
              <a:rPr lang="en-US" b="true" sz="1830">
                <a:solidFill>
                  <a:srgbClr val="253247"/>
                </a:solidFill>
                <a:latin typeface="Glacial Indifference Bold"/>
                <a:ea typeface="Glacial Indifference Bold"/>
                <a:cs typeface="Glacial Indifference Bold"/>
                <a:sym typeface="Glacial Indifference Bold"/>
              </a:rPr>
              <a:t>R Environment Setup: </a:t>
            </a:r>
            <a:r>
              <a:rPr lang="en-US" sz="1830">
                <a:solidFill>
                  <a:srgbClr val="253247"/>
                </a:solidFill>
                <a:latin typeface="Glacial Indifference"/>
                <a:ea typeface="Glacial Indifference"/>
                <a:cs typeface="Glacial Indifference"/>
                <a:sym typeface="Glacial Indifference"/>
              </a:rPr>
              <a:t>Configured CRAN mirror and installed tinytex for PDF reporting</a:t>
            </a:r>
          </a:p>
          <a:p>
            <a:pPr algn="l" marL="395269" indent="-197634" lvl="1">
              <a:lnSpc>
                <a:spcPts val="2563"/>
              </a:lnSpc>
              <a:spcBef>
                <a:spcPct val="0"/>
              </a:spcBef>
              <a:buFont typeface="Arial"/>
              <a:buChar char="•"/>
            </a:pPr>
            <a:r>
              <a:rPr lang="en-US" b="true" sz="1830">
                <a:solidFill>
                  <a:srgbClr val="253247"/>
                </a:solidFill>
                <a:latin typeface="Glacial Indifference Bold"/>
                <a:ea typeface="Glacial Indifference Bold"/>
                <a:cs typeface="Glacial Indifference Bold"/>
                <a:sym typeface="Glacial Indifference Bold"/>
              </a:rPr>
              <a:t>Loading Data:</a:t>
            </a:r>
            <a:r>
              <a:rPr lang="en-US" sz="1830">
                <a:solidFill>
                  <a:srgbClr val="253247"/>
                </a:solidFill>
                <a:latin typeface="Glacial Indifference"/>
                <a:ea typeface="Glacial Indifference"/>
                <a:cs typeface="Glacial Indifference"/>
                <a:sym typeface="Glacial Indifference"/>
              </a:rPr>
              <a:t> Used read.csv() to load both datasets. Addressed encoding issues in PropertyDataset2 with ISO-8859-1</a:t>
            </a:r>
          </a:p>
          <a:p>
            <a:pPr algn="l" marL="395269" indent="-197634" lvl="1">
              <a:lnSpc>
                <a:spcPts val="2563"/>
              </a:lnSpc>
              <a:spcBef>
                <a:spcPct val="0"/>
              </a:spcBef>
              <a:buFont typeface="Arial"/>
              <a:buChar char="•"/>
            </a:pPr>
            <a:r>
              <a:rPr lang="en-US" b="true" sz="1830">
                <a:solidFill>
                  <a:srgbClr val="253247"/>
                </a:solidFill>
                <a:latin typeface="Glacial Indifference Bold"/>
                <a:ea typeface="Glacial Indifference Bold"/>
                <a:cs typeface="Glacial Indifference Bold"/>
                <a:sym typeface="Glacial Indifference Bold"/>
              </a:rPr>
              <a:t>Initial Inspection:</a:t>
            </a:r>
            <a:r>
              <a:rPr lang="en-US" sz="1830">
                <a:solidFill>
                  <a:srgbClr val="253247"/>
                </a:solidFill>
                <a:latin typeface="Glacial Indifference"/>
                <a:ea typeface="Glacial Indifference"/>
                <a:cs typeface="Glacial Indifference"/>
                <a:sym typeface="Glacial Indifference"/>
              </a:rPr>
              <a:t> Examined datasets using head() to assess structure, identify inconsistencies, and highlight missing data</a:t>
            </a:r>
          </a:p>
          <a:p>
            <a:pPr algn="l">
              <a:lnSpc>
                <a:spcPts val="2563"/>
              </a:lnSpc>
              <a:spcBef>
                <a:spcPct val="0"/>
              </a:spcBef>
            </a:pPr>
          </a:p>
          <a:p>
            <a:pPr algn="l">
              <a:lnSpc>
                <a:spcPts val="2563"/>
              </a:lnSpc>
              <a:spcBef>
                <a:spcPct val="0"/>
              </a:spcBef>
            </a:pPr>
            <a:r>
              <a:rPr lang="en-US" b="true" sz="1830">
                <a:solidFill>
                  <a:srgbClr val="253247"/>
                </a:solidFill>
                <a:latin typeface="Glacial Indifference Bold"/>
                <a:ea typeface="Glacial Indifference Bold"/>
                <a:cs typeface="Glacial Indifference Bold"/>
                <a:sym typeface="Glacial Indifference Bold"/>
              </a:rPr>
              <a:t>Standardization</a:t>
            </a:r>
          </a:p>
          <a:p>
            <a:pPr algn="l">
              <a:lnSpc>
                <a:spcPts val="2563"/>
              </a:lnSpc>
              <a:spcBef>
                <a:spcPct val="0"/>
              </a:spcBef>
            </a:pPr>
            <a:r>
              <a:rPr lang="en-US" sz="1830">
                <a:solidFill>
                  <a:srgbClr val="253247"/>
                </a:solidFill>
                <a:latin typeface="Glacial Indifference"/>
                <a:ea typeface="Glacial Indifference"/>
                <a:cs typeface="Glacial Indifference"/>
                <a:sym typeface="Glacial Indifference"/>
              </a:rPr>
              <a:t>Column names were standardized across both datasets for consistency, reducing errors during the merging process and ensuring seamless analysis</a:t>
            </a:r>
          </a:p>
          <a:p>
            <a:pPr algn="l">
              <a:lnSpc>
                <a:spcPts val="2563"/>
              </a:lnSpc>
              <a:spcBef>
                <a:spcPct val="0"/>
              </a:spcBef>
            </a:pPr>
          </a:p>
          <a:p>
            <a:pPr algn="l">
              <a:lnSpc>
                <a:spcPts val="2563"/>
              </a:lnSpc>
              <a:spcBef>
                <a:spcPct val="0"/>
              </a:spcBef>
            </a:pPr>
            <a:r>
              <a:rPr lang="en-US" b="true" sz="1830">
                <a:solidFill>
                  <a:srgbClr val="253247"/>
                </a:solidFill>
                <a:latin typeface="Glacial Indifference Bold"/>
                <a:ea typeface="Glacial Indifference Bold"/>
                <a:cs typeface="Glacial Indifference Bold"/>
                <a:sym typeface="Glacial Indifference Bold"/>
              </a:rPr>
              <a:t>Libraries Used:</a:t>
            </a:r>
          </a:p>
          <a:p>
            <a:pPr algn="l" marL="395269" indent="-197634" lvl="1">
              <a:lnSpc>
                <a:spcPts val="2563"/>
              </a:lnSpc>
              <a:buFont typeface="Arial"/>
              <a:buChar char="•"/>
            </a:pPr>
            <a:r>
              <a:rPr lang="en-US" b="true" sz="1830">
                <a:solidFill>
                  <a:srgbClr val="253247"/>
                </a:solidFill>
                <a:latin typeface="Glacial Indifference Bold"/>
                <a:ea typeface="Glacial Indifference Bold"/>
                <a:cs typeface="Glacial Indifference Bold"/>
                <a:sym typeface="Glacial Indifference Bold"/>
              </a:rPr>
              <a:t>d</a:t>
            </a:r>
            <a:r>
              <a:rPr lang="en-US" b="true" sz="1830">
                <a:solidFill>
                  <a:srgbClr val="253247"/>
                </a:solidFill>
                <a:latin typeface="Glacial Indifference Bold"/>
                <a:ea typeface="Glacial Indifference Bold"/>
                <a:cs typeface="Glacial Indifference Bold"/>
                <a:sym typeface="Glacial Indifference Bold"/>
              </a:rPr>
              <a:t>plyr: </a:t>
            </a:r>
            <a:r>
              <a:rPr lang="en-US" sz="1830">
                <a:solidFill>
                  <a:srgbClr val="253247"/>
                </a:solidFill>
                <a:latin typeface="Glacial Indifference"/>
                <a:ea typeface="Glacial Indifference"/>
                <a:cs typeface="Glacial Indifference"/>
                <a:sym typeface="Glacial Indifference"/>
              </a:rPr>
              <a:t>Data manipulation (e.g., renaming columns, combining datasets)</a:t>
            </a:r>
          </a:p>
          <a:p>
            <a:pPr algn="l" marL="395269" indent="-197634" lvl="1">
              <a:lnSpc>
                <a:spcPts val="2563"/>
              </a:lnSpc>
              <a:buFont typeface="Arial"/>
              <a:buChar char="•"/>
            </a:pPr>
            <a:r>
              <a:rPr lang="en-US" b="true" sz="1830">
                <a:solidFill>
                  <a:srgbClr val="253247"/>
                </a:solidFill>
                <a:latin typeface="Glacial Indifference Bold"/>
                <a:ea typeface="Glacial Indifference Bold"/>
                <a:cs typeface="Glacial Indifference Bold"/>
                <a:sym typeface="Glacial Indifference Bold"/>
              </a:rPr>
              <a:t>ggplot2: </a:t>
            </a:r>
            <a:r>
              <a:rPr lang="en-US" sz="1830">
                <a:solidFill>
                  <a:srgbClr val="253247"/>
                </a:solidFill>
                <a:latin typeface="Glacial Indifference"/>
                <a:ea typeface="Glacial Indifference"/>
                <a:cs typeface="Glacial Indifference"/>
                <a:sym typeface="Glacial Indifference"/>
              </a:rPr>
              <a:t>Visualization tools for exploring trends and relationships in the data</a:t>
            </a:r>
          </a:p>
          <a:p>
            <a:pPr algn="l" marL="395269" indent="-197634" lvl="1">
              <a:lnSpc>
                <a:spcPts val="2563"/>
              </a:lnSpc>
              <a:buFont typeface="Arial"/>
              <a:buChar char="•"/>
            </a:pPr>
            <a:r>
              <a:rPr lang="en-US" b="true" sz="1830">
                <a:solidFill>
                  <a:srgbClr val="253247"/>
                </a:solidFill>
                <a:latin typeface="Glacial Indifference Bold"/>
                <a:ea typeface="Glacial Indifference Bold"/>
                <a:cs typeface="Glacial Indifference Bold"/>
                <a:sym typeface="Glacial Indifference Bold"/>
              </a:rPr>
              <a:t>tidyr: </a:t>
            </a:r>
            <a:r>
              <a:rPr lang="en-US" sz="1830">
                <a:solidFill>
                  <a:srgbClr val="253247"/>
                </a:solidFill>
                <a:latin typeface="Glacial Indifference"/>
                <a:ea typeface="Glacial Indifference"/>
                <a:cs typeface="Glacial Indifference"/>
                <a:sym typeface="Glacial Indifference"/>
              </a:rPr>
              <a:t>Reshaped and tidied the data for easier manipulation</a:t>
            </a:r>
          </a:p>
          <a:p>
            <a:pPr algn="l" marL="395269" indent="-197634" lvl="1">
              <a:lnSpc>
                <a:spcPts val="2563"/>
              </a:lnSpc>
              <a:buFont typeface="Arial"/>
              <a:buChar char="•"/>
            </a:pPr>
            <a:r>
              <a:rPr lang="en-US" b="true" sz="1830">
                <a:solidFill>
                  <a:srgbClr val="253247"/>
                </a:solidFill>
                <a:latin typeface="Glacial Indifference Bold"/>
                <a:ea typeface="Glacial Indifference Bold"/>
                <a:cs typeface="Glacial Indifference Bold"/>
                <a:sym typeface="Glacial Indifference Bold"/>
              </a:rPr>
              <a:t>lubridate: </a:t>
            </a:r>
            <a:r>
              <a:rPr lang="en-US" sz="1830">
                <a:solidFill>
                  <a:srgbClr val="253247"/>
                </a:solidFill>
                <a:latin typeface="Glacial Indifference"/>
                <a:ea typeface="Glacial Indifference"/>
                <a:cs typeface="Glacial Indifference"/>
                <a:sym typeface="Glacial Indifference"/>
              </a:rPr>
              <a:t>Used to handle and standardize date formats</a:t>
            </a:r>
          </a:p>
          <a:p>
            <a:pPr algn="l" marL="395269" indent="-197634" lvl="1">
              <a:lnSpc>
                <a:spcPts val="2563"/>
              </a:lnSpc>
              <a:buFont typeface="Arial"/>
              <a:buChar char="•"/>
            </a:pPr>
            <a:r>
              <a:rPr lang="en-US" b="true" sz="1830">
                <a:solidFill>
                  <a:srgbClr val="253247"/>
                </a:solidFill>
                <a:latin typeface="Glacial Indifference Bold"/>
                <a:ea typeface="Glacial Indifference Bold"/>
                <a:cs typeface="Glacial Indifference Bold"/>
                <a:sym typeface="Glacial Indifference Bold"/>
              </a:rPr>
              <a:t>stringr/stringi: </a:t>
            </a:r>
            <a:r>
              <a:rPr lang="en-US" sz="1830">
                <a:solidFill>
                  <a:srgbClr val="253247"/>
                </a:solidFill>
                <a:latin typeface="Glacial Indifference"/>
                <a:ea typeface="Glacial Indifference"/>
                <a:cs typeface="Glacial Indifference"/>
                <a:sym typeface="Glacial Indifference"/>
              </a:rPr>
              <a:t>Cleaned and processed textual data, including addresses and property descriptions</a:t>
            </a:r>
          </a:p>
          <a:p>
            <a:pPr algn="l">
              <a:lnSpc>
                <a:spcPts val="2563"/>
              </a:lnSpc>
            </a:pPr>
          </a:p>
          <a:p>
            <a:pPr algn="l">
              <a:lnSpc>
                <a:spcPts val="2563"/>
              </a:lnSpc>
            </a:pPr>
            <a:r>
              <a:rPr lang="en-US" b="true" sz="1830">
                <a:solidFill>
                  <a:srgbClr val="253247"/>
                </a:solidFill>
                <a:latin typeface="Glacial Indifference Bold"/>
                <a:ea typeface="Glacial Indifference Bold"/>
                <a:cs typeface="Glacial Indifference Bold"/>
                <a:sym typeface="Glacial Indifference Bold"/>
              </a:rPr>
              <a:t>Challenges:</a:t>
            </a:r>
          </a:p>
          <a:p>
            <a:pPr algn="l" marL="395269" indent="-197634" lvl="1">
              <a:lnSpc>
                <a:spcPts val="2563"/>
              </a:lnSpc>
              <a:buFont typeface="Arial"/>
              <a:buChar char="•"/>
            </a:pPr>
            <a:r>
              <a:rPr lang="en-US" sz="1830">
                <a:solidFill>
                  <a:srgbClr val="253247"/>
                </a:solidFill>
                <a:latin typeface="Glacial Indifference"/>
                <a:ea typeface="Glacial Indifference"/>
                <a:cs typeface="Glacial Indifference"/>
                <a:sym typeface="Glacial Indifference"/>
              </a:rPr>
              <a:t>Addressed encoding issues in PropertyDataset2</a:t>
            </a:r>
          </a:p>
          <a:p>
            <a:pPr algn="l" marL="395269" indent="-197634" lvl="1">
              <a:lnSpc>
                <a:spcPts val="2563"/>
              </a:lnSpc>
              <a:spcBef>
                <a:spcPct val="0"/>
              </a:spcBef>
              <a:buFont typeface="Arial"/>
              <a:buChar char="•"/>
            </a:pPr>
            <a:r>
              <a:rPr lang="en-US" sz="1830">
                <a:solidFill>
                  <a:srgbClr val="253247"/>
                </a:solidFill>
                <a:latin typeface="Glacial Indifference"/>
                <a:ea typeface="Glacial Indifference"/>
                <a:cs typeface="Glacial Indifference"/>
                <a:sym typeface="Glacial Indifference"/>
              </a:rPr>
              <a:t>Harmonized additional fields like geohash and raw_address in PropertyDataset1 for consistency</a:t>
            </a:r>
          </a:p>
          <a:p>
            <a:pPr algn="l">
              <a:lnSpc>
                <a:spcPts val="2563"/>
              </a:lnSpc>
            </a:pP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59" r="0" b="-9259"/>
            </a:stretch>
          </a:blipFill>
        </p:spPr>
      </p:sp>
      <p:grpSp>
        <p:nvGrpSpPr>
          <p:cNvPr name="Group 3" id="3"/>
          <p:cNvGrpSpPr/>
          <p:nvPr/>
        </p:nvGrpSpPr>
        <p:grpSpPr>
          <a:xfrm rot="0">
            <a:off x="720671" y="-907108"/>
            <a:ext cx="16846659" cy="12662144"/>
            <a:chOff x="0" y="0"/>
            <a:chExt cx="929336" cy="698500"/>
          </a:xfrm>
        </p:grpSpPr>
        <p:sp>
          <p:nvSpPr>
            <p:cNvPr name="Freeform 4" id="4"/>
            <p:cNvSpPr/>
            <p:nvPr/>
          </p:nvSpPr>
          <p:spPr>
            <a:xfrm flipH="false" flipV="false" rot="0">
              <a:off x="0" y="0"/>
              <a:ext cx="929336" cy="698500"/>
            </a:xfrm>
            <a:custGeom>
              <a:avLst/>
              <a:gdLst/>
              <a:ahLst/>
              <a:cxnLst/>
              <a:rect r="r" b="b" t="t" l="l"/>
              <a:pathLst>
                <a:path h="698500" w="929336">
                  <a:moveTo>
                    <a:pt x="929336" y="349250"/>
                  </a:moveTo>
                  <a:lnTo>
                    <a:pt x="726136" y="698500"/>
                  </a:lnTo>
                  <a:lnTo>
                    <a:pt x="203200" y="698500"/>
                  </a:lnTo>
                  <a:lnTo>
                    <a:pt x="0" y="349250"/>
                  </a:lnTo>
                  <a:lnTo>
                    <a:pt x="203200" y="0"/>
                  </a:lnTo>
                  <a:lnTo>
                    <a:pt x="726136" y="0"/>
                  </a:lnTo>
                  <a:lnTo>
                    <a:pt x="929336" y="349250"/>
                  </a:lnTo>
                  <a:close/>
                </a:path>
              </a:pathLst>
            </a:custGeom>
            <a:solidFill>
              <a:srgbClr val="FFFFFF">
                <a:alpha val="83922"/>
              </a:srgbClr>
            </a:solidFill>
          </p:spPr>
        </p:sp>
        <p:sp>
          <p:nvSpPr>
            <p:cNvPr name="TextBox 5" id="5"/>
            <p:cNvSpPr txBox="true"/>
            <p:nvPr/>
          </p:nvSpPr>
          <p:spPr>
            <a:xfrm>
              <a:off x="114300" y="-38100"/>
              <a:ext cx="700736" cy="736600"/>
            </a:xfrm>
            <a:prstGeom prst="rect">
              <a:avLst/>
            </a:prstGeom>
          </p:spPr>
          <p:txBody>
            <a:bodyPr anchor="ctr" rtlCol="false" tIns="50800" lIns="50800" bIns="50800" rIns="50800"/>
            <a:lstStyle/>
            <a:p>
              <a:pPr algn="ctr">
                <a:lnSpc>
                  <a:spcPts val="2659"/>
                </a:lnSpc>
                <a:spcBef>
                  <a:spcPct val="0"/>
                </a:spcBef>
              </a:pPr>
            </a:p>
          </p:txBody>
        </p:sp>
      </p:grpSp>
      <p:grpSp>
        <p:nvGrpSpPr>
          <p:cNvPr name="Group 6" id="6"/>
          <p:cNvGrpSpPr/>
          <p:nvPr/>
        </p:nvGrpSpPr>
        <p:grpSpPr>
          <a:xfrm rot="3514545">
            <a:off x="-5583389" y="2513110"/>
            <a:ext cx="13665829" cy="1525700"/>
            <a:chOff x="0" y="0"/>
            <a:chExt cx="3599231" cy="401831"/>
          </a:xfrm>
        </p:grpSpPr>
        <p:sp>
          <p:nvSpPr>
            <p:cNvPr name="Freeform 7" id="7"/>
            <p:cNvSpPr/>
            <p:nvPr/>
          </p:nvSpPr>
          <p:spPr>
            <a:xfrm flipH="false" flipV="false" rot="0">
              <a:off x="0" y="0"/>
              <a:ext cx="3599231" cy="401831"/>
            </a:xfrm>
            <a:custGeom>
              <a:avLst/>
              <a:gdLst/>
              <a:ahLst/>
              <a:cxnLst/>
              <a:rect r="r" b="b" t="t" l="l"/>
              <a:pathLst>
                <a:path h="401831" w="3599231">
                  <a:moveTo>
                    <a:pt x="203200" y="0"/>
                  </a:moveTo>
                  <a:lnTo>
                    <a:pt x="3599231" y="0"/>
                  </a:lnTo>
                  <a:lnTo>
                    <a:pt x="3396031" y="401831"/>
                  </a:lnTo>
                  <a:lnTo>
                    <a:pt x="0" y="401831"/>
                  </a:lnTo>
                  <a:lnTo>
                    <a:pt x="203200" y="0"/>
                  </a:lnTo>
                  <a:close/>
                </a:path>
              </a:pathLst>
            </a:custGeom>
            <a:solidFill>
              <a:srgbClr val="578EAF"/>
            </a:solidFill>
          </p:spPr>
        </p:sp>
        <p:sp>
          <p:nvSpPr>
            <p:cNvPr name="TextBox 8" id="8"/>
            <p:cNvSpPr txBox="true"/>
            <p:nvPr/>
          </p:nvSpPr>
          <p:spPr>
            <a:xfrm>
              <a:off x="101600" y="-38100"/>
              <a:ext cx="3396031" cy="439931"/>
            </a:xfrm>
            <a:prstGeom prst="rect">
              <a:avLst/>
            </a:prstGeom>
          </p:spPr>
          <p:txBody>
            <a:bodyPr anchor="ctr" rtlCol="false" tIns="50800" lIns="50800" bIns="50800" rIns="50800"/>
            <a:lstStyle/>
            <a:p>
              <a:pPr algn="ctr">
                <a:lnSpc>
                  <a:spcPts val="2659"/>
                </a:lnSpc>
              </a:pPr>
            </a:p>
          </p:txBody>
        </p:sp>
      </p:grpSp>
      <p:grpSp>
        <p:nvGrpSpPr>
          <p:cNvPr name="Group 9" id="9"/>
          <p:cNvGrpSpPr/>
          <p:nvPr/>
        </p:nvGrpSpPr>
        <p:grpSpPr>
          <a:xfrm rot="7225038">
            <a:off x="-2672871" y="11551320"/>
            <a:ext cx="10495456" cy="1412986"/>
            <a:chOff x="0" y="0"/>
            <a:chExt cx="2764235" cy="372144"/>
          </a:xfrm>
        </p:grpSpPr>
        <p:sp>
          <p:nvSpPr>
            <p:cNvPr name="Freeform 10" id="10"/>
            <p:cNvSpPr/>
            <p:nvPr/>
          </p:nvSpPr>
          <p:spPr>
            <a:xfrm flipH="false" flipV="false" rot="0">
              <a:off x="0" y="0"/>
              <a:ext cx="2764235" cy="372144"/>
            </a:xfrm>
            <a:custGeom>
              <a:avLst/>
              <a:gdLst/>
              <a:ahLst/>
              <a:cxnLst/>
              <a:rect r="r" b="b" t="t" l="l"/>
              <a:pathLst>
                <a:path h="372144" w="2764235">
                  <a:moveTo>
                    <a:pt x="203200" y="0"/>
                  </a:moveTo>
                  <a:lnTo>
                    <a:pt x="2764235" y="0"/>
                  </a:lnTo>
                  <a:lnTo>
                    <a:pt x="2561035" y="372144"/>
                  </a:lnTo>
                  <a:lnTo>
                    <a:pt x="0" y="372144"/>
                  </a:lnTo>
                  <a:lnTo>
                    <a:pt x="203200" y="0"/>
                  </a:lnTo>
                  <a:close/>
                </a:path>
              </a:pathLst>
            </a:custGeom>
            <a:solidFill>
              <a:srgbClr val="6AABD2"/>
            </a:solidFill>
          </p:spPr>
        </p:sp>
        <p:sp>
          <p:nvSpPr>
            <p:cNvPr name="TextBox 11" id="11"/>
            <p:cNvSpPr txBox="true"/>
            <p:nvPr/>
          </p:nvSpPr>
          <p:spPr>
            <a:xfrm>
              <a:off x="101600" y="-38100"/>
              <a:ext cx="2561035" cy="410244"/>
            </a:xfrm>
            <a:prstGeom prst="rect">
              <a:avLst/>
            </a:prstGeom>
          </p:spPr>
          <p:txBody>
            <a:bodyPr anchor="ctr" rtlCol="false" tIns="50800" lIns="50800" bIns="50800" rIns="50800"/>
            <a:lstStyle/>
            <a:p>
              <a:pPr algn="ctr">
                <a:lnSpc>
                  <a:spcPts val="2659"/>
                </a:lnSpc>
              </a:pPr>
            </a:p>
          </p:txBody>
        </p:sp>
      </p:grpSp>
      <p:grpSp>
        <p:nvGrpSpPr>
          <p:cNvPr name="Group 12" id="12"/>
          <p:cNvGrpSpPr/>
          <p:nvPr/>
        </p:nvGrpSpPr>
        <p:grpSpPr>
          <a:xfrm rot="-7285454">
            <a:off x="10960213" y="7819531"/>
            <a:ext cx="13665829" cy="1525700"/>
            <a:chOff x="0" y="0"/>
            <a:chExt cx="3599231" cy="401831"/>
          </a:xfrm>
        </p:grpSpPr>
        <p:sp>
          <p:nvSpPr>
            <p:cNvPr name="Freeform 13" id="13"/>
            <p:cNvSpPr/>
            <p:nvPr/>
          </p:nvSpPr>
          <p:spPr>
            <a:xfrm flipH="false" flipV="false" rot="0">
              <a:off x="0" y="0"/>
              <a:ext cx="3599231" cy="401831"/>
            </a:xfrm>
            <a:custGeom>
              <a:avLst/>
              <a:gdLst/>
              <a:ahLst/>
              <a:cxnLst/>
              <a:rect r="r" b="b" t="t" l="l"/>
              <a:pathLst>
                <a:path h="401831" w="3599231">
                  <a:moveTo>
                    <a:pt x="203200" y="0"/>
                  </a:moveTo>
                  <a:lnTo>
                    <a:pt x="3599231" y="0"/>
                  </a:lnTo>
                  <a:lnTo>
                    <a:pt x="3396031" y="401831"/>
                  </a:lnTo>
                  <a:lnTo>
                    <a:pt x="0" y="401831"/>
                  </a:lnTo>
                  <a:lnTo>
                    <a:pt x="203200" y="0"/>
                  </a:lnTo>
                  <a:close/>
                </a:path>
              </a:pathLst>
            </a:custGeom>
            <a:solidFill>
              <a:srgbClr val="578EAF"/>
            </a:solidFill>
          </p:spPr>
        </p:sp>
        <p:sp>
          <p:nvSpPr>
            <p:cNvPr name="TextBox 14" id="14"/>
            <p:cNvSpPr txBox="true"/>
            <p:nvPr/>
          </p:nvSpPr>
          <p:spPr>
            <a:xfrm>
              <a:off x="101600" y="-38100"/>
              <a:ext cx="3396031" cy="439931"/>
            </a:xfrm>
            <a:prstGeom prst="rect">
              <a:avLst/>
            </a:prstGeom>
          </p:spPr>
          <p:txBody>
            <a:bodyPr anchor="ctr" rtlCol="false" tIns="50800" lIns="50800" bIns="50800" rIns="50800"/>
            <a:lstStyle/>
            <a:p>
              <a:pPr algn="ctr">
                <a:lnSpc>
                  <a:spcPts val="2659"/>
                </a:lnSpc>
              </a:pPr>
            </a:p>
          </p:txBody>
        </p:sp>
      </p:grpSp>
      <p:grpSp>
        <p:nvGrpSpPr>
          <p:cNvPr name="Group 15" id="15"/>
          <p:cNvGrpSpPr/>
          <p:nvPr/>
        </p:nvGrpSpPr>
        <p:grpSpPr>
          <a:xfrm rot="-3574961">
            <a:off x="11220068" y="-1105964"/>
            <a:ext cx="10495456" cy="1412986"/>
            <a:chOff x="0" y="0"/>
            <a:chExt cx="2764235" cy="372144"/>
          </a:xfrm>
        </p:grpSpPr>
        <p:sp>
          <p:nvSpPr>
            <p:cNvPr name="Freeform 16" id="16"/>
            <p:cNvSpPr/>
            <p:nvPr/>
          </p:nvSpPr>
          <p:spPr>
            <a:xfrm flipH="false" flipV="false" rot="0">
              <a:off x="0" y="0"/>
              <a:ext cx="2764235" cy="372144"/>
            </a:xfrm>
            <a:custGeom>
              <a:avLst/>
              <a:gdLst/>
              <a:ahLst/>
              <a:cxnLst/>
              <a:rect r="r" b="b" t="t" l="l"/>
              <a:pathLst>
                <a:path h="372144" w="2764235">
                  <a:moveTo>
                    <a:pt x="203200" y="0"/>
                  </a:moveTo>
                  <a:lnTo>
                    <a:pt x="2764235" y="0"/>
                  </a:lnTo>
                  <a:lnTo>
                    <a:pt x="2561035" y="372144"/>
                  </a:lnTo>
                  <a:lnTo>
                    <a:pt x="0" y="372144"/>
                  </a:lnTo>
                  <a:lnTo>
                    <a:pt x="203200" y="0"/>
                  </a:lnTo>
                  <a:close/>
                </a:path>
              </a:pathLst>
            </a:custGeom>
            <a:solidFill>
              <a:srgbClr val="6AABD2"/>
            </a:solidFill>
          </p:spPr>
        </p:sp>
        <p:sp>
          <p:nvSpPr>
            <p:cNvPr name="TextBox 17" id="17"/>
            <p:cNvSpPr txBox="true"/>
            <p:nvPr/>
          </p:nvSpPr>
          <p:spPr>
            <a:xfrm>
              <a:off x="101600" y="-38100"/>
              <a:ext cx="2561035" cy="410244"/>
            </a:xfrm>
            <a:prstGeom prst="rect">
              <a:avLst/>
            </a:prstGeom>
          </p:spPr>
          <p:txBody>
            <a:bodyPr anchor="ctr" rtlCol="false" tIns="50800" lIns="50800" bIns="50800" rIns="50800"/>
            <a:lstStyle/>
            <a:p>
              <a:pPr algn="ctr">
                <a:lnSpc>
                  <a:spcPts val="2659"/>
                </a:lnSpc>
              </a:pPr>
            </a:p>
          </p:txBody>
        </p:sp>
      </p:grpSp>
      <p:sp>
        <p:nvSpPr>
          <p:cNvPr name="Freeform 18" id="18"/>
          <p:cNvSpPr/>
          <p:nvPr/>
        </p:nvSpPr>
        <p:spPr>
          <a:xfrm flipH="false" flipV="false" rot="0">
            <a:off x="3812286" y="2165153"/>
            <a:ext cx="9635260" cy="6228461"/>
          </a:xfrm>
          <a:custGeom>
            <a:avLst/>
            <a:gdLst/>
            <a:ahLst/>
            <a:cxnLst/>
            <a:rect r="r" b="b" t="t" l="l"/>
            <a:pathLst>
              <a:path h="6228461" w="9635260">
                <a:moveTo>
                  <a:pt x="0" y="0"/>
                </a:moveTo>
                <a:lnTo>
                  <a:pt x="9635260" y="0"/>
                </a:lnTo>
                <a:lnTo>
                  <a:pt x="9635260" y="6228461"/>
                </a:lnTo>
                <a:lnTo>
                  <a:pt x="0" y="6228461"/>
                </a:lnTo>
                <a:lnTo>
                  <a:pt x="0" y="0"/>
                </a:lnTo>
                <a:close/>
              </a:path>
            </a:pathLst>
          </a:custGeom>
          <a:blipFill>
            <a:blip r:embed="rId3"/>
            <a:stretch>
              <a:fillRect l="0" t="0" r="0" b="0"/>
            </a:stretch>
          </a:blipFill>
        </p:spPr>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D9E4EC"/>
        </a:solidFill>
      </p:bgPr>
    </p:bg>
    <p:spTree>
      <p:nvGrpSpPr>
        <p:cNvPr id="1" name=""/>
        <p:cNvGrpSpPr/>
        <p:nvPr/>
      </p:nvGrpSpPr>
      <p:grpSpPr>
        <a:xfrm>
          <a:off x="0" y="0"/>
          <a:ext cx="0" cy="0"/>
          <a:chOff x="0" y="0"/>
          <a:chExt cx="0" cy="0"/>
        </a:xfrm>
      </p:grpSpPr>
      <p:sp>
        <p:nvSpPr>
          <p:cNvPr name="Freeform 2" id="2"/>
          <p:cNvSpPr/>
          <p:nvPr/>
        </p:nvSpPr>
        <p:spPr>
          <a:xfrm flipH="true" flipV="true" rot="0">
            <a:off x="15335897" y="-291796"/>
            <a:ext cx="2952103" cy="2944723"/>
          </a:xfrm>
          <a:custGeom>
            <a:avLst/>
            <a:gdLst/>
            <a:ahLst/>
            <a:cxnLst/>
            <a:rect r="r" b="b" t="t" l="l"/>
            <a:pathLst>
              <a:path h="2944723" w="2952103">
                <a:moveTo>
                  <a:pt x="2952103" y="2944722"/>
                </a:moveTo>
                <a:lnTo>
                  <a:pt x="0" y="2944722"/>
                </a:lnTo>
                <a:lnTo>
                  <a:pt x="0" y="0"/>
                </a:lnTo>
                <a:lnTo>
                  <a:pt x="2952103" y="0"/>
                </a:lnTo>
                <a:lnTo>
                  <a:pt x="2952103" y="2944722"/>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8828038">
            <a:off x="4271547" y="-2750518"/>
            <a:ext cx="13665829" cy="1525700"/>
            <a:chOff x="0" y="0"/>
            <a:chExt cx="3599231" cy="401831"/>
          </a:xfrm>
        </p:grpSpPr>
        <p:sp>
          <p:nvSpPr>
            <p:cNvPr name="Freeform 4" id="4"/>
            <p:cNvSpPr/>
            <p:nvPr/>
          </p:nvSpPr>
          <p:spPr>
            <a:xfrm flipH="false" flipV="false" rot="0">
              <a:off x="0" y="0"/>
              <a:ext cx="3599231" cy="401831"/>
            </a:xfrm>
            <a:custGeom>
              <a:avLst/>
              <a:gdLst/>
              <a:ahLst/>
              <a:cxnLst/>
              <a:rect r="r" b="b" t="t" l="l"/>
              <a:pathLst>
                <a:path h="401831" w="3599231">
                  <a:moveTo>
                    <a:pt x="203200" y="0"/>
                  </a:moveTo>
                  <a:lnTo>
                    <a:pt x="3599231" y="0"/>
                  </a:lnTo>
                  <a:lnTo>
                    <a:pt x="3396031" y="401831"/>
                  </a:lnTo>
                  <a:lnTo>
                    <a:pt x="0" y="401831"/>
                  </a:lnTo>
                  <a:lnTo>
                    <a:pt x="203200" y="0"/>
                  </a:lnTo>
                  <a:close/>
                </a:path>
              </a:pathLst>
            </a:custGeom>
            <a:solidFill>
              <a:srgbClr val="578EAF"/>
            </a:solidFill>
          </p:spPr>
        </p:sp>
        <p:sp>
          <p:nvSpPr>
            <p:cNvPr name="TextBox 5" id="5"/>
            <p:cNvSpPr txBox="true"/>
            <p:nvPr/>
          </p:nvSpPr>
          <p:spPr>
            <a:xfrm>
              <a:off x="101600" y="-38100"/>
              <a:ext cx="3396031" cy="439931"/>
            </a:xfrm>
            <a:prstGeom prst="rect">
              <a:avLst/>
            </a:prstGeom>
          </p:spPr>
          <p:txBody>
            <a:bodyPr anchor="ctr" rtlCol="false" tIns="50800" lIns="50800" bIns="50800" rIns="50800"/>
            <a:lstStyle/>
            <a:p>
              <a:pPr algn="ctr">
                <a:lnSpc>
                  <a:spcPts val="2659"/>
                </a:lnSpc>
              </a:pPr>
            </a:p>
          </p:txBody>
        </p:sp>
      </p:grpSp>
      <p:grpSp>
        <p:nvGrpSpPr>
          <p:cNvPr name="Group 6" id="6"/>
          <p:cNvGrpSpPr/>
          <p:nvPr/>
        </p:nvGrpSpPr>
        <p:grpSpPr>
          <a:xfrm rot="-9061468">
            <a:off x="-3088929" y="-1143254"/>
            <a:ext cx="10495456" cy="1412986"/>
            <a:chOff x="0" y="0"/>
            <a:chExt cx="2764235" cy="372144"/>
          </a:xfrm>
        </p:grpSpPr>
        <p:sp>
          <p:nvSpPr>
            <p:cNvPr name="Freeform 7" id="7"/>
            <p:cNvSpPr/>
            <p:nvPr/>
          </p:nvSpPr>
          <p:spPr>
            <a:xfrm flipH="false" flipV="false" rot="0">
              <a:off x="0" y="0"/>
              <a:ext cx="2764235" cy="372144"/>
            </a:xfrm>
            <a:custGeom>
              <a:avLst/>
              <a:gdLst/>
              <a:ahLst/>
              <a:cxnLst/>
              <a:rect r="r" b="b" t="t" l="l"/>
              <a:pathLst>
                <a:path h="372144" w="2764235">
                  <a:moveTo>
                    <a:pt x="203200" y="0"/>
                  </a:moveTo>
                  <a:lnTo>
                    <a:pt x="2764235" y="0"/>
                  </a:lnTo>
                  <a:lnTo>
                    <a:pt x="2561035" y="372144"/>
                  </a:lnTo>
                  <a:lnTo>
                    <a:pt x="0" y="372144"/>
                  </a:lnTo>
                  <a:lnTo>
                    <a:pt x="203200" y="0"/>
                  </a:lnTo>
                  <a:close/>
                </a:path>
              </a:pathLst>
            </a:custGeom>
            <a:solidFill>
              <a:srgbClr val="6AABD2"/>
            </a:solidFill>
          </p:spPr>
        </p:sp>
        <p:sp>
          <p:nvSpPr>
            <p:cNvPr name="TextBox 8" id="8"/>
            <p:cNvSpPr txBox="true"/>
            <p:nvPr/>
          </p:nvSpPr>
          <p:spPr>
            <a:xfrm>
              <a:off x="101600" y="-38100"/>
              <a:ext cx="2561035" cy="410244"/>
            </a:xfrm>
            <a:prstGeom prst="rect">
              <a:avLst/>
            </a:prstGeom>
          </p:spPr>
          <p:txBody>
            <a:bodyPr anchor="ctr" rtlCol="false" tIns="50800" lIns="50800" bIns="50800" rIns="50800"/>
            <a:lstStyle/>
            <a:p>
              <a:pPr algn="ctr">
                <a:lnSpc>
                  <a:spcPts val="2659"/>
                </a:lnSpc>
              </a:pPr>
            </a:p>
          </p:txBody>
        </p:sp>
      </p:grpSp>
      <p:grpSp>
        <p:nvGrpSpPr>
          <p:cNvPr name="Group 9" id="9"/>
          <p:cNvGrpSpPr/>
          <p:nvPr/>
        </p:nvGrpSpPr>
        <p:grpSpPr>
          <a:xfrm rot="-2042265">
            <a:off x="-9170706" y="10779985"/>
            <a:ext cx="13665829" cy="1525700"/>
            <a:chOff x="0" y="0"/>
            <a:chExt cx="3599231" cy="401831"/>
          </a:xfrm>
        </p:grpSpPr>
        <p:sp>
          <p:nvSpPr>
            <p:cNvPr name="Freeform 10" id="10"/>
            <p:cNvSpPr/>
            <p:nvPr/>
          </p:nvSpPr>
          <p:spPr>
            <a:xfrm flipH="false" flipV="false" rot="0">
              <a:off x="0" y="0"/>
              <a:ext cx="3599231" cy="401831"/>
            </a:xfrm>
            <a:custGeom>
              <a:avLst/>
              <a:gdLst/>
              <a:ahLst/>
              <a:cxnLst/>
              <a:rect r="r" b="b" t="t" l="l"/>
              <a:pathLst>
                <a:path h="401831" w="3599231">
                  <a:moveTo>
                    <a:pt x="203200" y="0"/>
                  </a:moveTo>
                  <a:lnTo>
                    <a:pt x="3599231" y="0"/>
                  </a:lnTo>
                  <a:lnTo>
                    <a:pt x="3396031" y="401831"/>
                  </a:lnTo>
                  <a:lnTo>
                    <a:pt x="0" y="401831"/>
                  </a:lnTo>
                  <a:lnTo>
                    <a:pt x="203200" y="0"/>
                  </a:lnTo>
                  <a:close/>
                </a:path>
              </a:pathLst>
            </a:custGeom>
            <a:solidFill>
              <a:srgbClr val="578EAF"/>
            </a:solidFill>
          </p:spPr>
        </p:sp>
        <p:sp>
          <p:nvSpPr>
            <p:cNvPr name="TextBox 11" id="11"/>
            <p:cNvSpPr txBox="true"/>
            <p:nvPr/>
          </p:nvSpPr>
          <p:spPr>
            <a:xfrm>
              <a:off x="101600" y="-38100"/>
              <a:ext cx="3396031" cy="439931"/>
            </a:xfrm>
            <a:prstGeom prst="rect">
              <a:avLst/>
            </a:prstGeom>
          </p:spPr>
          <p:txBody>
            <a:bodyPr anchor="ctr" rtlCol="false" tIns="50800" lIns="50800" bIns="50800" rIns="50800"/>
            <a:lstStyle/>
            <a:p>
              <a:pPr algn="ctr">
                <a:lnSpc>
                  <a:spcPts val="2659"/>
                </a:lnSpc>
              </a:pPr>
            </a:p>
          </p:txBody>
        </p:sp>
      </p:grpSp>
      <p:grpSp>
        <p:nvGrpSpPr>
          <p:cNvPr name="Group 12" id="12"/>
          <p:cNvGrpSpPr/>
          <p:nvPr/>
        </p:nvGrpSpPr>
        <p:grpSpPr>
          <a:xfrm rot="1668227">
            <a:off x="1326557" y="9102829"/>
            <a:ext cx="10495456" cy="1412986"/>
            <a:chOff x="0" y="0"/>
            <a:chExt cx="2764235" cy="372144"/>
          </a:xfrm>
        </p:grpSpPr>
        <p:sp>
          <p:nvSpPr>
            <p:cNvPr name="Freeform 13" id="13"/>
            <p:cNvSpPr/>
            <p:nvPr/>
          </p:nvSpPr>
          <p:spPr>
            <a:xfrm flipH="false" flipV="false" rot="0">
              <a:off x="0" y="0"/>
              <a:ext cx="2764235" cy="372144"/>
            </a:xfrm>
            <a:custGeom>
              <a:avLst/>
              <a:gdLst/>
              <a:ahLst/>
              <a:cxnLst/>
              <a:rect r="r" b="b" t="t" l="l"/>
              <a:pathLst>
                <a:path h="372144" w="2764235">
                  <a:moveTo>
                    <a:pt x="203200" y="0"/>
                  </a:moveTo>
                  <a:lnTo>
                    <a:pt x="2764235" y="0"/>
                  </a:lnTo>
                  <a:lnTo>
                    <a:pt x="2561035" y="372144"/>
                  </a:lnTo>
                  <a:lnTo>
                    <a:pt x="0" y="372144"/>
                  </a:lnTo>
                  <a:lnTo>
                    <a:pt x="203200" y="0"/>
                  </a:lnTo>
                  <a:close/>
                </a:path>
              </a:pathLst>
            </a:custGeom>
            <a:solidFill>
              <a:srgbClr val="6AABD2"/>
            </a:solidFill>
          </p:spPr>
        </p:sp>
        <p:sp>
          <p:nvSpPr>
            <p:cNvPr name="TextBox 14" id="14"/>
            <p:cNvSpPr txBox="true"/>
            <p:nvPr/>
          </p:nvSpPr>
          <p:spPr>
            <a:xfrm>
              <a:off x="101600" y="-38100"/>
              <a:ext cx="2561035" cy="410244"/>
            </a:xfrm>
            <a:prstGeom prst="rect">
              <a:avLst/>
            </a:prstGeom>
          </p:spPr>
          <p:txBody>
            <a:bodyPr anchor="ctr" rtlCol="false" tIns="50800" lIns="50800" bIns="50800" rIns="50800"/>
            <a:lstStyle/>
            <a:p>
              <a:pPr algn="ctr">
                <a:lnSpc>
                  <a:spcPts val="2659"/>
                </a:lnSpc>
              </a:pPr>
            </a:p>
          </p:txBody>
        </p:sp>
      </p:grpSp>
      <p:sp>
        <p:nvSpPr>
          <p:cNvPr name="Freeform 15" id="15"/>
          <p:cNvSpPr/>
          <p:nvPr/>
        </p:nvSpPr>
        <p:spPr>
          <a:xfrm flipH="false" flipV="false" rot="0">
            <a:off x="1226481" y="6706455"/>
            <a:ext cx="2793306" cy="2161320"/>
          </a:xfrm>
          <a:custGeom>
            <a:avLst/>
            <a:gdLst/>
            <a:ahLst/>
            <a:cxnLst/>
            <a:rect r="r" b="b" t="t" l="l"/>
            <a:pathLst>
              <a:path h="2161320" w="2793306">
                <a:moveTo>
                  <a:pt x="0" y="0"/>
                </a:moveTo>
                <a:lnTo>
                  <a:pt x="2793306" y="0"/>
                </a:lnTo>
                <a:lnTo>
                  <a:pt x="2793306" y="2161320"/>
                </a:lnTo>
                <a:lnTo>
                  <a:pt x="0" y="216132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6" id="16"/>
          <p:cNvSpPr/>
          <p:nvPr/>
        </p:nvSpPr>
        <p:spPr>
          <a:xfrm flipH="false" flipV="false" rot="0">
            <a:off x="5770019" y="6534150"/>
            <a:ext cx="1080683" cy="1252966"/>
          </a:xfrm>
          <a:custGeom>
            <a:avLst/>
            <a:gdLst/>
            <a:ahLst/>
            <a:cxnLst/>
            <a:rect r="r" b="b" t="t" l="l"/>
            <a:pathLst>
              <a:path h="1252966" w="1080683">
                <a:moveTo>
                  <a:pt x="0" y="0"/>
                </a:moveTo>
                <a:lnTo>
                  <a:pt x="1080682" y="0"/>
                </a:lnTo>
                <a:lnTo>
                  <a:pt x="1080682" y="1252965"/>
                </a:lnTo>
                <a:lnTo>
                  <a:pt x="0" y="1252965"/>
                </a:lnTo>
                <a:lnTo>
                  <a:pt x="0" y="0"/>
                </a:lnTo>
                <a:close/>
              </a:path>
            </a:pathLst>
          </a:custGeom>
          <a:blipFill>
            <a:blip r:embed="rId6"/>
            <a:stretch>
              <a:fillRect l="0" t="0" r="0" b="0"/>
            </a:stretch>
          </a:blipFill>
        </p:spPr>
      </p:sp>
      <p:sp>
        <p:nvSpPr>
          <p:cNvPr name="Freeform 17" id="17"/>
          <p:cNvSpPr/>
          <p:nvPr/>
        </p:nvSpPr>
        <p:spPr>
          <a:xfrm flipH="false" flipV="false" rot="0">
            <a:off x="4377015" y="6455602"/>
            <a:ext cx="1148430" cy="1331513"/>
          </a:xfrm>
          <a:custGeom>
            <a:avLst/>
            <a:gdLst/>
            <a:ahLst/>
            <a:cxnLst/>
            <a:rect r="r" b="b" t="t" l="l"/>
            <a:pathLst>
              <a:path h="1331513" w="1148430">
                <a:moveTo>
                  <a:pt x="0" y="0"/>
                </a:moveTo>
                <a:lnTo>
                  <a:pt x="1148430" y="0"/>
                </a:lnTo>
                <a:lnTo>
                  <a:pt x="1148430" y="1331513"/>
                </a:lnTo>
                <a:lnTo>
                  <a:pt x="0" y="1331513"/>
                </a:lnTo>
                <a:lnTo>
                  <a:pt x="0" y="0"/>
                </a:lnTo>
                <a:close/>
              </a:path>
            </a:pathLst>
          </a:custGeom>
          <a:blipFill>
            <a:blip r:embed="rId7"/>
            <a:stretch>
              <a:fillRect l="0" t="0" r="0" b="0"/>
            </a:stretch>
          </a:blipFill>
        </p:spPr>
      </p:sp>
      <p:sp>
        <p:nvSpPr>
          <p:cNvPr name="Freeform 18" id="18"/>
          <p:cNvSpPr/>
          <p:nvPr/>
        </p:nvSpPr>
        <p:spPr>
          <a:xfrm flipH="false" flipV="false" rot="0">
            <a:off x="7098351" y="6455602"/>
            <a:ext cx="1149507" cy="1331513"/>
          </a:xfrm>
          <a:custGeom>
            <a:avLst/>
            <a:gdLst/>
            <a:ahLst/>
            <a:cxnLst/>
            <a:rect r="r" b="b" t="t" l="l"/>
            <a:pathLst>
              <a:path h="1331513" w="1149507">
                <a:moveTo>
                  <a:pt x="0" y="0"/>
                </a:moveTo>
                <a:lnTo>
                  <a:pt x="1149508" y="0"/>
                </a:lnTo>
                <a:lnTo>
                  <a:pt x="1149508" y="1331513"/>
                </a:lnTo>
                <a:lnTo>
                  <a:pt x="0" y="1331513"/>
                </a:lnTo>
                <a:lnTo>
                  <a:pt x="0" y="0"/>
                </a:lnTo>
                <a:close/>
              </a:path>
            </a:pathLst>
          </a:custGeom>
          <a:blipFill>
            <a:blip r:embed="rId8"/>
            <a:stretch>
              <a:fillRect l="0" t="0" r="0" b="0"/>
            </a:stretch>
          </a:blipFill>
        </p:spPr>
      </p:sp>
      <p:sp>
        <p:nvSpPr>
          <p:cNvPr name="Freeform 19" id="19"/>
          <p:cNvSpPr/>
          <p:nvPr/>
        </p:nvSpPr>
        <p:spPr>
          <a:xfrm flipH="false" flipV="false" rot="0">
            <a:off x="4409838" y="7970703"/>
            <a:ext cx="1115607" cy="1287597"/>
          </a:xfrm>
          <a:custGeom>
            <a:avLst/>
            <a:gdLst/>
            <a:ahLst/>
            <a:cxnLst/>
            <a:rect r="r" b="b" t="t" l="l"/>
            <a:pathLst>
              <a:path h="1287597" w="1115607">
                <a:moveTo>
                  <a:pt x="0" y="0"/>
                </a:moveTo>
                <a:lnTo>
                  <a:pt x="1115607" y="0"/>
                </a:lnTo>
                <a:lnTo>
                  <a:pt x="1115607" y="1287597"/>
                </a:lnTo>
                <a:lnTo>
                  <a:pt x="0" y="1287597"/>
                </a:lnTo>
                <a:lnTo>
                  <a:pt x="0" y="0"/>
                </a:lnTo>
                <a:close/>
              </a:path>
            </a:pathLst>
          </a:custGeom>
          <a:blipFill>
            <a:blip r:embed="rId9"/>
            <a:stretch>
              <a:fillRect l="0" t="0" r="0" b="0"/>
            </a:stretch>
          </a:blipFill>
        </p:spPr>
      </p:sp>
      <p:sp>
        <p:nvSpPr>
          <p:cNvPr name="Freeform 20" id="20"/>
          <p:cNvSpPr/>
          <p:nvPr/>
        </p:nvSpPr>
        <p:spPr>
          <a:xfrm flipH="false" flipV="false" rot="0">
            <a:off x="5649418" y="7970703"/>
            <a:ext cx="1321884" cy="1321884"/>
          </a:xfrm>
          <a:custGeom>
            <a:avLst/>
            <a:gdLst/>
            <a:ahLst/>
            <a:cxnLst/>
            <a:rect r="r" b="b" t="t" l="l"/>
            <a:pathLst>
              <a:path h="1321884" w="1321884">
                <a:moveTo>
                  <a:pt x="0" y="0"/>
                </a:moveTo>
                <a:lnTo>
                  <a:pt x="1321884" y="0"/>
                </a:lnTo>
                <a:lnTo>
                  <a:pt x="1321884" y="1321884"/>
                </a:lnTo>
                <a:lnTo>
                  <a:pt x="0" y="1321884"/>
                </a:lnTo>
                <a:lnTo>
                  <a:pt x="0" y="0"/>
                </a:lnTo>
                <a:close/>
              </a:path>
            </a:pathLst>
          </a:custGeom>
          <a:blipFill>
            <a:blip r:embed="rId10"/>
            <a:stretch>
              <a:fillRect l="0" t="0" r="0" b="0"/>
            </a:stretch>
          </a:blipFill>
        </p:spPr>
      </p:sp>
      <p:sp>
        <p:nvSpPr>
          <p:cNvPr name="TextBox 21" id="21"/>
          <p:cNvSpPr txBox="true"/>
          <p:nvPr/>
        </p:nvSpPr>
        <p:spPr>
          <a:xfrm rot="0">
            <a:off x="1226481" y="2680716"/>
            <a:ext cx="8115300" cy="3142118"/>
          </a:xfrm>
          <a:prstGeom prst="rect">
            <a:avLst/>
          </a:prstGeom>
        </p:spPr>
        <p:txBody>
          <a:bodyPr anchor="t" rtlCol="false" tIns="0" lIns="0" bIns="0" rIns="0">
            <a:spAutoFit/>
          </a:bodyPr>
          <a:lstStyle/>
          <a:p>
            <a:pPr algn="l">
              <a:lnSpc>
                <a:spcPts val="12662"/>
              </a:lnSpc>
            </a:pPr>
            <a:r>
              <a:rPr lang="en-US" sz="9044">
                <a:solidFill>
                  <a:srgbClr val="253247"/>
                </a:solidFill>
                <a:latin typeface="League Spartan"/>
                <a:ea typeface="League Spartan"/>
                <a:cs typeface="League Spartan"/>
                <a:sym typeface="League Spartan"/>
              </a:rPr>
              <a:t>DATA CLEANING</a:t>
            </a:r>
          </a:p>
        </p:txBody>
      </p:sp>
      <p:sp>
        <p:nvSpPr>
          <p:cNvPr name="TextBox 22" id="22"/>
          <p:cNvSpPr txBox="true"/>
          <p:nvPr/>
        </p:nvSpPr>
        <p:spPr>
          <a:xfrm rot="0">
            <a:off x="8869291" y="2313520"/>
            <a:ext cx="8390009" cy="6665845"/>
          </a:xfrm>
          <a:prstGeom prst="rect">
            <a:avLst/>
          </a:prstGeom>
        </p:spPr>
        <p:txBody>
          <a:bodyPr anchor="t" rtlCol="false" tIns="0" lIns="0" bIns="0" rIns="0">
            <a:spAutoFit/>
          </a:bodyPr>
          <a:lstStyle/>
          <a:p>
            <a:pPr algn="just">
              <a:lnSpc>
                <a:spcPts val="3381"/>
              </a:lnSpc>
              <a:spcBef>
                <a:spcPct val="0"/>
              </a:spcBef>
            </a:pPr>
            <a:r>
              <a:rPr lang="en-US" b="true" sz="2415">
                <a:solidFill>
                  <a:srgbClr val="253247"/>
                </a:solidFill>
                <a:latin typeface="Glacial Indifference Bold"/>
                <a:ea typeface="Glacial Indifference Bold"/>
                <a:cs typeface="Glacial Indifference Bold"/>
                <a:sym typeface="Glacial Indifference Bold"/>
              </a:rPr>
              <a:t>Cleaning Process Overview</a:t>
            </a:r>
          </a:p>
          <a:p>
            <a:pPr algn="just">
              <a:lnSpc>
                <a:spcPts val="3101"/>
              </a:lnSpc>
              <a:spcBef>
                <a:spcPct val="0"/>
              </a:spcBef>
            </a:pPr>
          </a:p>
          <a:p>
            <a:pPr algn="just" marL="478254" indent="-239127" lvl="1">
              <a:lnSpc>
                <a:spcPts val="3101"/>
              </a:lnSpc>
              <a:buFont typeface="Arial"/>
              <a:buChar char="•"/>
            </a:pPr>
            <a:r>
              <a:rPr lang="en-US" b="true" sz="2215">
                <a:solidFill>
                  <a:srgbClr val="253247"/>
                </a:solidFill>
                <a:latin typeface="Glacial Indifference Bold"/>
                <a:ea typeface="Glacial Indifference Bold"/>
                <a:cs typeface="Glacial Indifference Bold"/>
                <a:sym typeface="Glacial Indifference Bold"/>
              </a:rPr>
              <a:t>Purpose: </a:t>
            </a:r>
            <a:r>
              <a:rPr lang="en-US" sz="2215">
                <a:solidFill>
                  <a:srgbClr val="253247"/>
                </a:solidFill>
                <a:latin typeface="Glacial Indifference"/>
                <a:ea typeface="Glacial Indifference"/>
                <a:cs typeface="Glacial Indifference"/>
                <a:sym typeface="Glacial Indifference"/>
              </a:rPr>
              <a:t>Ensure both datasets are clean, consistent, and suitable for merging and analysis.</a:t>
            </a:r>
          </a:p>
          <a:p>
            <a:pPr algn="just">
              <a:lnSpc>
                <a:spcPts val="3101"/>
              </a:lnSpc>
            </a:pPr>
          </a:p>
          <a:p>
            <a:pPr algn="just" marL="478254" indent="-239127" lvl="1">
              <a:lnSpc>
                <a:spcPts val="3101"/>
              </a:lnSpc>
              <a:buFont typeface="Arial"/>
              <a:buChar char="•"/>
            </a:pPr>
            <a:r>
              <a:rPr lang="en-US" b="true" sz="2215">
                <a:solidFill>
                  <a:srgbClr val="253247"/>
                </a:solidFill>
                <a:latin typeface="Glacial Indifference Bold"/>
                <a:ea typeface="Glacial Indifference Bold"/>
                <a:cs typeface="Glacial Indifference Bold"/>
                <a:sym typeface="Glacial Indifference Bold"/>
              </a:rPr>
              <a:t>Steps Taken:</a:t>
            </a:r>
          </a:p>
          <a:p>
            <a:pPr algn="just" marL="956507" indent="-318836" lvl="2">
              <a:lnSpc>
                <a:spcPts val="3101"/>
              </a:lnSpc>
              <a:buFont typeface="Arial"/>
              <a:buChar char="⚬"/>
            </a:pPr>
            <a:r>
              <a:rPr lang="en-US" sz="2215">
                <a:solidFill>
                  <a:srgbClr val="253247"/>
                </a:solidFill>
                <a:latin typeface="Glacial Indifference"/>
                <a:ea typeface="Glacial Indifference"/>
                <a:cs typeface="Glacial Indifference"/>
                <a:sym typeface="Glacial Indifference"/>
              </a:rPr>
              <a:t>Removed duplicate rows to maintain dataset integrity.</a:t>
            </a:r>
          </a:p>
          <a:p>
            <a:pPr algn="just" marL="956507" indent="-318836" lvl="2">
              <a:lnSpc>
                <a:spcPts val="3101"/>
              </a:lnSpc>
              <a:buFont typeface="Arial"/>
              <a:buChar char="⚬"/>
            </a:pPr>
            <a:r>
              <a:rPr lang="en-US" sz="2215">
                <a:solidFill>
                  <a:srgbClr val="253247"/>
                </a:solidFill>
                <a:latin typeface="Glacial Indifference"/>
                <a:ea typeface="Glacial Indifference"/>
                <a:cs typeface="Glacial Indifference"/>
                <a:sym typeface="Glacial Indifference"/>
              </a:rPr>
              <a:t>Validated and standardized data types, ensuring numeric fields (e.g., price) and date fields (sale_date) were correctly formatted.</a:t>
            </a:r>
          </a:p>
          <a:p>
            <a:pPr algn="just" marL="956507" indent="-318836" lvl="2">
              <a:lnSpc>
                <a:spcPts val="3101"/>
              </a:lnSpc>
              <a:buFont typeface="Arial"/>
              <a:buChar char="⚬"/>
            </a:pPr>
            <a:r>
              <a:rPr lang="en-US" sz="2215">
                <a:solidFill>
                  <a:srgbClr val="253247"/>
                </a:solidFill>
                <a:latin typeface="Glacial Indifference"/>
                <a:ea typeface="Glacial Indifference"/>
                <a:cs typeface="Glacial Indifference"/>
                <a:sym typeface="Glacial Indifference"/>
              </a:rPr>
              <a:t>Cleaned and formatted date entries for consistency across datasets.</a:t>
            </a:r>
          </a:p>
          <a:p>
            <a:pPr algn="just" marL="956507" indent="-318836" lvl="2">
              <a:lnSpc>
                <a:spcPts val="3101"/>
              </a:lnSpc>
              <a:buFont typeface="Arial"/>
              <a:buChar char="⚬"/>
            </a:pPr>
            <a:r>
              <a:rPr lang="en-US" sz="2215">
                <a:solidFill>
                  <a:srgbClr val="253247"/>
                </a:solidFill>
                <a:latin typeface="Glacial Indifference"/>
                <a:ea typeface="Glacial Indifference"/>
                <a:cs typeface="Glacial Indifference"/>
                <a:sym typeface="Glacial Indifference"/>
              </a:rPr>
              <a:t>Processed addresses to remove inconsistencies, standardize formatting, and handle special characters.</a:t>
            </a:r>
          </a:p>
          <a:p>
            <a:pPr algn="just">
              <a:lnSpc>
                <a:spcPts val="3101"/>
              </a:lnSpc>
            </a:pPr>
          </a:p>
          <a:p>
            <a:pPr algn="just">
              <a:lnSpc>
                <a:spcPts val="3101"/>
              </a:lnSpc>
              <a:spcBef>
                <a:spcPct val="0"/>
              </a:spcBef>
            </a:pPr>
          </a:p>
          <a:p>
            <a:pPr algn="just">
              <a:lnSpc>
                <a:spcPts val="3101"/>
              </a:lnSpc>
              <a:spcBef>
                <a:spcPct val="0"/>
              </a:spcBef>
            </a:pPr>
            <a:r>
              <a:rPr lang="en-US" b="true" sz="2215">
                <a:solidFill>
                  <a:srgbClr val="253247"/>
                </a:solidFill>
                <a:latin typeface="Glacial Indifference Bold"/>
                <a:ea typeface="Glacial Indifference Bold"/>
                <a:cs typeface="Glacial Indifference Bold"/>
                <a:sym typeface="Glacial Indifference Bold"/>
              </a:rPr>
              <a:t>Packages Used</a:t>
            </a:r>
            <a:r>
              <a:rPr lang="en-US" sz="2215">
                <a:solidFill>
                  <a:srgbClr val="253247"/>
                </a:solidFill>
                <a:latin typeface="Glacial Indifference"/>
                <a:ea typeface="Glacial Indifference"/>
                <a:cs typeface="Glacial Indifference"/>
                <a:sym typeface="Glacial Indifference"/>
              </a:rPr>
              <a:t>: dplyr, tidyr, lubridate, stringr/stringi</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D9E4EC"/>
        </a:solidFill>
      </p:bgPr>
    </p:bg>
    <p:spTree>
      <p:nvGrpSpPr>
        <p:cNvPr id="1" name=""/>
        <p:cNvGrpSpPr/>
        <p:nvPr/>
      </p:nvGrpSpPr>
      <p:grpSpPr>
        <a:xfrm>
          <a:off x="0" y="0"/>
          <a:ext cx="0" cy="0"/>
          <a:chOff x="0" y="0"/>
          <a:chExt cx="0" cy="0"/>
        </a:xfrm>
      </p:grpSpPr>
      <p:sp>
        <p:nvSpPr>
          <p:cNvPr name="Freeform 2" id="2"/>
          <p:cNvSpPr/>
          <p:nvPr/>
        </p:nvSpPr>
        <p:spPr>
          <a:xfrm flipH="true" flipV="true" rot="0">
            <a:off x="15335897" y="-291796"/>
            <a:ext cx="2952103" cy="2944723"/>
          </a:xfrm>
          <a:custGeom>
            <a:avLst/>
            <a:gdLst/>
            <a:ahLst/>
            <a:cxnLst/>
            <a:rect r="r" b="b" t="t" l="l"/>
            <a:pathLst>
              <a:path h="2944723" w="2952103">
                <a:moveTo>
                  <a:pt x="2952103" y="2944722"/>
                </a:moveTo>
                <a:lnTo>
                  <a:pt x="0" y="2944722"/>
                </a:lnTo>
                <a:lnTo>
                  <a:pt x="0" y="0"/>
                </a:lnTo>
                <a:lnTo>
                  <a:pt x="2952103" y="0"/>
                </a:lnTo>
                <a:lnTo>
                  <a:pt x="2952103" y="2944722"/>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8828038">
            <a:off x="4271547" y="-2750518"/>
            <a:ext cx="13665829" cy="1525700"/>
            <a:chOff x="0" y="0"/>
            <a:chExt cx="3599231" cy="401831"/>
          </a:xfrm>
        </p:grpSpPr>
        <p:sp>
          <p:nvSpPr>
            <p:cNvPr name="Freeform 4" id="4"/>
            <p:cNvSpPr/>
            <p:nvPr/>
          </p:nvSpPr>
          <p:spPr>
            <a:xfrm flipH="false" flipV="false" rot="0">
              <a:off x="0" y="0"/>
              <a:ext cx="3599231" cy="401831"/>
            </a:xfrm>
            <a:custGeom>
              <a:avLst/>
              <a:gdLst/>
              <a:ahLst/>
              <a:cxnLst/>
              <a:rect r="r" b="b" t="t" l="l"/>
              <a:pathLst>
                <a:path h="401831" w="3599231">
                  <a:moveTo>
                    <a:pt x="203200" y="0"/>
                  </a:moveTo>
                  <a:lnTo>
                    <a:pt x="3599231" y="0"/>
                  </a:lnTo>
                  <a:lnTo>
                    <a:pt x="3396031" y="401831"/>
                  </a:lnTo>
                  <a:lnTo>
                    <a:pt x="0" y="401831"/>
                  </a:lnTo>
                  <a:lnTo>
                    <a:pt x="203200" y="0"/>
                  </a:lnTo>
                  <a:close/>
                </a:path>
              </a:pathLst>
            </a:custGeom>
            <a:solidFill>
              <a:srgbClr val="578EAF"/>
            </a:solidFill>
          </p:spPr>
        </p:sp>
        <p:sp>
          <p:nvSpPr>
            <p:cNvPr name="TextBox 5" id="5"/>
            <p:cNvSpPr txBox="true"/>
            <p:nvPr/>
          </p:nvSpPr>
          <p:spPr>
            <a:xfrm>
              <a:off x="101600" y="-38100"/>
              <a:ext cx="3396031" cy="439931"/>
            </a:xfrm>
            <a:prstGeom prst="rect">
              <a:avLst/>
            </a:prstGeom>
          </p:spPr>
          <p:txBody>
            <a:bodyPr anchor="ctr" rtlCol="false" tIns="50800" lIns="50800" bIns="50800" rIns="50800"/>
            <a:lstStyle/>
            <a:p>
              <a:pPr algn="ctr">
                <a:lnSpc>
                  <a:spcPts val="2659"/>
                </a:lnSpc>
              </a:pPr>
            </a:p>
          </p:txBody>
        </p:sp>
      </p:grpSp>
      <p:grpSp>
        <p:nvGrpSpPr>
          <p:cNvPr name="Group 6" id="6"/>
          <p:cNvGrpSpPr/>
          <p:nvPr/>
        </p:nvGrpSpPr>
        <p:grpSpPr>
          <a:xfrm rot="-9061468">
            <a:off x="-3088929" y="-1143254"/>
            <a:ext cx="10495456" cy="1412986"/>
            <a:chOff x="0" y="0"/>
            <a:chExt cx="2764235" cy="372144"/>
          </a:xfrm>
        </p:grpSpPr>
        <p:sp>
          <p:nvSpPr>
            <p:cNvPr name="Freeform 7" id="7"/>
            <p:cNvSpPr/>
            <p:nvPr/>
          </p:nvSpPr>
          <p:spPr>
            <a:xfrm flipH="false" flipV="false" rot="0">
              <a:off x="0" y="0"/>
              <a:ext cx="2764235" cy="372144"/>
            </a:xfrm>
            <a:custGeom>
              <a:avLst/>
              <a:gdLst/>
              <a:ahLst/>
              <a:cxnLst/>
              <a:rect r="r" b="b" t="t" l="l"/>
              <a:pathLst>
                <a:path h="372144" w="2764235">
                  <a:moveTo>
                    <a:pt x="203200" y="0"/>
                  </a:moveTo>
                  <a:lnTo>
                    <a:pt x="2764235" y="0"/>
                  </a:lnTo>
                  <a:lnTo>
                    <a:pt x="2561035" y="372144"/>
                  </a:lnTo>
                  <a:lnTo>
                    <a:pt x="0" y="372144"/>
                  </a:lnTo>
                  <a:lnTo>
                    <a:pt x="203200" y="0"/>
                  </a:lnTo>
                  <a:close/>
                </a:path>
              </a:pathLst>
            </a:custGeom>
            <a:solidFill>
              <a:srgbClr val="6AABD2"/>
            </a:solidFill>
          </p:spPr>
        </p:sp>
        <p:sp>
          <p:nvSpPr>
            <p:cNvPr name="TextBox 8" id="8"/>
            <p:cNvSpPr txBox="true"/>
            <p:nvPr/>
          </p:nvSpPr>
          <p:spPr>
            <a:xfrm>
              <a:off x="101600" y="-38100"/>
              <a:ext cx="2561035" cy="410244"/>
            </a:xfrm>
            <a:prstGeom prst="rect">
              <a:avLst/>
            </a:prstGeom>
          </p:spPr>
          <p:txBody>
            <a:bodyPr anchor="ctr" rtlCol="false" tIns="50800" lIns="50800" bIns="50800" rIns="50800"/>
            <a:lstStyle/>
            <a:p>
              <a:pPr algn="ctr">
                <a:lnSpc>
                  <a:spcPts val="2659"/>
                </a:lnSpc>
              </a:pPr>
            </a:p>
          </p:txBody>
        </p:sp>
      </p:grpSp>
      <p:grpSp>
        <p:nvGrpSpPr>
          <p:cNvPr name="Group 9" id="9"/>
          <p:cNvGrpSpPr/>
          <p:nvPr/>
        </p:nvGrpSpPr>
        <p:grpSpPr>
          <a:xfrm rot="-2042265">
            <a:off x="-9170706" y="10779985"/>
            <a:ext cx="13665829" cy="1525700"/>
            <a:chOff x="0" y="0"/>
            <a:chExt cx="3599231" cy="401831"/>
          </a:xfrm>
        </p:grpSpPr>
        <p:sp>
          <p:nvSpPr>
            <p:cNvPr name="Freeform 10" id="10"/>
            <p:cNvSpPr/>
            <p:nvPr/>
          </p:nvSpPr>
          <p:spPr>
            <a:xfrm flipH="false" flipV="false" rot="0">
              <a:off x="0" y="0"/>
              <a:ext cx="3599231" cy="401831"/>
            </a:xfrm>
            <a:custGeom>
              <a:avLst/>
              <a:gdLst/>
              <a:ahLst/>
              <a:cxnLst/>
              <a:rect r="r" b="b" t="t" l="l"/>
              <a:pathLst>
                <a:path h="401831" w="3599231">
                  <a:moveTo>
                    <a:pt x="203200" y="0"/>
                  </a:moveTo>
                  <a:lnTo>
                    <a:pt x="3599231" y="0"/>
                  </a:lnTo>
                  <a:lnTo>
                    <a:pt x="3396031" y="401831"/>
                  </a:lnTo>
                  <a:lnTo>
                    <a:pt x="0" y="401831"/>
                  </a:lnTo>
                  <a:lnTo>
                    <a:pt x="203200" y="0"/>
                  </a:lnTo>
                  <a:close/>
                </a:path>
              </a:pathLst>
            </a:custGeom>
            <a:solidFill>
              <a:srgbClr val="578EAF"/>
            </a:solidFill>
          </p:spPr>
        </p:sp>
        <p:sp>
          <p:nvSpPr>
            <p:cNvPr name="TextBox 11" id="11"/>
            <p:cNvSpPr txBox="true"/>
            <p:nvPr/>
          </p:nvSpPr>
          <p:spPr>
            <a:xfrm>
              <a:off x="101600" y="-38100"/>
              <a:ext cx="3396031" cy="439931"/>
            </a:xfrm>
            <a:prstGeom prst="rect">
              <a:avLst/>
            </a:prstGeom>
          </p:spPr>
          <p:txBody>
            <a:bodyPr anchor="ctr" rtlCol="false" tIns="50800" lIns="50800" bIns="50800" rIns="50800"/>
            <a:lstStyle/>
            <a:p>
              <a:pPr algn="ctr">
                <a:lnSpc>
                  <a:spcPts val="2659"/>
                </a:lnSpc>
              </a:pPr>
            </a:p>
          </p:txBody>
        </p:sp>
      </p:grpSp>
      <p:grpSp>
        <p:nvGrpSpPr>
          <p:cNvPr name="Group 12" id="12"/>
          <p:cNvGrpSpPr/>
          <p:nvPr/>
        </p:nvGrpSpPr>
        <p:grpSpPr>
          <a:xfrm rot="1668227">
            <a:off x="1326557" y="9102829"/>
            <a:ext cx="10495456" cy="1412986"/>
            <a:chOff x="0" y="0"/>
            <a:chExt cx="2764235" cy="372144"/>
          </a:xfrm>
        </p:grpSpPr>
        <p:sp>
          <p:nvSpPr>
            <p:cNvPr name="Freeform 13" id="13"/>
            <p:cNvSpPr/>
            <p:nvPr/>
          </p:nvSpPr>
          <p:spPr>
            <a:xfrm flipH="false" flipV="false" rot="0">
              <a:off x="0" y="0"/>
              <a:ext cx="2764235" cy="372144"/>
            </a:xfrm>
            <a:custGeom>
              <a:avLst/>
              <a:gdLst/>
              <a:ahLst/>
              <a:cxnLst/>
              <a:rect r="r" b="b" t="t" l="l"/>
              <a:pathLst>
                <a:path h="372144" w="2764235">
                  <a:moveTo>
                    <a:pt x="203200" y="0"/>
                  </a:moveTo>
                  <a:lnTo>
                    <a:pt x="2764235" y="0"/>
                  </a:lnTo>
                  <a:lnTo>
                    <a:pt x="2561035" y="372144"/>
                  </a:lnTo>
                  <a:lnTo>
                    <a:pt x="0" y="372144"/>
                  </a:lnTo>
                  <a:lnTo>
                    <a:pt x="203200" y="0"/>
                  </a:lnTo>
                  <a:close/>
                </a:path>
              </a:pathLst>
            </a:custGeom>
            <a:solidFill>
              <a:srgbClr val="6AABD2"/>
            </a:solidFill>
          </p:spPr>
        </p:sp>
        <p:sp>
          <p:nvSpPr>
            <p:cNvPr name="TextBox 14" id="14"/>
            <p:cNvSpPr txBox="true"/>
            <p:nvPr/>
          </p:nvSpPr>
          <p:spPr>
            <a:xfrm>
              <a:off x="101600" y="-38100"/>
              <a:ext cx="2561035" cy="410244"/>
            </a:xfrm>
            <a:prstGeom prst="rect">
              <a:avLst/>
            </a:prstGeom>
          </p:spPr>
          <p:txBody>
            <a:bodyPr anchor="ctr" rtlCol="false" tIns="50800" lIns="50800" bIns="50800" rIns="50800"/>
            <a:lstStyle/>
            <a:p>
              <a:pPr algn="ctr">
                <a:lnSpc>
                  <a:spcPts val="2659"/>
                </a:lnSpc>
              </a:pPr>
            </a:p>
          </p:txBody>
        </p:sp>
      </p:grpSp>
      <p:sp>
        <p:nvSpPr>
          <p:cNvPr name="Freeform 15" id="15"/>
          <p:cNvSpPr/>
          <p:nvPr/>
        </p:nvSpPr>
        <p:spPr>
          <a:xfrm flipH="false" flipV="false" rot="0">
            <a:off x="1385456" y="2361145"/>
            <a:ext cx="6063203" cy="2762386"/>
          </a:xfrm>
          <a:custGeom>
            <a:avLst/>
            <a:gdLst/>
            <a:ahLst/>
            <a:cxnLst/>
            <a:rect r="r" b="b" t="t" l="l"/>
            <a:pathLst>
              <a:path h="2762386" w="6063203">
                <a:moveTo>
                  <a:pt x="0" y="0"/>
                </a:moveTo>
                <a:lnTo>
                  <a:pt x="6063203" y="0"/>
                </a:lnTo>
                <a:lnTo>
                  <a:pt x="6063203" y="2762386"/>
                </a:lnTo>
                <a:lnTo>
                  <a:pt x="0" y="2762386"/>
                </a:lnTo>
                <a:lnTo>
                  <a:pt x="0" y="0"/>
                </a:lnTo>
                <a:close/>
              </a:path>
            </a:pathLst>
          </a:custGeom>
          <a:blipFill>
            <a:blip r:embed="rId4"/>
            <a:stretch>
              <a:fillRect l="0" t="0" r="0" b="0"/>
            </a:stretch>
          </a:blipFill>
        </p:spPr>
      </p:sp>
      <p:sp>
        <p:nvSpPr>
          <p:cNvPr name="Freeform 16" id="16"/>
          <p:cNvSpPr/>
          <p:nvPr/>
        </p:nvSpPr>
        <p:spPr>
          <a:xfrm flipH="false" flipV="false" rot="0">
            <a:off x="1385456" y="5757001"/>
            <a:ext cx="6780617" cy="4052321"/>
          </a:xfrm>
          <a:custGeom>
            <a:avLst/>
            <a:gdLst/>
            <a:ahLst/>
            <a:cxnLst/>
            <a:rect r="r" b="b" t="t" l="l"/>
            <a:pathLst>
              <a:path h="4052321" w="6780617">
                <a:moveTo>
                  <a:pt x="0" y="0"/>
                </a:moveTo>
                <a:lnTo>
                  <a:pt x="6780617" y="0"/>
                </a:lnTo>
                <a:lnTo>
                  <a:pt x="6780617" y="4052321"/>
                </a:lnTo>
                <a:lnTo>
                  <a:pt x="0" y="4052321"/>
                </a:lnTo>
                <a:lnTo>
                  <a:pt x="0" y="0"/>
                </a:lnTo>
                <a:close/>
              </a:path>
            </a:pathLst>
          </a:custGeom>
          <a:blipFill>
            <a:blip r:embed="rId5"/>
            <a:stretch>
              <a:fillRect l="0" t="0" r="0" b="0"/>
            </a:stretch>
          </a:blipFill>
        </p:spPr>
      </p:sp>
      <p:sp>
        <p:nvSpPr>
          <p:cNvPr name="TextBox 17" id="17"/>
          <p:cNvSpPr txBox="true"/>
          <p:nvPr/>
        </p:nvSpPr>
        <p:spPr>
          <a:xfrm rot="0">
            <a:off x="8869291" y="2313520"/>
            <a:ext cx="8390009" cy="8192385"/>
          </a:xfrm>
          <a:prstGeom prst="rect">
            <a:avLst/>
          </a:prstGeom>
        </p:spPr>
        <p:txBody>
          <a:bodyPr anchor="t" rtlCol="false" tIns="0" lIns="0" bIns="0" rIns="0">
            <a:spAutoFit/>
          </a:bodyPr>
          <a:lstStyle/>
          <a:p>
            <a:pPr algn="just">
              <a:lnSpc>
                <a:spcPts val="3101"/>
              </a:lnSpc>
            </a:pPr>
            <a:r>
              <a:rPr lang="en-US" b="true" sz="2215">
                <a:solidFill>
                  <a:srgbClr val="253247"/>
                </a:solidFill>
                <a:latin typeface="Glacial Indifference Bold"/>
                <a:ea typeface="Glacial Indifference Bold"/>
                <a:cs typeface="Glacial Indifference Bold"/>
                <a:sym typeface="Glacial Indifference Bold"/>
              </a:rPr>
              <a:t>R</a:t>
            </a:r>
            <a:r>
              <a:rPr lang="en-US" b="true" sz="2215">
                <a:solidFill>
                  <a:srgbClr val="253247"/>
                </a:solidFill>
                <a:latin typeface="Glacial Indifference Bold"/>
                <a:ea typeface="Glacial Indifference Bold"/>
                <a:cs typeface="Glacial Indifference Bold"/>
                <a:sym typeface="Glacial Indifference Bold"/>
              </a:rPr>
              <a:t>emoving Duplicates a</a:t>
            </a:r>
            <a:r>
              <a:rPr lang="en-US" b="true" sz="2215">
                <a:solidFill>
                  <a:srgbClr val="253247"/>
                </a:solidFill>
                <a:latin typeface="Glacial Indifference Bold"/>
                <a:ea typeface="Glacial Indifference Bold"/>
                <a:cs typeface="Glacial Indifference Bold"/>
                <a:sym typeface="Glacial Indifference Bold"/>
              </a:rPr>
              <a:t>nd Data Type Validation</a:t>
            </a:r>
          </a:p>
          <a:p>
            <a:pPr algn="just">
              <a:lnSpc>
                <a:spcPts val="3101"/>
              </a:lnSpc>
            </a:pPr>
          </a:p>
          <a:p>
            <a:pPr algn="just" marL="478254" indent="-239127" lvl="1">
              <a:lnSpc>
                <a:spcPts val="3101"/>
              </a:lnSpc>
              <a:buFont typeface="Arial"/>
              <a:buChar char="•"/>
            </a:pPr>
            <a:r>
              <a:rPr lang="en-US" sz="2215">
                <a:solidFill>
                  <a:srgbClr val="253247"/>
                </a:solidFill>
                <a:latin typeface="Glacial Indifference"/>
                <a:ea typeface="Glacial Indifference"/>
                <a:cs typeface="Glacial Indifference"/>
                <a:sym typeface="Glacial Indifference"/>
              </a:rPr>
              <a:t>Used dplyr::distinct() to identify and remove duplicates.</a:t>
            </a:r>
          </a:p>
          <a:p>
            <a:pPr algn="just" marL="478254" indent="-239127" lvl="1">
              <a:lnSpc>
                <a:spcPts val="3101"/>
              </a:lnSpc>
              <a:buFont typeface="Arial"/>
              <a:buChar char="•"/>
            </a:pPr>
            <a:r>
              <a:rPr lang="en-US" sz="2215">
                <a:solidFill>
                  <a:srgbClr val="253247"/>
                </a:solidFill>
                <a:latin typeface="Glacial Indifference"/>
                <a:ea typeface="Glacial Indifference"/>
                <a:cs typeface="Glacial Indifference"/>
                <a:sym typeface="Glacial Indifference"/>
              </a:rPr>
              <a:t>Cross-referenced duplicates using key columns like formatted_address and sale_date.</a:t>
            </a:r>
          </a:p>
          <a:p>
            <a:pPr algn="just" marL="478254" indent="-239127" lvl="1">
              <a:lnSpc>
                <a:spcPts val="3101"/>
              </a:lnSpc>
              <a:buFont typeface="Arial"/>
              <a:buChar char="•"/>
            </a:pPr>
            <a:r>
              <a:rPr lang="en-US" sz="2215">
                <a:solidFill>
                  <a:srgbClr val="253247"/>
                </a:solidFill>
                <a:latin typeface="Glacial Indifference"/>
                <a:ea typeface="Glacial Indifference"/>
                <a:cs typeface="Glacial Indifference"/>
                <a:sym typeface="Glacial Indifference"/>
              </a:rPr>
              <a:t>Validated data types using sapply(), ensuring sale_date was properly recognized as a date and price as numeric.</a:t>
            </a:r>
          </a:p>
          <a:p>
            <a:pPr algn="just" marL="478254" indent="-239127" lvl="1">
              <a:lnSpc>
                <a:spcPts val="3101"/>
              </a:lnSpc>
              <a:spcBef>
                <a:spcPct val="0"/>
              </a:spcBef>
              <a:buFont typeface="Arial"/>
              <a:buChar char="•"/>
            </a:pPr>
            <a:r>
              <a:rPr lang="en-US" sz="2215">
                <a:solidFill>
                  <a:srgbClr val="253247"/>
                </a:solidFill>
                <a:latin typeface="Glacial Indifference"/>
                <a:ea typeface="Glacial Indifference"/>
                <a:cs typeface="Glacial Indifference"/>
                <a:sym typeface="Glacial Indifference"/>
              </a:rPr>
              <a:t>Cor</a:t>
            </a:r>
            <a:r>
              <a:rPr lang="en-US" sz="2215">
                <a:solidFill>
                  <a:srgbClr val="253247"/>
                </a:solidFill>
                <a:latin typeface="Glacial Indifference"/>
                <a:ea typeface="Glacial Indifference"/>
                <a:cs typeface="Glacial Indifference"/>
                <a:sym typeface="Glacial Indifference"/>
              </a:rPr>
              <a:t>rected data types using mutate() and as.Date() wher</a:t>
            </a:r>
            <a:r>
              <a:rPr lang="en-US" sz="2215">
                <a:solidFill>
                  <a:srgbClr val="253247"/>
                </a:solidFill>
                <a:latin typeface="Glacial Indifference"/>
                <a:ea typeface="Glacial Indifference"/>
                <a:cs typeface="Glacial Indifference"/>
                <a:sym typeface="Glacial Indifference"/>
              </a:rPr>
              <a:t>e necessary.</a:t>
            </a:r>
          </a:p>
          <a:p>
            <a:pPr algn="just">
              <a:lnSpc>
                <a:spcPts val="3101"/>
              </a:lnSpc>
              <a:spcBef>
                <a:spcPct val="0"/>
              </a:spcBef>
            </a:pPr>
          </a:p>
          <a:p>
            <a:pPr algn="just">
              <a:lnSpc>
                <a:spcPts val="3101"/>
              </a:lnSpc>
              <a:spcBef>
                <a:spcPct val="0"/>
              </a:spcBef>
            </a:pPr>
            <a:r>
              <a:rPr lang="en-US" b="true" sz="2215">
                <a:solidFill>
                  <a:srgbClr val="253247"/>
                </a:solidFill>
                <a:latin typeface="Glacial Indifference Bold"/>
                <a:ea typeface="Glacial Indifference Bold"/>
                <a:cs typeface="Glacial Indifference Bold"/>
                <a:sym typeface="Glacial Indifference Bold"/>
              </a:rPr>
              <a:t>Date Formatting and Cleaning</a:t>
            </a:r>
          </a:p>
          <a:p>
            <a:pPr algn="just">
              <a:lnSpc>
                <a:spcPts val="3101"/>
              </a:lnSpc>
              <a:spcBef>
                <a:spcPct val="0"/>
              </a:spcBef>
            </a:pPr>
          </a:p>
          <a:p>
            <a:pPr algn="just" marL="478254" indent="-239127" lvl="1">
              <a:lnSpc>
                <a:spcPts val="3101"/>
              </a:lnSpc>
              <a:spcBef>
                <a:spcPct val="0"/>
              </a:spcBef>
              <a:buFont typeface="Arial"/>
              <a:buChar char="•"/>
            </a:pPr>
            <a:r>
              <a:rPr lang="en-US" sz="2215">
                <a:solidFill>
                  <a:srgbClr val="253247"/>
                </a:solidFill>
                <a:latin typeface="Glacial Indifference"/>
                <a:ea typeface="Glacial Indifference"/>
                <a:cs typeface="Glacial Indifference"/>
                <a:sym typeface="Glacial Indifference"/>
              </a:rPr>
              <a:t>Standardized dates to YYYY-MM-DD using lubridate::dmy().</a:t>
            </a:r>
          </a:p>
          <a:p>
            <a:pPr algn="just" marL="478254" indent="-239127" lvl="1">
              <a:lnSpc>
                <a:spcPts val="3101"/>
              </a:lnSpc>
              <a:spcBef>
                <a:spcPct val="0"/>
              </a:spcBef>
              <a:buFont typeface="Arial"/>
              <a:buChar char="•"/>
            </a:pPr>
            <a:r>
              <a:rPr lang="en-US" sz="2215">
                <a:solidFill>
                  <a:srgbClr val="253247"/>
                </a:solidFill>
                <a:latin typeface="Glacial Indifference"/>
                <a:ea typeface="Glacial Indifference"/>
                <a:cs typeface="Glacial Indifference"/>
                <a:sym typeface="Glacial Indifference"/>
              </a:rPr>
              <a:t>Replaced empty or invalid date entries with NA using na_if().</a:t>
            </a:r>
          </a:p>
          <a:p>
            <a:pPr algn="just" marL="478254" indent="-239127" lvl="1">
              <a:lnSpc>
                <a:spcPts val="3101"/>
              </a:lnSpc>
              <a:spcBef>
                <a:spcPct val="0"/>
              </a:spcBef>
              <a:buFont typeface="Arial"/>
              <a:buChar char="•"/>
            </a:pPr>
            <a:r>
              <a:rPr lang="en-US" sz="2215">
                <a:solidFill>
                  <a:srgbClr val="253247"/>
                </a:solidFill>
                <a:latin typeface="Glacial Indifference"/>
                <a:ea typeface="Glacial Indifference"/>
                <a:cs typeface="Glacial Indifference"/>
                <a:sym typeface="Glacial Indifference"/>
              </a:rPr>
              <a:t>Extracted additional features, such as year and quarter, from sale_date for deeper analysis.</a:t>
            </a:r>
          </a:p>
          <a:p>
            <a:pPr algn="just" marL="478254" indent="-239127" lvl="1">
              <a:lnSpc>
                <a:spcPts val="3101"/>
              </a:lnSpc>
              <a:spcBef>
                <a:spcPct val="0"/>
              </a:spcBef>
              <a:buFont typeface="Arial"/>
              <a:buChar char="•"/>
            </a:pPr>
            <a:r>
              <a:rPr lang="en-US" sz="2215">
                <a:solidFill>
                  <a:srgbClr val="253247"/>
                </a:solidFill>
                <a:latin typeface="Glacial Indifference"/>
                <a:ea typeface="Glacial Indifference"/>
                <a:cs typeface="Glacial Indifference"/>
                <a:sym typeface="Glacial Indifference"/>
              </a:rPr>
              <a:t>Identified and resolved corrupted date values by inspecting unique entries.</a:t>
            </a:r>
          </a:p>
          <a:p>
            <a:pPr algn="just">
              <a:lnSpc>
                <a:spcPts val="3101"/>
              </a:lnSpc>
              <a:spcBef>
                <a:spcPct val="0"/>
              </a:spcBef>
            </a:pPr>
          </a:p>
          <a:p>
            <a:pPr algn="just">
              <a:lnSpc>
                <a:spcPts val="3101"/>
              </a:lnSpc>
              <a:spcBef>
                <a:spcPct val="0"/>
              </a:spcBef>
            </a:pPr>
          </a:p>
          <a:p>
            <a:pPr algn="just">
              <a:lnSpc>
                <a:spcPts val="3101"/>
              </a:lnSpc>
              <a:spcBef>
                <a:spcPct val="0"/>
              </a:spcBef>
            </a:pPr>
          </a:p>
        </p:txBody>
      </p:sp>
      <p:sp>
        <p:nvSpPr>
          <p:cNvPr name="Freeform 18" id="18"/>
          <p:cNvSpPr/>
          <p:nvPr/>
        </p:nvSpPr>
        <p:spPr>
          <a:xfrm flipH="false" flipV="false" rot="5400000">
            <a:off x="7637851" y="2916377"/>
            <a:ext cx="405479" cy="2057400"/>
          </a:xfrm>
          <a:custGeom>
            <a:avLst/>
            <a:gdLst/>
            <a:ahLst/>
            <a:cxnLst/>
            <a:rect r="r" b="b" t="t" l="l"/>
            <a:pathLst>
              <a:path h="2057400" w="405479">
                <a:moveTo>
                  <a:pt x="0" y="0"/>
                </a:moveTo>
                <a:lnTo>
                  <a:pt x="405479" y="0"/>
                </a:lnTo>
                <a:lnTo>
                  <a:pt x="405479" y="2057400"/>
                </a:lnTo>
                <a:lnTo>
                  <a:pt x="0" y="205740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9" id="19"/>
          <p:cNvSpPr/>
          <p:nvPr/>
        </p:nvSpPr>
        <p:spPr>
          <a:xfrm flipH="false" flipV="false" rot="5400000">
            <a:off x="7637851" y="6057335"/>
            <a:ext cx="405479" cy="2057400"/>
          </a:xfrm>
          <a:custGeom>
            <a:avLst/>
            <a:gdLst/>
            <a:ahLst/>
            <a:cxnLst/>
            <a:rect r="r" b="b" t="t" l="l"/>
            <a:pathLst>
              <a:path h="2057400" w="405479">
                <a:moveTo>
                  <a:pt x="0" y="0"/>
                </a:moveTo>
                <a:lnTo>
                  <a:pt x="405479" y="0"/>
                </a:lnTo>
                <a:lnTo>
                  <a:pt x="405479" y="2057400"/>
                </a:lnTo>
                <a:lnTo>
                  <a:pt x="0" y="205740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D9E4EC"/>
        </a:solidFill>
      </p:bgPr>
    </p:bg>
    <p:spTree>
      <p:nvGrpSpPr>
        <p:cNvPr id="1" name=""/>
        <p:cNvGrpSpPr/>
        <p:nvPr/>
      </p:nvGrpSpPr>
      <p:grpSpPr>
        <a:xfrm>
          <a:off x="0" y="0"/>
          <a:ext cx="0" cy="0"/>
          <a:chOff x="0" y="0"/>
          <a:chExt cx="0" cy="0"/>
        </a:xfrm>
      </p:grpSpPr>
      <p:sp>
        <p:nvSpPr>
          <p:cNvPr name="Freeform 2" id="2"/>
          <p:cNvSpPr/>
          <p:nvPr/>
        </p:nvSpPr>
        <p:spPr>
          <a:xfrm flipH="true" flipV="true" rot="0">
            <a:off x="15335897" y="-291796"/>
            <a:ext cx="2952103" cy="2944723"/>
          </a:xfrm>
          <a:custGeom>
            <a:avLst/>
            <a:gdLst/>
            <a:ahLst/>
            <a:cxnLst/>
            <a:rect r="r" b="b" t="t" l="l"/>
            <a:pathLst>
              <a:path h="2944723" w="2952103">
                <a:moveTo>
                  <a:pt x="2952103" y="2944722"/>
                </a:moveTo>
                <a:lnTo>
                  <a:pt x="0" y="2944722"/>
                </a:lnTo>
                <a:lnTo>
                  <a:pt x="0" y="0"/>
                </a:lnTo>
                <a:lnTo>
                  <a:pt x="2952103" y="0"/>
                </a:lnTo>
                <a:lnTo>
                  <a:pt x="2952103" y="2944722"/>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8828038">
            <a:off x="4271547" y="-2750518"/>
            <a:ext cx="13665829" cy="1525700"/>
            <a:chOff x="0" y="0"/>
            <a:chExt cx="3599231" cy="401831"/>
          </a:xfrm>
        </p:grpSpPr>
        <p:sp>
          <p:nvSpPr>
            <p:cNvPr name="Freeform 4" id="4"/>
            <p:cNvSpPr/>
            <p:nvPr/>
          </p:nvSpPr>
          <p:spPr>
            <a:xfrm flipH="false" flipV="false" rot="0">
              <a:off x="0" y="0"/>
              <a:ext cx="3599231" cy="401831"/>
            </a:xfrm>
            <a:custGeom>
              <a:avLst/>
              <a:gdLst/>
              <a:ahLst/>
              <a:cxnLst/>
              <a:rect r="r" b="b" t="t" l="l"/>
              <a:pathLst>
                <a:path h="401831" w="3599231">
                  <a:moveTo>
                    <a:pt x="203200" y="0"/>
                  </a:moveTo>
                  <a:lnTo>
                    <a:pt x="3599231" y="0"/>
                  </a:lnTo>
                  <a:lnTo>
                    <a:pt x="3396031" y="401831"/>
                  </a:lnTo>
                  <a:lnTo>
                    <a:pt x="0" y="401831"/>
                  </a:lnTo>
                  <a:lnTo>
                    <a:pt x="203200" y="0"/>
                  </a:lnTo>
                  <a:close/>
                </a:path>
              </a:pathLst>
            </a:custGeom>
            <a:solidFill>
              <a:srgbClr val="578EAF"/>
            </a:solidFill>
          </p:spPr>
        </p:sp>
        <p:sp>
          <p:nvSpPr>
            <p:cNvPr name="TextBox 5" id="5"/>
            <p:cNvSpPr txBox="true"/>
            <p:nvPr/>
          </p:nvSpPr>
          <p:spPr>
            <a:xfrm>
              <a:off x="101600" y="-38100"/>
              <a:ext cx="3396031" cy="439931"/>
            </a:xfrm>
            <a:prstGeom prst="rect">
              <a:avLst/>
            </a:prstGeom>
          </p:spPr>
          <p:txBody>
            <a:bodyPr anchor="ctr" rtlCol="false" tIns="50800" lIns="50800" bIns="50800" rIns="50800"/>
            <a:lstStyle/>
            <a:p>
              <a:pPr algn="ctr">
                <a:lnSpc>
                  <a:spcPts val="2659"/>
                </a:lnSpc>
              </a:pPr>
            </a:p>
          </p:txBody>
        </p:sp>
      </p:grpSp>
      <p:grpSp>
        <p:nvGrpSpPr>
          <p:cNvPr name="Group 6" id="6"/>
          <p:cNvGrpSpPr/>
          <p:nvPr/>
        </p:nvGrpSpPr>
        <p:grpSpPr>
          <a:xfrm rot="-9061468">
            <a:off x="-3088929" y="-1143254"/>
            <a:ext cx="10495456" cy="1412986"/>
            <a:chOff x="0" y="0"/>
            <a:chExt cx="2764235" cy="372144"/>
          </a:xfrm>
        </p:grpSpPr>
        <p:sp>
          <p:nvSpPr>
            <p:cNvPr name="Freeform 7" id="7"/>
            <p:cNvSpPr/>
            <p:nvPr/>
          </p:nvSpPr>
          <p:spPr>
            <a:xfrm flipH="false" flipV="false" rot="0">
              <a:off x="0" y="0"/>
              <a:ext cx="2764235" cy="372144"/>
            </a:xfrm>
            <a:custGeom>
              <a:avLst/>
              <a:gdLst/>
              <a:ahLst/>
              <a:cxnLst/>
              <a:rect r="r" b="b" t="t" l="l"/>
              <a:pathLst>
                <a:path h="372144" w="2764235">
                  <a:moveTo>
                    <a:pt x="203200" y="0"/>
                  </a:moveTo>
                  <a:lnTo>
                    <a:pt x="2764235" y="0"/>
                  </a:lnTo>
                  <a:lnTo>
                    <a:pt x="2561035" y="372144"/>
                  </a:lnTo>
                  <a:lnTo>
                    <a:pt x="0" y="372144"/>
                  </a:lnTo>
                  <a:lnTo>
                    <a:pt x="203200" y="0"/>
                  </a:lnTo>
                  <a:close/>
                </a:path>
              </a:pathLst>
            </a:custGeom>
            <a:solidFill>
              <a:srgbClr val="6AABD2"/>
            </a:solidFill>
          </p:spPr>
        </p:sp>
        <p:sp>
          <p:nvSpPr>
            <p:cNvPr name="TextBox 8" id="8"/>
            <p:cNvSpPr txBox="true"/>
            <p:nvPr/>
          </p:nvSpPr>
          <p:spPr>
            <a:xfrm>
              <a:off x="101600" y="-38100"/>
              <a:ext cx="2561035" cy="410244"/>
            </a:xfrm>
            <a:prstGeom prst="rect">
              <a:avLst/>
            </a:prstGeom>
          </p:spPr>
          <p:txBody>
            <a:bodyPr anchor="ctr" rtlCol="false" tIns="50800" lIns="50800" bIns="50800" rIns="50800"/>
            <a:lstStyle/>
            <a:p>
              <a:pPr algn="ctr">
                <a:lnSpc>
                  <a:spcPts val="2659"/>
                </a:lnSpc>
              </a:pPr>
            </a:p>
          </p:txBody>
        </p:sp>
      </p:grpSp>
      <p:grpSp>
        <p:nvGrpSpPr>
          <p:cNvPr name="Group 9" id="9"/>
          <p:cNvGrpSpPr/>
          <p:nvPr/>
        </p:nvGrpSpPr>
        <p:grpSpPr>
          <a:xfrm rot="-2042265">
            <a:off x="-9170706" y="10779985"/>
            <a:ext cx="13665829" cy="1525700"/>
            <a:chOff x="0" y="0"/>
            <a:chExt cx="3599231" cy="401831"/>
          </a:xfrm>
        </p:grpSpPr>
        <p:sp>
          <p:nvSpPr>
            <p:cNvPr name="Freeform 10" id="10"/>
            <p:cNvSpPr/>
            <p:nvPr/>
          </p:nvSpPr>
          <p:spPr>
            <a:xfrm flipH="false" flipV="false" rot="0">
              <a:off x="0" y="0"/>
              <a:ext cx="3599231" cy="401831"/>
            </a:xfrm>
            <a:custGeom>
              <a:avLst/>
              <a:gdLst/>
              <a:ahLst/>
              <a:cxnLst/>
              <a:rect r="r" b="b" t="t" l="l"/>
              <a:pathLst>
                <a:path h="401831" w="3599231">
                  <a:moveTo>
                    <a:pt x="203200" y="0"/>
                  </a:moveTo>
                  <a:lnTo>
                    <a:pt x="3599231" y="0"/>
                  </a:lnTo>
                  <a:lnTo>
                    <a:pt x="3396031" y="401831"/>
                  </a:lnTo>
                  <a:lnTo>
                    <a:pt x="0" y="401831"/>
                  </a:lnTo>
                  <a:lnTo>
                    <a:pt x="203200" y="0"/>
                  </a:lnTo>
                  <a:close/>
                </a:path>
              </a:pathLst>
            </a:custGeom>
            <a:solidFill>
              <a:srgbClr val="578EAF"/>
            </a:solidFill>
          </p:spPr>
        </p:sp>
        <p:sp>
          <p:nvSpPr>
            <p:cNvPr name="TextBox 11" id="11"/>
            <p:cNvSpPr txBox="true"/>
            <p:nvPr/>
          </p:nvSpPr>
          <p:spPr>
            <a:xfrm>
              <a:off x="101600" y="-38100"/>
              <a:ext cx="3396031" cy="439931"/>
            </a:xfrm>
            <a:prstGeom prst="rect">
              <a:avLst/>
            </a:prstGeom>
          </p:spPr>
          <p:txBody>
            <a:bodyPr anchor="ctr" rtlCol="false" tIns="50800" lIns="50800" bIns="50800" rIns="50800"/>
            <a:lstStyle/>
            <a:p>
              <a:pPr algn="ctr">
                <a:lnSpc>
                  <a:spcPts val="2659"/>
                </a:lnSpc>
              </a:pPr>
            </a:p>
          </p:txBody>
        </p:sp>
      </p:grpSp>
      <p:grpSp>
        <p:nvGrpSpPr>
          <p:cNvPr name="Group 12" id="12"/>
          <p:cNvGrpSpPr/>
          <p:nvPr/>
        </p:nvGrpSpPr>
        <p:grpSpPr>
          <a:xfrm rot="1668227">
            <a:off x="1326557" y="9102829"/>
            <a:ext cx="10495456" cy="1412986"/>
            <a:chOff x="0" y="0"/>
            <a:chExt cx="2764235" cy="372144"/>
          </a:xfrm>
        </p:grpSpPr>
        <p:sp>
          <p:nvSpPr>
            <p:cNvPr name="Freeform 13" id="13"/>
            <p:cNvSpPr/>
            <p:nvPr/>
          </p:nvSpPr>
          <p:spPr>
            <a:xfrm flipH="false" flipV="false" rot="0">
              <a:off x="0" y="0"/>
              <a:ext cx="2764235" cy="372144"/>
            </a:xfrm>
            <a:custGeom>
              <a:avLst/>
              <a:gdLst/>
              <a:ahLst/>
              <a:cxnLst/>
              <a:rect r="r" b="b" t="t" l="l"/>
              <a:pathLst>
                <a:path h="372144" w="2764235">
                  <a:moveTo>
                    <a:pt x="203200" y="0"/>
                  </a:moveTo>
                  <a:lnTo>
                    <a:pt x="2764235" y="0"/>
                  </a:lnTo>
                  <a:lnTo>
                    <a:pt x="2561035" y="372144"/>
                  </a:lnTo>
                  <a:lnTo>
                    <a:pt x="0" y="372144"/>
                  </a:lnTo>
                  <a:lnTo>
                    <a:pt x="203200" y="0"/>
                  </a:lnTo>
                  <a:close/>
                </a:path>
              </a:pathLst>
            </a:custGeom>
            <a:solidFill>
              <a:srgbClr val="6AABD2"/>
            </a:solidFill>
          </p:spPr>
        </p:sp>
        <p:sp>
          <p:nvSpPr>
            <p:cNvPr name="TextBox 14" id="14"/>
            <p:cNvSpPr txBox="true"/>
            <p:nvPr/>
          </p:nvSpPr>
          <p:spPr>
            <a:xfrm>
              <a:off x="101600" y="-38100"/>
              <a:ext cx="2561035" cy="410244"/>
            </a:xfrm>
            <a:prstGeom prst="rect">
              <a:avLst/>
            </a:prstGeom>
          </p:spPr>
          <p:txBody>
            <a:bodyPr anchor="ctr" rtlCol="false" tIns="50800" lIns="50800" bIns="50800" rIns="50800"/>
            <a:lstStyle/>
            <a:p>
              <a:pPr algn="ctr">
                <a:lnSpc>
                  <a:spcPts val="2659"/>
                </a:lnSpc>
              </a:pPr>
            </a:p>
          </p:txBody>
        </p:sp>
      </p:grpSp>
      <p:sp>
        <p:nvSpPr>
          <p:cNvPr name="Freeform 15" id="15"/>
          <p:cNvSpPr/>
          <p:nvPr/>
        </p:nvSpPr>
        <p:spPr>
          <a:xfrm flipH="false" flipV="false" rot="0">
            <a:off x="320861" y="2510807"/>
            <a:ext cx="8320873" cy="5836545"/>
          </a:xfrm>
          <a:custGeom>
            <a:avLst/>
            <a:gdLst/>
            <a:ahLst/>
            <a:cxnLst/>
            <a:rect r="r" b="b" t="t" l="l"/>
            <a:pathLst>
              <a:path h="5836545" w="8320873">
                <a:moveTo>
                  <a:pt x="0" y="0"/>
                </a:moveTo>
                <a:lnTo>
                  <a:pt x="8320873" y="0"/>
                </a:lnTo>
                <a:lnTo>
                  <a:pt x="8320873" y="5836545"/>
                </a:lnTo>
                <a:lnTo>
                  <a:pt x="0" y="5836545"/>
                </a:lnTo>
                <a:lnTo>
                  <a:pt x="0" y="0"/>
                </a:lnTo>
                <a:close/>
              </a:path>
            </a:pathLst>
          </a:custGeom>
          <a:blipFill>
            <a:blip r:embed="rId4"/>
            <a:stretch>
              <a:fillRect l="0" t="0" r="0" b="0"/>
            </a:stretch>
          </a:blipFill>
        </p:spPr>
      </p:sp>
      <p:sp>
        <p:nvSpPr>
          <p:cNvPr name="TextBox 16" id="16"/>
          <p:cNvSpPr txBox="true"/>
          <p:nvPr/>
        </p:nvSpPr>
        <p:spPr>
          <a:xfrm rot="0">
            <a:off x="8869291" y="3621057"/>
            <a:ext cx="8390009" cy="3506085"/>
          </a:xfrm>
          <a:prstGeom prst="rect">
            <a:avLst/>
          </a:prstGeom>
        </p:spPr>
        <p:txBody>
          <a:bodyPr anchor="t" rtlCol="false" tIns="0" lIns="0" bIns="0" rIns="0">
            <a:spAutoFit/>
          </a:bodyPr>
          <a:lstStyle/>
          <a:p>
            <a:pPr algn="just">
              <a:lnSpc>
                <a:spcPts val="3101"/>
              </a:lnSpc>
            </a:pPr>
            <a:r>
              <a:rPr lang="en-US" b="true" sz="2215">
                <a:solidFill>
                  <a:srgbClr val="253247"/>
                </a:solidFill>
                <a:latin typeface="Glacial Indifference Bold"/>
                <a:ea typeface="Glacial Indifference Bold"/>
                <a:cs typeface="Glacial Indifference Bold"/>
                <a:sym typeface="Glacial Indifference Bold"/>
              </a:rPr>
              <a:t>Addr</a:t>
            </a:r>
            <a:r>
              <a:rPr lang="en-US" b="true" sz="2215">
                <a:solidFill>
                  <a:srgbClr val="253247"/>
                </a:solidFill>
                <a:latin typeface="Glacial Indifference Bold"/>
                <a:ea typeface="Glacial Indifference Bold"/>
                <a:cs typeface="Glacial Indifference Bold"/>
                <a:sym typeface="Glacial Indifference Bold"/>
              </a:rPr>
              <a:t>ess Clea</a:t>
            </a:r>
            <a:r>
              <a:rPr lang="en-US" b="true" sz="2215">
                <a:solidFill>
                  <a:srgbClr val="253247"/>
                </a:solidFill>
                <a:latin typeface="Glacial Indifference Bold"/>
                <a:ea typeface="Glacial Indifference Bold"/>
                <a:cs typeface="Glacial Indifference Bold"/>
                <a:sym typeface="Glacial Indifference Bold"/>
              </a:rPr>
              <a:t>ning and Formatting</a:t>
            </a:r>
          </a:p>
          <a:p>
            <a:pPr algn="just">
              <a:lnSpc>
                <a:spcPts val="3101"/>
              </a:lnSpc>
            </a:pPr>
          </a:p>
          <a:p>
            <a:pPr algn="just" marL="478254" indent="-239127" lvl="1">
              <a:lnSpc>
                <a:spcPts val="3101"/>
              </a:lnSpc>
              <a:buFont typeface="Arial"/>
              <a:buChar char="•"/>
            </a:pPr>
            <a:r>
              <a:rPr lang="en-US" sz="2215">
                <a:solidFill>
                  <a:srgbClr val="253247"/>
                </a:solidFill>
                <a:latin typeface="Glacial Indifference"/>
                <a:ea typeface="Glacial Indifference"/>
                <a:cs typeface="Glacial Indifference"/>
                <a:sym typeface="Glacial Indifference"/>
              </a:rPr>
              <a:t>Removed extra spaces and special characters using stringr::str_trim() and stringr::st</a:t>
            </a:r>
            <a:r>
              <a:rPr lang="en-US" sz="2215">
                <a:solidFill>
                  <a:srgbClr val="253247"/>
                </a:solidFill>
                <a:latin typeface="Glacial Indifference"/>
                <a:ea typeface="Glacial Indifference"/>
                <a:cs typeface="Glacial Indifference"/>
                <a:sym typeface="Glacial Indifference"/>
              </a:rPr>
              <a:t>r_</a:t>
            </a:r>
            <a:r>
              <a:rPr lang="en-US" sz="2215">
                <a:solidFill>
                  <a:srgbClr val="253247"/>
                </a:solidFill>
                <a:latin typeface="Glacial Indifference"/>
                <a:ea typeface="Glacial Indifference"/>
                <a:cs typeface="Glacial Indifference"/>
                <a:sym typeface="Glacial Indifference"/>
              </a:rPr>
              <a:t>replace_all().</a:t>
            </a:r>
          </a:p>
          <a:p>
            <a:pPr algn="just" marL="478254" indent="-239127" lvl="1">
              <a:lnSpc>
                <a:spcPts val="3101"/>
              </a:lnSpc>
              <a:spcBef>
                <a:spcPct val="0"/>
              </a:spcBef>
              <a:buFont typeface="Arial"/>
              <a:buChar char="•"/>
            </a:pPr>
            <a:r>
              <a:rPr lang="en-US" sz="2215">
                <a:solidFill>
                  <a:srgbClr val="253247"/>
                </a:solidFill>
                <a:latin typeface="Glacial Indifference"/>
                <a:ea typeface="Glacial Indifference"/>
                <a:cs typeface="Glacial Indifference"/>
                <a:sym typeface="Glacial Indifference"/>
              </a:rPr>
              <a:t>Standardiz</a:t>
            </a:r>
            <a:r>
              <a:rPr lang="en-US" sz="2215">
                <a:solidFill>
                  <a:srgbClr val="253247"/>
                </a:solidFill>
                <a:latin typeface="Glacial Indifference"/>
                <a:ea typeface="Glacial Indifference"/>
                <a:cs typeface="Glacial Indifference"/>
                <a:sym typeface="Glacial Indifference"/>
              </a:rPr>
              <a:t>ed formatted_address to title case for uniformity.</a:t>
            </a:r>
          </a:p>
          <a:p>
            <a:pPr algn="just" marL="478254" indent="-239127" lvl="1">
              <a:lnSpc>
                <a:spcPts val="3101"/>
              </a:lnSpc>
              <a:spcBef>
                <a:spcPct val="0"/>
              </a:spcBef>
              <a:buFont typeface="Arial"/>
              <a:buChar char="•"/>
            </a:pPr>
            <a:r>
              <a:rPr lang="en-US" sz="2215">
                <a:solidFill>
                  <a:srgbClr val="253247"/>
                </a:solidFill>
                <a:latin typeface="Glacial Indifference"/>
                <a:ea typeface="Glacial Indifference"/>
                <a:cs typeface="Glacial Indifference"/>
                <a:sym typeface="Glacial Indifference"/>
              </a:rPr>
              <a:t>Cleaned and extracted location details like Dublin postcodes using stringr::str_extract().</a:t>
            </a:r>
          </a:p>
          <a:p>
            <a:pPr algn="just" marL="478254" indent="-239127" lvl="1">
              <a:lnSpc>
                <a:spcPts val="3101"/>
              </a:lnSpc>
              <a:spcBef>
                <a:spcPct val="0"/>
              </a:spcBef>
              <a:buFont typeface="Arial"/>
              <a:buChar char="•"/>
            </a:pPr>
            <a:r>
              <a:rPr lang="en-US" sz="2215">
                <a:solidFill>
                  <a:srgbClr val="253247"/>
                </a:solidFill>
                <a:latin typeface="Glacial Indifference"/>
                <a:ea typeface="Glacial Indifference"/>
                <a:cs typeface="Glacial Indifference"/>
                <a:sym typeface="Glacial Indifference"/>
              </a:rPr>
              <a:t>Addressed encoding issues in PropertyDataset2 with ISO-8859-1.</a:t>
            </a:r>
          </a:p>
          <a:p>
            <a:pPr algn="just">
              <a:lnSpc>
                <a:spcPts val="3101"/>
              </a:lnSpc>
              <a:spcBef>
                <a:spcPct val="0"/>
              </a:spcBef>
            </a:pPr>
          </a:p>
        </p:txBody>
      </p:sp>
      <p:sp>
        <p:nvSpPr>
          <p:cNvPr name="Freeform 17" id="17"/>
          <p:cNvSpPr/>
          <p:nvPr/>
        </p:nvSpPr>
        <p:spPr>
          <a:xfrm flipH="false" flipV="false" rot="5400000">
            <a:off x="7637851" y="3331665"/>
            <a:ext cx="405479" cy="2057400"/>
          </a:xfrm>
          <a:custGeom>
            <a:avLst/>
            <a:gdLst/>
            <a:ahLst/>
            <a:cxnLst/>
            <a:rect r="r" b="b" t="t" l="l"/>
            <a:pathLst>
              <a:path h="2057400" w="405479">
                <a:moveTo>
                  <a:pt x="0" y="0"/>
                </a:moveTo>
                <a:lnTo>
                  <a:pt x="405479" y="0"/>
                </a:lnTo>
                <a:lnTo>
                  <a:pt x="405479" y="2057400"/>
                </a:lnTo>
                <a:lnTo>
                  <a:pt x="0" y="2057400"/>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D9E4EC"/>
        </a:solidFill>
      </p:bgPr>
    </p:bg>
    <p:spTree>
      <p:nvGrpSpPr>
        <p:cNvPr id="1" name=""/>
        <p:cNvGrpSpPr/>
        <p:nvPr/>
      </p:nvGrpSpPr>
      <p:grpSpPr>
        <a:xfrm>
          <a:off x="0" y="0"/>
          <a:ext cx="0" cy="0"/>
          <a:chOff x="0" y="0"/>
          <a:chExt cx="0" cy="0"/>
        </a:xfrm>
      </p:grpSpPr>
      <p:sp>
        <p:nvSpPr>
          <p:cNvPr name="Freeform 2" id="2"/>
          <p:cNvSpPr/>
          <p:nvPr/>
        </p:nvSpPr>
        <p:spPr>
          <a:xfrm flipH="true" flipV="true" rot="0">
            <a:off x="15335897" y="-291796"/>
            <a:ext cx="2952103" cy="2944723"/>
          </a:xfrm>
          <a:custGeom>
            <a:avLst/>
            <a:gdLst/>
            <a:ahLst/>
            <a:cxnLst/>
            <a:rect r="r" b="b" t="t" l="l"/>
            <a:pathLst>
              <a:path h="2944723" w="2952103">
                <a:moveTo>
                  <a:pt x="2952103" y="2944722"/>
                </a:moveTo>
                <a:lnTo>
                  <a:pt x="0" y="2944722"/>
                </a:lnTo>
                <a:lnTo>
                  <a:pt x="0" y="0"/>
                </a:lnTo>
                <a:lnTo>
                  <a:pt x="2952103" y="0"/>
                </a:lnTo>
                <a:lnTo>
                  <a:pt x="2952103" y="2944722"/>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8828038">
            <a:off x="4271547" y="-2750518"/>
            <a:ext cx="13665829" cy="1525700"/>
            <a:chOff x="0" y="0"/>
            <a:chExt cx="3599231" cy="401831"/>
          </a:xfrm>
        </p:grpSpPr>
        <p:sp>
          <p:nvSpPr>
            <p:cNvPr name="Freeform 4" id="4"/>
            <p:cNvSpPr/>
            <p:nvPr/>
          </p:nvSpPr>
          <p:spPr>
            <a:xfrm flipH="false" flipV="false" rot="0">
              <a:off x="0" y="0"/>
              <a:ext cx="3599231" cy="401831"/>
            </a:xfrm>
            <a:custGeom>
              <a:avLst/>
              <a:gdLst/>
              <a:ahLst/>
              <a:cxnLst/>
              <a:rect r="r" b="b" t="t" l="l"/>
              <a:pathLst>
                <a:path h="401831" w="3599231">
                  <a:moveTo>
                    <a:pt x="203200" y="0"/>
                  </a:moveTo>
                  <a:lnTo>
                    <a:pt x="3599231" y="0"/>
                  </a:lnTo>
                  <a:lnTo>
                    <a:pt x="3396031" y="401831"/>
                  </a:lnTo>
                  <a:lnTo>
                    <a:pt x="0" y="401831"/>
                  </a:lnTo>
                  <a:lnTo>
                    <a:pt x="203200" y="0"/>
                  </a:lnTo>
                  <a:close/>
                </a:path>
              </a:pathLst>
            </a:custGeom>
            <a:solidFill>
              <a:srgbClr val="578EAF"/>
            </a:solidFill>
          </p:spPr>
        </p:sp>
        <p:sp>
          <p:nvSpPr>
            <p:cNvPr name="TextBox 5" id="5"/>
            <p:cNvSpPr txBox="true"/>
            <p:nvPr/>
          </p:nvSpPr>
          <p:spPr>
            <a:xfrm>
              <a:off x="101600" y="-38100"/>
              <a:ext cx="3396031" cy="439931"/>
            </a:xfrm>
            <a:prstGeom prst="rect">
              <a:avLst/>
            </a:prstGeom>
          </p:spPr>
          <p:txBody>
            <a:bodyPr anchor="ctr" rtlCol="false" tIns="50800" lIns="50800" bIns="50800" rIns="50800"/>
            <a:lstStyle/>
            <a:p>
              <a:pPr algn="ctr">
                <a:lnSpc>
                  <a:spcPts val="2659"/>
                </a:lnSpc>
              </a:pPr>
            </a:p>
          </p:txBody>
        </p:sp>
      </p:grpSp>
      <p:grpSp>
        <p:nvGrpSpPr>
          <p:cNvPr name="Group 6" id="6"/>
          <p:cNvGrpSpPr/>
          <p:nvPr/>
        </p:nvGrpSpPr>
        <p:grpSpPr>
          <a:xfrm rot="-9061468">
            <a:off x="-3088929" y="-1143254"/>
            <a:ext cx="10495456" cy="1412986"/>
            <a:chOff x="0" y="0"/>
            <a:chExt cx="2764235" cy="372144"/>
          </a:xfrm>
        </p:grpSpPr>
        <p:sp>
          <p:nvSpPr>
            <p:cNvPr name="Freeform 7" id="7"/>
            <p:cNvSpPr/>
            <p:nvPr/>
          </p:nvSpPr>
          <p:spPr>
            <a:xfrm flipH="false" flipV="false" rot="0">
              <a:off x="0" y="0"/>
              <a:ext cx="2764235" cy="372144"/>
            </a:xfrm>
            <a:custGeom>
              <a:avLst/>
              <a:gdLst/>
              <a:ahLst/>
              <a:cxnLst/>
              <a:rect r="r" b="b" t="t" l="l"/>
              <a:pathLst>
                <a:path h="372144" w="2764235">
                  <a:moveTo>
                    <a:pt x="203200" y="0"/>
                  </a:moveTo>
                  <a:lnTo>
                    <a:pt x="2764235" y="0"/>
                  </a:lnTo>
                  <a:lnTo>
                    <a:pt x="2561035" y="372144"/>
                  </a:lnTo>
                  <a:lnTo>
                    <a:pt x="0" y="372144"/>
                  </a:lnTo>
                  <a:lnTo>
                    <a:pt x="203200" y="0"/>
                  </a:lnTo>
                  <a:close/>
                </a:path>
              </a:pathLst>
            </a:custGeom>
            <a:solidFill>
              <a:srgbClr val="6AABD2"/>
            </a:solidFill>
          </p:spPr>
        </p:sp>
        <p:sp>
          <p:nvSpPr>
            <p:cNvPr name="TextBox 8" id="8"/>
            <p:cNvSpPr txBox="true"/>
            <p:nvPr/>
          </p:nvSpPr>
          <p:spPr>
            <a:xfrm>
              <a:off x="101600" y="-38100"/>
              <a:ext cx="2561035" cy="410244"/>
            </a:xfrm>
            <a:prstGeom prst="rect">
              <a:avLst/>
            </a:prstGeom>
          </p:spPr>
          <p:txBody>
            <a:bodyPr anchor="ctr" rtlCol="false" tIns="50800" lIns="50800" bIns="50800" rIns="50800"/>
            <a:lstStyle/>
            <a:p>
              <a:pPr algn="ctr">
                <a:lnSpc>
                  <a:spcPts val="2659"/>
                </a:lnSpc>
              </a:pPr>
            </a:p>
          </p:txBody>
        </p:sp>
      </p:grpSp>
      <p:grpSp>
        <p:nvGrpSpPr>
          <p:cNvPr name="Group 9" id="9"/>
          <p:cNvGrpSpPr/>
          <p:nvPr/>
        </p:nvGrpSpPr>
        <p:grpSpPr>
          <a:xfrm rot="-2042265">
            <a:off x="-9170706" y="10779985"/>
            <a:ext cx="13665829" cy="1525700"/>
            <a:chOff x="0" y="0"/>
            <a:chExt cx="3599231" cy="401831"/>
          </a:xfrm>
        </p:grpSpPr>
        <p:sp>
          <p:nvSpPr>
            <p:cNvPr name="Freeform 10" id="10"/>
            <p:cNvSpPr/>
            <p:nvPr/>
          </p:nvSpPr>
          <p:spPr>
            <a:xfrm flipH="false" flipV="false" rot="0">
              <a:off x="0" y="0"/>
              <a:ext cx="3599231" cy="401831"/>
            </a:xfrm>
            <a:custGeom>
              <a:avLst/>
              <a:gdLst/>
              <a:ahLst/>
              <a:cxnLst/>
              <a:rect r="r" b="b" t="t" l="l"/>
              <a:pathLst>
                <a:path h="401831" w="3599231">
                  <a:moveTo>
                    <a:pt x="203200" y="0"/>
                  </a:moveTo>
                  <a:lnTo>
                    <a:pt x="3599231" y="0"/>
                  </a:lnTo>
                  <a:lnTo>
                    <a:pt x="3396031" y="401831"/>
                  </a:lnTo>
                  <a:lnTo>
                    <a:pt x="0" y="401831"/>
                  </a:lnTo>
                  <a:lnTo>
                    <a:pt x="203200" y="0"/>
                  </a:lnTo>
                  <a:close/>
                </a:path>
              </a:pathLst>
            </a:custGeom>
            <a:solidFill>
              <a:srgbClr val="578EAF"/>
            </a:solidFill>
          </p:spPr>
        </p:sp>
        <p:sp>
          <p:nvSpPr>
            <p:cNvPr name="TextBox 11" id="11"/>
            <p:cNvSpPr txBox="true"/>
            <p:nvPr/>
          </p:nvSpPr>
          <p:spPr>
            <a:xfrm>
              <a:off x="101600" y="-38100"/>
              <a:ext cx="3396031" cy="439931"/>
            </a:xfrm>
            <a:prstGeom prst="rect">
              <a:avLst/>
            </a:prstGeom>
          </p:spPr>
          <p:txBody>
            <a:bodyPr anchor="ctr" rtlCol="false" tIns="50800" lIns="50800" bIns="50800" rIns="50800"/>
            <a:lstStyle/>
            <a:p>
              <a:pPr algn="ctr">
                <a:lnSpc>
                  <a:spcPts val="2659"/>
                </a:lnSpc>
              </a:pPr>
            </a:p>
          </p:txBody>
        </p:sp>
      </p:grpSp>
      <p:grpSp>
        <p:nvGrpSpPr>
          <p:cNvPr name="Group 12" id="12"/>
          <p:cNvGrpSpPr/>
          <p:nvPr/>
        </p:nvGrpSpPr>
        <p:grpSpPr>
          <a:xfrm rot="1668227">
            <a:off x="1326557" y="9102829"/>
            <a:ext cx="10495456" cy="1412986"/>
            <a:chOff x="0" y="0"/>
            <a:chExt cx="2764235" cy="372144"/>
          </a:xfrm>
        </p:grpSpPr>
        <p:sp>
          <p:nvSpPr>
            <p:cNvPr name="Freeform 13" id="13"/>
            <p:cNvSpPr/>
            <p:nvPr/>
          </p:nvSpPr>
          <p:spPr>
            <a:xfrm flipH="false" flipV="false" rot="0">
              <a:off x="0" y="0"/>
              <a:ext cx="2764235" cy="372144"/>
            </a:xfrm>
            <a:custGeom>
              <a:avLst/>
              <a:gdLst/>
              <a:ahLst/>
              <a:cxnLst/>
              <a:rect r="r" b="b" t="t" l="l"/>
              <a:pathLst>
                <a:path h="372144" w="2764235">
                  <a:moveTo>
                    <a:pt x="203200" y="0"/>
                  </a:moveTo>
                  <a:lnTo>
                    <a:pt x="2764235" y="0"/>
                  </a:lnTo>
                  <a:lnTo>
                    <a:pt x="2561035" y="372144"/>
                  </a:lnTo>
                  <a:lnTo>
                    <a:pt x="0" y="372144"/>
                  </a:lnTo>
                  <a:lnTo>
                    <a:pt x="203200" y="0"/>
                  </a:lnTo>
                  <a:close/>
                </a:path>
              </a:pathLst>
            </a:custGeom>
            <a:solidFill>
              <a:srgbClr val="6AABD2"/>
            </a:solidFill>
          </p:spPr>
        </p:sp>
        <p:sp>
          <p:nvSpPr>
            <p:cNvPr name="TextBox 14" id="14"/>
            <p:cNvSpPr txBox="true"/>
            <p:nvPr/>
          </p:nvSpPr>
          <p:spPr>
            <a:xfrm>
              <a:off x="101600" y="-38100"/>
              <a:ext cx="2561035" cy="410244"/>
            </a:xfrm>
            <a:prstGeom prst="rect">
              <a:avLst/>
            </a:prstGeom>
          </p:spPr>
          <p:txBody>
            <a:bodyPr anchor="ctr" rtlCol="false" tIns="50800" lIns="50800" bIns="50800" rIns="50800"/>
            <a:lstStyle/>
            <a:p>
              <a:pPr algn="ctr">
                <a:lnSpc>
                  <a:spcPts val="2659"/>
                </a:lnSpc>
              </a:pPr>
            </a:p>
          </p:txBody>
        </p:sp>
      </p:grpSp>
      <p:sp>
        <p:nvSpPr>
          <p:cNvPr name="Freeform 15" id="15"/>
          <p:cNvSpPr/>
          <p:nvPr/>
        </p:nvSpPr>
        <p:spPr>
          <a:xfrm flipH="false" flipV="false" rot="0">
            <a:off x="312942" y="2652926"/>
            <a:ext cx="8572226" cy="5847636"/>
          </a:xfrm>
          <a:custGeom>
            <a:avLst/>
            <a:gdLst/>
            <a:ahLst/>
            <a:cxnLst/>
            <a:rect r="r" b="b" t="t" l="l"/>
            <a:pathLst>
              <a:path h="5847636" w="8572226">
                <a:moveTo>
                  <a:pt x="0" y="0"/>
                </a:moveTo>
                <a:lnTo>
                  <a:pt x="8572226" y="0"/>
                </a:lnTo>
                <a:lnTo>
                  <a:pt x="8572226" y="5847637"/>
                </a:lnTo>
                <a:lnTo>
                  <a:pt x="0" y="5847637"/>
                </a:lnTo>
                <a:lnTo>
                  <a:pt x="0" y="0"/>
                </a:lnTo>
                <a:close/>
              </a:path>
            </a:pathLst>
          </a:custGeom>
          <a:blipFill>
            <a:blip r:embed="rId4"/>
            <a:stretch>
              <a:fillRect l="0" t="0" r="0" b="0"/>
            </a:stretch>
          </a:blipFill>
        </p:spPr>
      </p:sp>
      <p:sp>
        <p:nvSpPr>
          <p:cNvPr name="TextBox 16" id="16"/>
          <p:cNvSpPr txBox="true"/>
          <p:nvPr/>
        </p:nvSpPr>
        <p:spPr>
          <a:xfrm rot="0">
            <a:off x="9144000" y="3183949"/>
            <a:ext cx="8472131" cy="5185520"/>
          </a:xfrm>
          <a:prstGeom prst="rect">
            <a:avLst/>
          </a:prstGeom>
        </p:spPr>
        <p:txBody>
          <a:bodyPr anchor="t" rtlCol="false" tIns="0" lIns="0" bIns="0" rIns="0">
            <a:spAutoFit/>
          </a:bodyPr>
          <a:lstStyle/>
          <a:p>
            <a:pPr algn="just">
              <a:lnSpc>
                <a:spcPts val="3143"/>
              </a:lnSpc>
            </a:pPr>
            <a:r>
              <a:rPr lang="en-US" b="true" sz="2245">
                <a:solidFill>
                  <a:srgbClr val="253247"/>
                </a:solidFill>
                <a:latin typeface="Glacial Indifference Bold"/>
                <a:ea typeface="Glacial Indifference Bold"/>
                <a:cs typeface="Glacial Indifference Bold"/>
                <a:sym typeface="Glacial Indifference Bold"/>
              </a:rPr>
              <a:t>Property D</a:t>
            </a:r>
            <a:r>
              <a:rPr lang="en-US" b="true" sz="2245">
                <a:solidFill>
                  <a:srgbClr val="253247"/>
                </a:solidFill>
                <a:latin typeface="Glacial Indifference Bold"/>
                <a:ea typeface="Glacial Indifference Bold"/>
                <a:cs typeface="Glacial Indifference Bold"/>
                <a:sym typeface="Glacial Indifference Bold"/>
              </a:rPr>
              <a:t>escription Clea</a:t>
            </a:r>
            <a:r>
              <a:rPr lang="en-US" b="true" sz="2245">
                <a:solidFill>
                  <a:srgbClr val="253247"/>
                </a:solidFill>
                <a:latin typeface="Glacial Indifference Bold"/>
                <a:ea typeface="Glacial Indifference Bold"/>
                <a:cs typeface="Glacial Indifference Bold"/>
                <a:sym typeface="Glacial Indifference Bold"/>
              </a:rPr>
              <a:t>ning</a:t>
            </a:r>
          </a:p>
          <a:p>
            <a:pPr algn="just">
              <a:lnSpc>
                <a:spcPts val="2723"/>
              </a:lnSpc>
            </a:pPr>
          </a:p>
          <a:p>
            <a:pPr algn="just" marL="420072" indent="-210036" lvl="1">
              <a:lnSpc>
                <a:spcPts val="2723"/>
              </a:lnSpc>
              <a:buFont typeface="Arial"/>
              <a:buChar char="•"/>
            </a:pPr>
            <a:r>
              <a:rPr lang="en-US" b="true" sz="1945">
                <a:solidFill>
                  <a:srgbClr val="253247"/>
                </a:solidFill>
                <a:latin typeface="Glacial Indifference Bold"/>
                <a:ea typeface="Glacial Indifference Bold"/>
                <a:cs typeface="Glacial Indifference Bold"/>
                <a:sym typeface="Glacial Indifference Bold"/>
              </a:rPr>
              <a:t>Goal: </a:t>
            </a:r>
            <a:r>
              <a:rPr lang="en-US" sz="1945">
                <a:solidFill>
                  <a:srgbClr val="253247"/>
                </a:solidFill>
                <a:latin typeface="Glacial Indifference"/>
                <a:ea typeface="Glacial Indifference"/>
                <a:cs typeface="Glacial Indifference"/>
                <a:sym typeface="Glacial Indifference"/>
              </a:rPr>
              <a:t>Standardize and simplify property descriptions for uniformity.</a:t>
            </a:r>
          </a:p>
          <a:p>
            <a:pPr algn="just" marL="420072" indent="-210036" lvl="1">
              <a:lnSpc>
                <a:spcPts val="2723"/>
              </a:lnSpc>
              <a:buFont typeface="Arial"/>
              <a:buChar char="•"/>
            </a:pPr>
            <a:r>
              <a:rPr lang="en-US" b="true" sz="1945">
                <a:solidFill>
                  <a:srgbClr val="253247"/>
                </a:solidFill>
                <a:latin typeface="Glacial Indifference Bold"/>
                <a:ea typeface="Glacial Indifference Bold"/>
                <a:cs typeface="Glacial Indifference Bold"/>
                <a:sym typeface="Glacial Indifference Bold"/>
              </a:rPr>
              <a:t>St</a:t>
            </a:r>
            <a:r>
              <a:rPr lang="en-US" b="true" sz="1945">
                <a:solidFill>
                  <a:srgbClr val="253247"/>
                </a:solidFill>
                <a:latin typeface="Glacial Indifference Bold"/>
                <a:ea typeface="Glacial Indifference Bold"/>
                <a:cs typeface="Glacial Indifference Bold"/>
                <a:sym typeface="Glacial Indifference Bold"/>
              </a:rPr>
              <a:t>eps:</a:t>
            </a:r>
          </a:p>
          <a:p>
            <a:pPr algn="just" marL="840145" indent="-280048" lvl="2">
              <a:lnSpc>
                <a:spcPts val="2723"/>
              </a:lnSpc>
              <a:buFont typeface="Arial"/>
              <a:buChar char="⚬"/>
            </a:pPr>
            <a:r>
              <a:rPr lang="en-US" sz="1945">
                <a:solidFill>
                  <a:srgbClr val="253247"/>
                </a:solidFill>
                <a:latin typeface="Glacial Indifference"/>
                <a:ea typeface="Glacial Indifference"/>
                <a:cs typeface="Glacial Indifference"/>
                <a:sym typeface="Glacial Indifference"/>
              </a:rPr>
              <a:t>Addressed inconsistencies in descriptions (e.g., variations of "second-hand dwelling house/apartment").</a:t>
            </a:r>
          </a:p>
          <a:p>
            <a:pPr algn="just" marL="840145" indent="-280048" lvl="2">
              <a:lnSpc>
                <a:spcPts val="2723"/>
              </a:lnSpc>
              <a:buFont typeface="Arial"/>
              <a:buChar char="⚬"/>
            </a:pPr>
            <a:r>
              <a:rPr lang="en-US" sz="1945">
                <a:solidFill>
                  <a:srgbClr val="253247"/>
                </a:solidFill>
                <a:latin typeface="Glacial Indifference"/>
                <a:ea typeface="Glacial Indifference"/>
                <a:cs typeface="Glacial Indifference"/>
                <a:sym typeface="Glacial Indifference"/>
              </a:rPr>
              <a:t>Replaced non-English or corrupted text with accurate English terms.</a:t>
            </a:r>
          </a:p>
          <a:p>
            <a:pPr algn="just" marL="840145" indent="-280048" lvl="2">
              <a:lnSpc>
                <a:spcPts val="2723"/>
              </a:lnSpc>
              <a:buFont typeface="Arial"/>
              <a:buChar char="⚬"/>
            </a:pPr>
            <a:r>
              <a:rPr lang="en-US" sz="1945">
                <a:solidFill>
                  <a:srgbClr val="253247"/>
                </a:solidFill>
                <a:latin typeface="Glacial Indifference"/>
                <a:ea typeface="Glacial Indifference"/>
                <a:cs typeface="Glacial Indifference"/>
                <a:sym typeface="Glacial Indifference"/>
              </a:rPr>
              <a:t>Converted descriptions to sentence case using st</a:t>
            </a:r>
            <a:r>
              <a:rPr lang="en-US" sz="1945">
                <a:solidFill>
                  <a:srgbClr val="253247"/>
                </a:solidFill>
                <a:latin typeface="Glacial Indifference"/>
                <a:ea typeface="Glacial Indifference"/>
                <a:cs typeface="Glacial Indifference"/>
                <a:sym typeface="Glacial Indifference"/>
              </a:rPr>
              <a:t>r_to</a:t>
            </a:r>
            <a:r>
              <a:rPr lang="en-US" sz="1945">
                <a:solidFill>
                  <a:srgbClr val="253247"/>
                </a:solidFill>
                <a:latin typeface="Glacial Indifference"/>
                <a:ea typeface="Glacial Indifference"/>
                <a:cs typeface="Glacial Indifference"/>
                <a:sym typeface="Glacial Indifference"/>
              </a:rPr>
              <a:t>_title().</a:t>
            </a:r>
          </a:p>
          <a:p>
            <a:pPr algn="just" marL="840145" indent="-280048" lvl="2">
              <a:lnSpc>
                <a:spcPts val="2723"/>
              </a:lnSpc>
              <a:buFont typeface="Arial"/>
              <a:buChar char="⚬"/>
            </a:pPr>
            <a:r>
              <a:rPr lang="en-US" sz="1945">
                <a:solidFill>
                  <a:srgbClr val="253247"/>
                </a:solidFill>
                <a:latin typeface="Glacial Indifference"/>
                <a:ea typeface="Glacial Indifference"/>
                <a:cs typeface="Glacial Indifference"/>
                <a:sym typeface="Glacial Indifference"/>
              </a:rPr>
              <a:t>Used formatted_description (if available) to replace original descriptions for higher accuracy.</a:t>
            </a:r>
          </a:p>
          <a:p>
            <a:pPr algn="just" marL="840145" indent="-280048" lvl="2">
              <a:lnSpc>
                <a:spcPts val="2723"/>
              </a:lnSpc>
              <a:buFont typeface="Arial"/>
              <a:buChar char="⚬"/>
            </a:pPr>
            <a:r>
              <a:rPr lang="en-US" sz="1945">
                <a:solidFill>
                  <a:srgbClr val="253247"/>
                </a:solidFill>
                <a:latin typeface="Glacial Indifference"/>
                <a:ea typeface="Glacial Indifference"/>
                <a:cs typeface="Glacial Indifference"/>
                <a:sym typeface="Glacial Indifference"/>
              </a:rPr>
              <a:t>Verified and removed redundant columns after cleanup.</a:t>
            </a:r>
          </a:p>
          <a:p>
            <a:pPr algn="just">
              <a:lnSpc>
                <a:spcPts val="2723"/>
              </a:lnSpc>
            </a:pPr>
          </a:p>
          <a:p>
            <a:pPr algn="just">
              <a:lnSpc>
                <a:spcPts val="2723"/>
              </a:lnSpc>
              <a:spcBef>
                <a:spcPct val="0"/>
              </a:spcBef>
            </a:pPr>
          </a:p>
          <a:p>
            <a:pPr algn="just">
              <a:lnSpc>
                <a:spcPts val="2723"/>
              </a:lnSpc>
              <a:spcBef>
                <a:spcPct val="0"/>
              </a:spcBef>
            </a:pPr>
          </a:p>
          <a:p>
            <a:pPr algn="just">
              <a:lnSpc>
                <a:spcPts val="2723"/>
              </a:lnSpc>
              <a:spcBef>
                <a:spcPct val="0"/>
              </a:spcBef>
            </a:pPr>
          </a:p>
        </p:txBody>
      </p:sp>
      <p:sp>
        <p:nvSpPr>
          <p:cNvPr name="Freeform 17" id="17"/>
          <p:cNvSpPr/>
          <p:nvPr/>
        </p:nvSpPr>
        <p:spPr>
          <a:xfrm flipH="false" flipV="false" rot="5400000">
            <a:off x="8185276" y="4750784"/>
            <a:ext cx="405479" cy="2057400"/>
          </a:xfrm>
          <a:custGeom>
            <a:avLst/>
            <a:gdLst/>
            <a:ahLst/>
            <a:cxnLst/>
            <a:rect r="r" b="b" t="t" l="l"/>
            <a:pathLst>
              <a:path h="2057400" w="405479">
                <a:moveTo>
                  <a:pt x="0" y="0"/>
                </a:moveTo>
                <a:lnTo>
                  <a:pt x="405479" y="0"/>
                </a:lnTo>
                <a:lnTo>
                  <a:pt x="405479" y="2057400"/>
                </a:lnTo>
                <a:lnTo>
                  <a:pt x="0" y="2057400"/>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solidFill>
          <a:srgbClr val="D9E4EC"/>
        </a:solidFill>
      </p:bgPr>
    </p:bg>
    <p:spTree>
      <p:nvGrpSpPr>
        <p:cNvPr id="1" name=""/>
        <p:cNvGrpSpPr/>
        <p:nvPr/>
      </p:nvGrpSpPr>
      <p:grpSpPr>
        <a:xfrm>
          <a:off x="0" y="0"/>
          <a:ext cx="0" cy="0"/>
          <a:chOff x="0" y="0"/>
          <a:chExt cx="0" cy="0"/>
        </a:xfrm>
      </p:grpSpPr>
      <p:sp>
        <p:nvSpPr>
          <p:cNvPr name="Freeform 2" id="2"/>
          <p:cNvSpPr/>
          <p:nvPr/>
        </p:nvSpPr>
        <p:spPr>
          <a:xfrm flipH="true" flipV="true" rot="0">
            <a:off x="15335897" y="-291796"/>
            <a:ext cx="2952103" cy="2944723"/>
          </a:xfrm>
          <a:custGeom>
            <a:avLst/>
            <a:gdLst/>
            <a:ahLst/>
            <a:cxnLst/>
            <a:rect r="r" b="b" t="t" l="l"/>
            <a:pathLst>
              <a:path h="2944723" w="2952103">
                <a:moveTo>
                  <a:pt x="2952103" y="2944722"/>
                </a:moveTo>
                <a:lnTo>
                  <a:pt x="0" y="2944722"/>
                </a:lnTo>
                <a:lnTo>
                  <a:pt x="0" y="0"/>
                </a:lnTo>
                <a:lnTo>
                  <a:pt x="2952103" y="0"/>
                </a:lnTo>
                <a:lnTo>
                  <a:pt x="2952103" y="2944722"/>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8828038">
            <a:off x="4271547" y="-2750518"/>
            <a:ext cx="13665829" cy="1525700"/>
            <a:chOff x="0" y="0"/>
            <a:chExt cx="3599231" cy="401831"/>
          </a:xfrm>
        </p:grpSpPr>
        <p:sp>
          <p:nvSpPr>
            <p:cNvPr name="Freeform 4" id="4"/>
            <p:cNvSpPr/>
            <p:nvPr/>
          </p:nvSpPr>
          <p:spPr>
            <a:xfrm flipH="false" flipV="false" rot="0">
              <a:off x="0" y="0"/>
              <a:ext cx="3599231" cy="401831"/>
            </a:xfrm>
            <a:custGeom>
              <a:avLst/>
              <a:gdLst/>
              <a:ahLst/>
              <a:cxnLst/>
              <a:rect r="r" b="b" t="t" l="l"/>
              <a:pathLst>
                <a:path h="401831" w="3599231">
                  <a:moveTo>
                    <a:pt x="203200" y="0"/>
                  </a:moveTo>
                  <a:lnTo>
                    <a:pt x="3599231" y="0"/>
                  </a:lnTo>
                  <a:lnTo>
                    <a:pt x="3396031" y="401831"/>
                  </a:lnTo>
                  <a:lnTo>
                    <a:pt x="0" y="401831"/>
                  </a:lnTo>
                  <a:lnTo>
                    <a:pt x="203200" y="0"/>
                  </a:lnTo>
                  <a:close/>
                </a:path>
              </a:pathLst>
            </a:custGeom>
            <a:solidFill>
              <a:srgbClr val="578EAF"/>
            </a:solidFill>
          </p:spPr>
        </p:sp>
        <p:sp>
          <p:nvSpPr>
            <p:cNvPr name="TextBox 5" id="5"/>
            <p:cNvSpPr txBox="true"/>
            <p:nvPr/>
          </p:nvSpPr>
          <p:spPr>
            <a:xfrm>
              <a:off x="101600" y="-38100"/>
              <a:ext cx="3396031" cy="439931"/>
            </a:xfrm>
            <a:prstGeom prst="rect">
              <a:avLst/>
            </a:prstGeom>
          </p:spPr>
          <p:txBody>
            <a:bodyPr anchor="ctr" rtlCol="false" tIns="50800" lIns="50800" bIns="50800" rIns="50800"/>
            <a:lstStyle/>
            <a:p>
              <a:pPr algn="ctr">
                <a:lnSpc>
                  <a:spcPts val="2659"/>
                </a:lnSpc>
              </a:pPr>
            </a:p>
          </p:txBody>
        </p:sp>
      </p:grpSp>
      <p:grpSp>
        <p:nvGrpSpPr>
          <p:cNvPr name="Group 6" id="6"/>
          <p:cNvGrpSpPr/>
          <p:nvPr/>
        </p:nvGrpSpPr>
        <p:grpSpPr>
          <a:xfrm rot="-9061468">
            <a:off x="-3088929" y="-1143254"/>
            <a:ext cx="10495456" cy="1412986"/>
            <a:chOff x="0" y="0"/>
            <a:chExt cx="2764235" cy="372144"/>
          </a:xfrm>
        </p:grpSpPr>
        <p:sp>
          <p:nvSpPr>
            <p:cNvPr name="Freeform 7" id="7"/>
            <p:cNvSpPr/>
            <p:nvPr/>
          </p:nvSpPr>
          <p:spPr>
            <a:xfrm flipH="false" flipV="false" rot="0">
              <a:off x="0" y="0"/>
              <a:ext cx="2764235" cy="372144"/>
            </a:xfrm>
            <a:custGeom>
              <a:avLst/>
              <a:gdLst/>
              <a:ahLst/>
              <a:cxnLst/>
              <a:rect r="r" b="b" t="t" l="l"/>
              <a:pathLst>
                <a:path h="372144" w="2764235">
                  <a:moveTo>
                    <a:pt x="203200" y="0"/>
                  </a:moveTo>
                  <a:lnTo>
                    <a:pt x="2764235" y="0"/>
                  </a:lnTo>
                  <a:lnTo>
                    <a:pt x="2561035" y="372144"/>
                  </a:lnTo>
                  <a:lnTo>
                    <a:pt x="0" y="372144"/>
                  </a:lnTo>
                  <a:lnTo>
                    <a:pt x="203200" y="0"/>
                  </a:lnTo>
                  <a:close/>
                </a:path>
              </a:pathLst>
            </a:custGeom>
            <a:solidFill>
              <a:srgbClr val="6AABD2"/>
            </a:solidFill>
          </p:spPr>
        </p:sp>
        <p:sp>
          <p:nvSpPr>
            <p:cNvPr name="TextBox 8" id="8"/>
            <p:cNvSpPr txBox="true"/>
            <p:nvPr/>
          </p:nvSpPr>
          <p:spPr>
            <a:xfrm>
              <a:off x="101600" y="-38100"/>
              <a:ext cx="2561035" cy="410244"/>
            </a:xfrm>
            <a:prstGeom prst="rect">
              <a:avLst/>
            </a:prstGeom>
          </p:spPr>
          <p:txBody>
            <a:bodyPr anchor="ctr" rtlCol="false" tIns="50800" lIns="50800" bIns="50800" rIns="50800"/>
            <a:lstStyle/>
            <a:p>
              <a:pPr algn="ctr">
                <a:lnSpc>
                  <a:spcPts val="2659"/>
                </a:lnSpc>
              </a:pPr>
            </a:p>
          </p:txBody>
        </p:sp>
      </p:grpSp>
      <p:grpSp>
        <p:nvGrpSpPr>
          <p:cNvPr name="Group 9" id="9"/>
          <p:cNvGrpSpPr/>
          <p:nvPr/>
        </p:nvGrpSpPr>
        <p:grpSpPr>
          <a:xfrm rot="-2042265">
            <a:off x="-9170706" y="10779985"/>
            <a:ext cx="13665829" cy="1525700"/>
            <a:chOff x="0" y="0"/>
            <a:chExt cx="3599231" cy="401831"/>
          </a:xfrm>
        </p:grpSpPr>
        <p:sp>
          <p:nvSpPr>
            <p:cNvPr name="Freeform 10" id="10"/>
            <p:cNvSpPr/>
            <p:nvPr/>
          </p:nvSpPr>
          <p:spPr>
            <a:xfrm flipH="false" flipV="false" rot="0">
              <a:off x="0" y="0"/>
              <a:ext cx="3599231" cy="401831"/>
            </a:xfrm>
            <a:custGeom>
              <a:avLst/>
              <a:gdLst/>
              <a:ahLst/>
              <a:cxnLst/>
              <a:rect r="r" b="b" t="t" l="l"/>
              <a:pathLst>
                <a:path h="401831" w="3599231">
                  <a:moveTo>
                    <a:pt x="203200" y="0"/>
                  </a:moveTo>
                  <a:lnTo>
                    <a:pt x="3599231" y="0"/>
                  </a:lnTo>
                  <a:lnTo>
                    <a:pt x="3396031" y="401831"/>
                  </a:lnTo>
                  <a:lnTo>
                    <a:pt x="0" y="401831"/>
                  </a:lnTo>
                  <a:lnTo>
                    <a:pt x="203200" y="0"/>
                  </a:lnTo>
                  <a:close/>
                </a:path>
              </a:pathLst>
            </a:custGeom>
            <a:solidFill>
              <a:srgbClr val="578EAF"/>
            </a:solidFill>
          </p:spPr>
        </p:sp>
        <p:sp>
          <p:nvSpPr>
            <p:cNvPr name="TextBox 11" id="11"/>
            <p:cNvSpPr txBox="true"/>
            <p:nvPr/>
          </p:nvSpPr>
          <p:spPr>
            <a:xfrm>
              <a:off x="101600" y="-38100"/>
              <a:ext cx="3396031" cy="439931"/>
            </a:xfrm>
            <a:prstGeom prst="rect">
              <a:avLst/>
            </a:prstGeom>
          </p:spPr>
          <p:txBody>
            <a:bodyPr anchor="ctr" rtlCol="false" tIns="50800" lIns="50800" bIns="50800" rIns="50800"/>
            <a:lstStyle/>
            <a:p>
              <a:pPr algn="ctr">
                <a:lnSpc>
                  <a:spcPts val="2659"/>
                </a:lnSpc>
              </a:pPr>
            </a:p>
          </p:txBody>
        </p:sp>
      </p:grpSp>
      <p:grpSp>
        <p:nvGrpSpPr>
          <p:cNvPr name="Group 12" id="12"/>
          <p:cNvGrpSpPr/>
          <p:nvPr/>
        </p:nvGrpSpPr>
        <p:grpSpPr>
          <a:xfrm rot="1668227">
            <a:off x="1326557" y="9102829"/>
            <a:ext cx="10495456" cy="1412986"/>
            <a:chOff x="0" y="0"/>
            <a:chExt cx="2764235" cy="372144"/>
          </a:xfrm>
        </p:grpSpPr>
        <p:sp>
          <p:nvSpPr>
            <p:cNvPr name="Freeform 13" id="13"/>
            <p:cNvSpPr/>
            <p:nvPr/>
          </p:nvSpPr>
          <p:spPr>
            <a:xfrm flipH="false" flipV="false" rot="0">
              <a:off x="0" y="0"/>
              <a:ext cx="2764235" cy="372144"/>
            </a:xfrm>
            <a:custGeom>
              <a:avLst/>
              <a:gdLst/>
              <a:ahLst/>
              <a:cxnLst/>
              <a:rect r="r" b="b" t="t" l="l"/>
              <a:pathLst>
                <a:path h="372144" w="2764235">
                  <a:moveTo>
                    <a:pt x="203200" y="0"/>
                  </a:moveTo>
                  <a:lnTo>
                    <a:pt x="2764235" y="0"/>
                  </a:lnTo>
                  <a:lnTo>
                    <a:pt x="2561035" y="372144"/>
                  </a:lnTo>
                  <a:lnTo>
                    <a:pt x="0" y="372144"/>
                  </a:lnTo>
                  <a:lnTo>
                    <a:pt x="203200" y="0"/>
                  </a:lnTo>
                  <a:close/>
                </a:path>
              </a:pathLst>
            </a:custGeom>
            <a:solidFill>
              <a:srgbClr val="6AABD2"/>
            </a:solidFill>
          </p:spPr>
        </p:sp>
        <p:sp>
          <p:nvSpPr>
            <p:cNvPr name="TextBox 14" id="14"/>
            <p:cNvSpPr txBox="true"/>
            <p:nvPr/>
          </p:nvSpPr>
          <p:spPr>
            <a:xfrm>
              <a:off x="101600" y="-38100"/>
              <a:ext cx="2561035" cy="410244"/>
            </a:xfrm>
            <a:prstGeom prst="rect">
              <a:avLst/>
            </a:prstGeom>
          </p:spPr>
          <p:txBody>
            <a:bodyPr anchor="ctr" rtlCol="false" tIns="50800" lIns="50800" bIns="50800" rIns="50800"/>
            <a:lstStyle/>
            <a:p>
              <a:pPr algn="ctr">
                <a:lnSpc>
                  <a:spcPts val="2659"/>
                </a:lnSpc>
              </a:pPr>
            </a:p>
          </p:txBody>
        </p:sp>
      </p:grpSp>
      <p:sp>
        <p:nvSpPr>
          <p:cNvPr name="Freeform 15" id="15"/>
          <p:cNvSpPr/>
          <p:nvPr/>
        </p:nvSpPr>
        <p:spPr>
          <a:xfrm flipH="false" flipV="false" rot="0">
            <a:off x="387204" y="3004679"/>
            <a:ext cx="8506418" cy="5369676"/>
          </a:xfrm>
          <a:custGeom>
            <a:avLst/>
            <a:gdLst/>
            <a:ahLst/>
            <a:cxnLst/>
            <a:rect r="r" b="b" t="t" l="l"/>
            <a:pathLst>
              <a:path h="5369676" w="8506418">
                <a:moveTo>
                  <a:pt x="0" y="0"/>
                </a:moveTo>
                <a:lnTo>
                  <a:pt x="8506418" y="0"/>
                </a:lnTo>
                <a:lnTo>
                  <a:pt x="8506418" y="5369676"/>
                </a:lnTo>
                <a:lnTo>
                  <a:pt x="0" y="5369676"/>
                </a:lnTo>
                <a:lnTo>
                  <a:pt x="0" y="0"/>
                </a:lnTo>
                <a:close/>
              </a:path>
            </a:pathLst>
          </a:custGeom>
          <a:blipFill>
            <a:blip r:embed="rId4"/>
            <a:stretch>
              <a:fillRect l="0" t="0" r="0" b="0"/>
            </a:stretch>
          </a:blipFill>
        </p:spPr>
      </p:sp>
      <p:sp>
        <p:nvSpPr>
          <p:cNvPr name="TextBox 16" id="16"/>
          <p:cNvSpPr txBox="true"/>
          <p:nvPr/>
        </p:nvSpPr>
        <p:spPr>
          <a:xfrm rot="0">
            <a:off x="9144000" y="3201870"/>
            <a:ext cx="8320939" cy="4908484"/>
          </a:xfrm>
          <a:prstGeom prst="rect">
            <a:avLst/>
          </a:prstGeom>
        </p:spPr>
        <p:txBody>
          <a:bodyPr anchor="t" rtlCol="false" tIns="0" lIns="0" bIns="0" rIns="0">
            <a:spAutoFit/>
          </a:bodyPr>
          <a:lstStyle/>
          <a:p>
            <a:pPr algn="just">
              <a:lnSpc>
                <a:spcPts val="2453"/>
              </a:lnSpc>
            </a:pPr>
          </a:p>
          <a:p>
            <a:pPr algn="just">
              <a:lnSpc>
                <a:spcPts val="2453"/>
              </a:lnSpc>
            </a:pPr>
          </a:p>
          <a:p>
            <a:pPr algn="just">
              <a:lnSpc>
                <a:spcPts val="2733"/>
              </a:lnSpc>
              <a:spcBef>
                <a:spcPct val="0"/>
              </a:spcBef>
            </a:pPr>
            <a:r>
              <a:rPr lang="en-US" b="true" sz="1952">
                <a:solidFill>
                  <a:srgbClr val="253247"/>
                </a:solidFill>
                <a:latin typeface="Glacial Indifference Bold"/>
                <a:ea typeface="Glacial Indifference Bold"/>
                <a:cs typeface="Glacial Indifference Bold"/>
                <a:sym typeface="Glacial Indifference Bold"/>
              </a:rPr>
              <a:t>Property Size Description Cleaning</a:t>
            </a:r>
          </a:p>
          <a:p>
            <a:pPr algn="just">
              <a:lnSpc>
                <a:spcPts val="2453"/>
              </a:lnSpc>
              <a:spcBef>
                <a:spcPct val="0"/>
              </a:spcBef>
            </a:pPr>
          </a:p>
          <a:p>
            <a:pPr algn="just" marL="378385" indent="-189192" lvl="1">
              <a:lnSpc>
                <a:spcPts val="2453"/>
              </a:lnSpc>
              <a:spcBef>
                <a:spcPct val="0"/>
              </a:spcBef>
              <a:buFont typeface="Arial"/>
              <a:buChar char="•"/>
            </a:pPr>
            <a:r>
              <a:rPr lang="en-US" b="true" sz="1752">
                <a:solidFill>
                  <a:srgbClr val="253247"/>
                </a:solidFill>
                <a:latin typeface="Glacial Indifference Bold"/>
                <a:ea typeface="Glacial Indifference Bold"/>
                <a:cs typeface="Glacial Indifference Bold"/>
                <a:sym typeface="Glacial Indifference Bold"/>
              </a:rPr>
              <a:t>Goal: </a:t>
            </a:r>
            <a:r>
              <a:rPr lang="en-US" sz="1752">
                <a:solidFill>
                  <a:srgbClr val="253247"/>
                </a:solidFill>
                <a:latin typeface="Glacial Indifference"/>
                <a:ea typeface="Glacial Indifference"/>
                <a:cs typeface="Glacial Indifference"/>
                <a:sym typeface="Glacial Indifference"/>
              </a:rPr>
              <a:t>Standardize property size data and enable quantitative analysis.</a:t>
            </a:r>
          </a:p>
          <a:p>
            <a:pPr algn="just" marL="378385" indent="-189192" lvl="1">
              <a:lnSpc>
                <a:spcPts val="2453"/>
              </a:lnSpc>
              <a:spcBef>
                <a:spcPct val="0"/>
              </a:spcBef>
              <a:buFont typeface="Arial"/>
              <a:buChar char="•"/>
            </a:pPr>
            <a:r>
              <a:rPr lang="en-US" b="true" sz="1752">
                <a:solidFill>
                  <a:srgbClr val="253247"/>
                </a:solidFill>
                <a:latin typeface="Glacial Indifference Bold"/>
                <a:ea typeface="Glacial Indifference Bold"/>
                <a:cs typeface="Glacial Indifference Bold"/>
                <a:sym typeface="Glacial Indifference Bold"/>
              </a:rPr>
              <a:t>Steps:</a:t>
            </a:r>
          </a:p>
          <a:p>
            <a:pPr algn="just" marL="756769" indent="-252256" lvl="2">
              <a:lnSpc>
                <a:spcPts val="2453"/>
              </a:lnSpc>
              <a:buFont typeface="Arial"/>
              <a:buChar char="⚬"/>
            </a:pPr>
            <a:r>
              <a:rPr lang="en-US" sz="1752">
                <a:solidFill>
                  <a:srgbClr val="253247"/>
                </a:solidFill>
                <a:latin typeface="Glacial Indifference"/>
                <a:ea typeface="Glacial Indifference"/>
                <a:cs typeface="Glacial Indifference"/>
                <a:sym typeface="Glacial Indifference"/>
              </a:rPr>
              <a:t>Extracted numeric size values using str_extract() for analysis (e.g., "100 sqm" → 100)</a:t>
            </a:r>
          </a:p>
          <a:p>
            <a:pPr algn="just" marL="756769" indent="-252256" lvl="2">
              <a:lnSpc>
                <a:spcPts val="2453"/>
              </a:lnSpc>
              <a:buFont typeface="Arial"/>
              <a:buChar char="⚬"/>
            </a:pPr>
            <a:r>
              <a:rPr lang="en-US" sz="1752">
                <a:solidFill>
                  <a:srgbClr val="253247"/>
                </a:solidFill>
                <a:latin typeface="Glacial Indifference"/>
                <a:ea typeface="Glacial Indifference"/>
                <a:cs typeface="Glacial Indifference"/>
                <a:sym typeface="Glacial Indifference"/>
              </a:rPr>
              <a:t>Created a new column, property_size_numeric, for direct size calculations</a:t>
            </a:r>
          </a:p>
          <a:p>
            <a:pPr algn="just" marL="756769" indent="-252256" lvl="2">
              <a:lnSpc>
                <a:spcPts val="2453"/>
              </a:lnSpc>
              <a:buFont typeface="Arial"/>
              <a:buChar char="⚬"/>
            </a:pPr>
            <a:r>
              <a:rPr lang="en-US" sz="1752">
                <a:solidFill>
                  <a:srgbClr val="253247"/>
                </a:solidFill>
                <a:latin typeface="Glacial Indifference"/>
                <a:ea typeface="Glacial Indifference"/>
                <a:cs typeface="Glacial Indifference"/>
                <a:sym typeface="Glacial Indifference"/>
              </a:rPr>
              <a:t>Developed a cleaning function to:</a:t>
            </a:r>
          </a:p>
          <a:p>
            <a:pPr algn="just" marL="1135154" indent="-283789" lvl="3">
              <a:lnSpc>
                <a:spcPts val="2453"/>
              </a:lnSpc>
              <a:buFont typeface="Arial"/>
              <a:buChar char="￭"/>
            </a:pPr>
            <a:r>
              <a:rPr lang="en-US" sz="1752">
                <a:solidFill>
                  <a:srgbClr val="253247"/>
                </a:solidFill>
                <a:latin typeface="Glacial Indifference"/>
                <a:ea typeface="Glacial Indifference"/>
                <a:cs typeface="Glacial Indifference"/>
                <a:sym typeface="Glacial Indifference"/>
              </a:rPr>
              <a:t>Normalize corrupted or varied text (e.g., "nós lú ná 38" → "less than 38 sqm").</a:t>
            </a:r>
          </a:p>
          <a:p>
            <a:pPr algn="just" marL="1135154" indent="-283789" lvl="3">
              <a:lnSpc>
                <a:spcPts val="2453"/>
              </a:lnSpc>
              <a:spcBef>
                <a:spcPct val="0"/>
              </a:spcBef>
              <a:buFont typeface="Arial"/>
              <a:buChar char="￭"/>
            </a:pPr>
            <a:r>
              <a:rPr lang="en-US" sz="1752">
                <a:solidFill>
                  <a:srgbClr val="253247"/>
                </a:solidFill>
                <a:latin typeface="Glacial Indifference"/>
                <a:ea typeface="Glacial Indifference"/>
                <a:cs typeface="Glacial Indifference"/>
                <a:sym typeface="Glacial Indifference"/>
              </a:rPr>
              <a:t>Replace corrupted Irish text with clean, English terms.</a:t>
            </a:r>
          </a:p>
          <a:p>
            <a:pPr algn="just" marL="1135154" indent="-283789" lvl="3">
              <a:lnSpc>
                <a:spcPts val="2453"/>
              </a:lnSpc>
              <a:spcBef>
                <a:spcPct val="0"/>
              </a:spcBef>
              <a:buFont typeface="Arial"/>
              <a:buChar char="￭"/>
            </a:pPr>
            <a:r>
              <a:rPr lang="en-US" sz="1752">
                <a:solidFill>
                  <a:srgbClr val="253247"/>
                </a:solidFill>
                <a:latin typeface="Glacial Indifference"/>
                <a:ea typeface="Glacial Indifference"/>
                <a:cs typeface="Glacial Indifference"/>
                <a:sym typeface="Glacial Indifference"/>
              </a:rPr>
              <a:t>Standardize size categories (e.g., "greater than 125 sqm")</a:t>
            </a:r>
          </a:p>
          <a:p>
            <a:pPr algn="just">
              <a:lnSpc>
                <a:spcPts val="2453"/>
              </a:lnSpc>
              <a:spcBef>
                <a:spcPct val="0"/>
              </a:spcBef>
            </a:pPr>
          </a:p>
          <a:p>
            <a:pPr algn="just">
              <a:lnSpc>
                <a:spcPts val="2453"/>
              </a:lnSpc>
              <a:spcBef>
                <a:spcPct val="0"/>
              </a:spcBef>
            </a:pPr>
          </a:p>
        </p:txBody>
      </p:sp>
      <p:sp>
        <p:nvSpPr>
          <p:cNvPr name="Freeform 17" id="17"/>
          <p:cNvSpPr/>
          <p:nvPr/>
        </p:nvSpPr>
        <p:spPr>
          <a:xfrm flipH="false" flipV="false" rot="5400000">
            <a:off x="8185276" y="4646462"/>
            <a:ext cx="405479" cy="2057400"/>
          </a:xfrm>
          <a:custGeom>
            <a:avLst/>
            <a:gdLst/>
            <a:ahLst/>
            <a:cxnLst/>
            <a:rect r="r" b="b" t="t" l="l"/>
            <a:pathLst>
              <a:path h="2057400" w="405479">
                <a:moveTo>
                  <a:pt x="0" y="0"/>
                </a:moveTo>
                <a:lnTo>
                  <a:pt x="405479" y="0"/>
                </a:lnTo>
                <a:lnTo>
                  <a:pt x="405479" y="2057400"/>
                </a:lnTo>
                <a:lnTo>
                  <a:pt x="0" y="2057400"/>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bg>
      <p:bgPr>
        <a:solidFill>
          <a:srgbClr val="D9E4EC"/>
        </a:solidFill>
      </p:bgPr>
    </p:bg>
    <p:spTree>
      <p:nvGrpSpPr>
        <p:cNvPr id="1" name=""/>
        <p:cNvGrpSpPr/>
        <p:nvPr/>
      </p:nvGrpSpPr>
      <p:grpSpPr>
        <a:xfrm>
          <a:off x="0" y="0"/>
          <a:ext cx="0" cy="0"/>
          <a:chOff x="0" y="0"/>
          <a:chExt cx="0" cy="0"/>
        </a:xfrm>
      </p:grpSpPr>
      <p:sp>
        <p:nvSpPr>
          <p:cNvPr name="Freeform 2" id="2"/>
          <p:cNvSpPr/>
          <p:nvPr/>
        </p:nvSpPr>
        <p:spPr>
          <a:xfrm flipH="true" flipV="true" rot="0">
            <a:off x="15335897" y="-291796"/>
            <a:ext cx="2952103" cy="2944723"/>
          </a:xfrm>
          <a:custGeom>
            <a:avLst/>
            <a:gdLst/>
            <a:ahLst/>
            <a:cxnLst/>
            <a:rect r="r" b="b" t="t" l="l"/>
            <a:pathLst>
              <a:path h="2944723" w="2952103">
                <a:moveTo>
                  <a:pt x="2952103" y="2944722"/>
                </a:moveTo>
                <a:lnTo>
                  <a:pt x="0" y="2944722"/>
                </a:lnTo>
                <a:lnTo>
                  <a:pt x="0" y="0"/>
                </a:lnTo>
                <a:lnTo>
                  <a:pt x="2952103" y="0"/>
                </a:lnTo>
                <a:lnTo>
                  <a:pt x="2952103" y="2944722"/>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8828038">
            <a:off x="4271547" y="-2750518"/>
            <a:ext cx="13665829" cy="1525700"/>
            <a:chOff x="0" y="0"/>
            <a:chExt cx="3599231" cy="401831"/>
          </a:xfrm>
        </p:grpSpPr>
        <p:sp>
          <p:nvSpPr>
            <p:cNvPr name="Freeform 4" id="4"/>
            <p:cNvSpPr/>
            <p:nvPr/>
          </p:nvSpPr>
          <p:spPr>
            <a:xfrm flipH="false" flipV="false" rot="0">
              <a:off x="0" y="0"/>
              <a:ext cx="3599231" cy="401831"/>
            </a:xfrm>
            <a:custGeom>
              <a:avLst/>
              <a:gdLst/>
              <a:ahLst/>
              <a:cxnLst/>
              <a:rect r="r" b="b" t="t" l="l"/>
              <a:pathLst>
                <a:path h="401831" w="3599231">
                  <a:moveTo>
                    <a:pt x="203200" y="0"/>
                  </a:moveTo>
                  <a:lnTo>
                    <a:pt x="3599231" y="0"/>
                  </a:lnTo>
                  <a:lnTo>
                    <a:pt x="3396031" y="401831"/>
                  </a:lnTo>
                  <a:lnTo>
                    <a:pt x="0" y="401831"/>
                  </a:lnTo>
                  <a:lnTo>
                    <a:pt x="203200" y="0"/>
                  </a:lnTo>
                  <a:close/>
                </a:path>
              </a:pathLst>
            </a:custGeom>
            <a:solidFill>
              <a:srgbClr val="578EAF"/>
            </a:solidFill>
          </p:spPr>
        </p:sp>
        <p:sp>
          <p:nvSpPr>
            <p:cNvPr name="TextBox 5" id="5"/>
            <p:cNvSpPr txBox="true"/>
            <p:nvPr/>
          </p:nvSpPr>
          <p:spPr>
            <a:xfrm>
              <a:off x="101600" y="-38100"/>
              <a:ext cx="3396031" cy="439931"/>
            </a:xfrm>
            <a:prstGeom prst="rect">
              <a:avLst/>
            </a:prstGeom>
          </p:spPr>
          <p:txBody>
            <a:bodyPr anchor="ctr" rtlCol="false" tIns="50800" lIns="50800" bIns="50800" rIns="50800"/>
            <a:lstStyle/>
            <a:p>
              <a:pPr algn="ctr">
                <a:lnSpc>
                  <a:spcPts val="2659"/>
                </a:lnSpc>
              </a:pPr>
            </a:p>
          </p:txBody>
        </p:sp>
      </p:grpSp>
      <p:grpSp>
        <p:nvGrpSpPr>
          <p:cNvPr name="Group 6" id="6"/>
          <p:cNvGrpSpPr/>
          <p:nvPr/>
        </p:nvGrpSpPr>
        <p:grpSpPr>
          <a:xfrm rot="-9061468">
            <a:off x="-3088929" y="-1143254"/>
            <a:ext cx="10495456" cy="1412986"/>
            <a:chOff x="0" y="0"/>
            <a:chExt cx="2764235" cy="372144"/>
          </a:xfrm>
        </p:grpSpPr>
        <p:sp>
          <p:nvSpPr>
            <p:cNvPr name="Freeform 7" id="7"/>
            <p:cNvSpPr/>
            <p:nvPr/>
          </p:nvSpPr>
          <p:spPr>
            <a:xfrm flipH="false" flipV="false" rot="0">
              <a:off x="0" y="0"/>
              <a:ext cx="2764235" cy="372144"/>
            </a:xfrm>
            <a:custGeom>
              <a:avLst/>
              <a:gdLst/>
              <a:ahLst/>
              <a:cxnLst/>
              <a:rect r="r" b="b" t="t" l="l"/>
              <a:pathLst>
                <a:path h="372144" w="2764235">
                  <a:moveTo>
                    <a:pt x="203200" y="0"/>
                  </a:moveTo>
                  <a:lnTo>
                    <a:pt x="2764235" y="0"/>
                  </a:lnTo>
                  <a:lnTo>
                    <a:pt x="2561035" y="372144"/>
                  </a:lnTo>
                  <a:lnTo>
                    <a:pt x="0" y="372144"/>
                  </a:lnTo>
                  <a:lnTo>
                    <a:pt x="203200" y="0"/>
                  </a:lnTo>
                  <a:close/>
                </a:path>
              </a:pathLst>
            </a:custGeom>
            <a:solidFill>
              <a:srgbClr val="6AABD2"/>
            </a:solidFill>
          </p:spPr>
        </p:sp>
        <p:sp>
          <p:nvSpPr>
            <p:cNvPr name="TextBox 8" id="8"/>
            <p:cNvSpPr txBox="true"/>
            <p:nvPr/>
          </p:nvSpPr>
          <p:spPr>
            <a:xfrm>
              <a:off x="101600" y="-38100"/>
              <a:ext cx="2561035" cy="410244"/>
            </a:xfrm>
            <a:prstGeom prst="rect">
              <a:avLst/>
            </a:prstGeom>
          </p:spPr>
          <p:txBody>
            <a:bodyPr anchor="ctr" rtlCol="false" tIns="50800" lIns="50800" bIns="50800" rIns="50800"/>
            <a:lstStyle/>
            <a:p>
              <a:pPr algn="ctr">
                <a:lnSpc>
                  <a:spcPts val="2659"/>
                </a:lnSpc>
              </a:pPr>
            </a:p>
          </p:txBody>
        </p:sp>
      </p:grpSp>
      <p:grpSp>
        <p:nvGrpSpPr>
          <p:cNvPr name="Group 9" id="9"/>
          <p:cNvGrpSpPr/>
          <p:nvPr/>
        </p:nvGrpSpPr>
        <p:grpSpPr>
          <a:xfrm rot="-2042265">
            <a:off x="-9170706" y="10779985"/>
            <a:ext cx="13665829" cy="1525700"/>
            <a:chOff x="0" y="0"/>
            <a:chExt cx="3599231" cy="401831"/>
          </a:xfrm>
        </p:grpSpPr>
        <p:sp>
          <p:nvSpPr>
            <p:cNvPr name="Freeform 10" id="10"/>
            <p:cNvSpPr/>
            <p:nvPr/>
          </p:nvSpPr>
          <p:spPr>
            <a:xfrm flipH="false" flipV="false" rot="0">
              <a:off x="0" y="0"/>
              <a:ext cx="3599231" cy="401831"/>
            </a:xfrm>
            <a:custGeom>
              <a:avLst/>
              <a:gdLst/>
              <a:ahLst/>
              <a:cxnLst/>
              <a:rect r="r" b="b" t="t" l="l"/>
              <a:pathLst>
                <a:path h="401831" w="3599231">
                  <a:moveTo>
                    <a:pt x="203200" y="0"/>
                  </a:moveTo>
                  <a:lnTo>
                    <a:pt x="3599231" y="0"/>
                  </a:lnTo>
                  <a:lnTo>
                    <a:pt x="3396031" y="401831"/>
                  </a:lnTo>
                  <a:lnTo>
                    <a:pt x="0" y="401831"/>
                  </a:lnTo>
                  <a:lnTo>
                    <a:pt x="203200" y="0"/>
                  </a:lnTo>
                  <a:close/>
                </a:path>
              </a:pathLst>
            </a:custGeom>
            <a:solidFill>
              <a:srgbClr val="578EAF"/>
            </a:solidFill>
          </p:spPr>
        </p:sp>
        <p:sp>
          <p:nvSpPr>
            <p:cNvPr name="TextBox 11" id="11"/>
            <p:cNvSpPr txBox="true"/>
            <p:nvPr/>
          </p:nvSpPr>
          <p:spPr>
            <a:xfrm>
              <a:off x="101600" y="-38100"/>
              <a:ext cx="3396031" cy="439931"/>
            </a:xfrm>
            <a:prstGeom prst="rect">
              <a:avLst/>
            </a:prstGeom>
          </p:spPr>
          <p:txBody>
            <a:bodyPr anchor="ctr" rtlCol="false" tIns="50800" lIns="50800" bIns="50800" rIns="50800"/>
            <a:lstStyle/>
            <a:p>
              <a:pPr algn="ctr">
                <a:lnSpc>
                  <a:spcPts val="2659"/>
                </a:lnSpc>
              </a:pPr>
            </a:p>
          </p:txBody>
        </p:sp>
      </p:grpSp>
      <p:grpSp>
        <p:nvGrpSpPr>
          <p:cNvPr name="Group 12" id="12"/>
          <p:cNvGrpSpPr/>
          <p:nvPr/>
        </p:nvGrpSpPr>
        <p:grpSpPr>
          <a:xfrm rot="1668227">
            <a:off x="1326557" y="9102829"/>
            <a:ext cx="10495456" cy="1412986"/>
            <a:chOff x="0" y="0"/>
            <a:chExt cx="2764235" cy="372144"/>
          </a:xfrm>
        </p:grpSpPr>
        <p:sp>
          <p:nvSpPr>
            <p:cNvPr name="Freeform 13" id="13"/>
            <p:cNvSpPr/>
            <p:nvPr/>
          </p:nvSpPr>
          <p:spPr>
            <a:xfrm flipH="false" flipV="false" rot="0">
              <a:off x="0" y="0"/>
              <a:ext cx="2764235" cy="372144"/>
            </a:xfrm>
            <a:custGeom>
              <a:avLst/>
              <a:gdLst/>
              <a:ahLst/>
              <a:cxnLst/>
              <a:rect r="r" b="b" t="t" l="l"/>
              <a:pathLst>
                <a:path h="372144" w="2764235">
                  <a:moveTo>
                    <a:pt x="203200" y="0"/>
                  </a:moveTo>
                  <a:lnTo>
                    <a:pt x="2764235" y="0"/>
                  </a:lnTo>
                  <a:lnTo>
                    <a:pt x="2561035" y="372144"/>
                  </a:lnTo>
                  <a:lnTo>
                    <a:pt x="0" y="372144"/>
                  </a:lnTo>
                  <a:lnTo>
                    <a:pt x="203200" y="0"/>
                  </a:lnTo>
                  <a:close/>
                </a:path>
              </a:pathLst>
            </a:custGeom>
            <a:solidFill>
              <a:srgbClr val="6AABD2"/>
            </a:solidFill>
          </p:spPr>
        </p:sp>
        <p:sp>
          <p:nvSpPr>
            <p:cNvPr name="TextBox 14" id="14"/>
            <p:cNvSpPr txBox="true"/>
            <p:nvPr/>
          </p:nvSpPr>
          <p:spPr>
            <a:xfrm>
              <a:off x="101600" y="-38100"/>
              <a:ext cx="2561035" cy="410244"/>
            </a:xfrm>
            <a:prstGeom prst="rect">
              <a:avLst/>
            </a:prstGeom>
          </p:spPr>
          <p:txBody>
            <a:bodyPr anchor="ctr" rtlCol="false" tIns="50800" lIns="50800" bIns="50800" rIns="50800"/>
            <a:lstStyle/>
            <a:p>
              <a:pPr algn="ctr">
                <a:lnSpc>
                  <a:spcPts val="2659"/>
                </a:lnSpc>
              </a:pPr>
            </a:p>
          </p:txBody>
        </p:sp>
      </p:grpSp>
      <p:sp>
        <p:nvSpPr>
          <p:cNvPr name="Freeform 15" id="15"/>
          <p:cNvSpPr/>
          <p:nvPr/>
        </p:nvSpPr>
        <p:spPr>
          <a:xfrm flipH="false" flipV="false" rot="0">
            <a:off x="827640" y="3987556"/>
            <a:ext cx="8247181" cy="2749060"/>
          </a:xfrm>
          <a:custGeom>
            <a:avLst/>
            <a:gdLst/>
            <a:ahLst/>
            <a:cxnLst/>
            <a:rect r="r" b="b" t="t" l="l"/>
            <a:pathLst>
              <a:path h="2749060" w="8247181">
                <a:moveTo>
                  <a:pt x="0" y="0"/>
                </a:moveTo>
                <a:lnTo>
                  <a:pt x="8247180" y="0"/>
                </a:lnTo>
                <a:lnTo>
                  <a:pt x="8247180" y="2749061"/>
                </a:lnTo>
                <a:lnTo>
                  <a:pt x="0" y="2749061"/>
                </a:lnTo>
                <a:lnTo>
                  <a:pt x="0" y="0"/>
                </a:lnTo>
                <a:close/>
              </a:path>
            </a:pathLst>
          </a:custGeom>
          <a:blipFill>
            <a:blip r:embed="rId4"/>
            <a:stretch>
              <a:fillRect l="0" t="0" r="0" b="0"/>
            </a:stretch>
          </a:blipFill>
        </p:spPr>
      </p:sp>
      <p:sp>
        <p:nvSpPr>
          <p:cNvPr name="TextBox 16" id="16"/>
          <p:cNvSpPr txBox="true"/>
          <p:nvPr/>
        </p:nvSpPr>
        <p:spPr>
          <a:xfrm rot="0">
            <a:off x="9349983" y="2816466"/>
            <a:ext cx="8320939" cy="6184834"/>
          </a:xfrm>
          <a:prstGeom prst="rect">
            <a:avLst/>
          </a:prstGeom>
        </p:spPr>
        <p:txBody>
          <a:bodyPr anchor="t" rtlCol="false" tIns="0" lIns="0" bIns="0" rIns="0">
            <a:spAutoFit/>
          </a:bodyPr>
          <a:lstStyle/>
          <a:p>
            <a:pPr algn="just">
              <a:lnSpc>
                <a:spcPts val="2453"/>
              </a:lnSpc>
            </a:pPr>
          </a:p>
          <a:p>
            <a:pPr algn="just">
              <a:lnSpc>
                <a:spcPts val="2453"/>
              </a:lnSpc>
            </a:pPr>
          </a:p>
          <a:p>
            <a:pPr algn="just">
              <a:lnSpc>
                <a:spcPts val="3153"/>
              </a:lnSpc>
              <a:spcBef>
                <a:spcPct val="0"/>
              </a:spcBef>
            </a:pPr>
            <a:r>
              <a:rPr lang="en-US" b="true" sz="2252">
                <a:solidFill>
                  <a:srgbClr val="253247"/>
                </a:solidFill>
                <a:latin typeface="Glacial Indifference Bold"/>
                <a:ea typeface="Glacial Indifference Bold"/>
                <a:cs typeface="Glacial Indifference Bold"/>
                <a:sym typeface="Glacial Indifference Bold"/>
              </a:rPr>
              <a:t>Price Cleaning Process</a:t>
            </a:r>
          </a:p>
          <a:p>
            <a:pPr algn="just">
              <a:lnSpc>
                <a:spcPts val="2453"/>
              </a:lnSpc>
              <a:spcBef>
                <a:spcPct val="0"/>
              </a:spcBef>
            </a:pPr>
          </a:p>
          <a:p>
            <a:pPr algn="just" marL="378385" indent="-189192" lvl="1">
              <a:lnSpc>
                <a:spcPts val="2453"/>
              </a:lnSpc>
              <a:buFont typeface="Arial"/>
              <a:buChar char="•"/>
            </a:pPr>
            <a:r>
              <a:rPr lang="en-US" b="true" sz="1752">
                <a:solidFill>
                  <a:srgbClr val="253247"/>
                </a:solidFill>
                <a:latin typeface="Glacial Indifference Bold"/>
                <a:ea typeface="Glacial Indifference Bold"/>
                <a:cs typeface="Glacial Indifference Bold"/>
                <a:sym typeface="Glacial Indifference Bold"/>
              </a:rPr>
              <a:t>Non-Numeric Character Removal:</a:t>
            </a:r>
          </a:p>
          <a:p>
            <a:pPr algn="just" marL="756769" indent="-252256" lvl="2">
              <a:lnSpc>
                <a:spcPts val="2453"/>
              </a:lnSpc>
              <a:buFont typeface="Arial"/>
              <a:buChar char="⚬"/>
            </a:pPr>
            <a:r>
              <a:rPr lang="en-US" sz="1752">
                <a:solidFill>
                  <a:srgbClr val="253247"/>
                </a:solidFill>
                <a:latin typeface="Glacial Indifference"/>
                <a:ea typeface="Glacial Indifference"/>
                <a:cs typeface="Glacial Indifference"/>
                <a:sym typeface="Glacial Indifference"/>
              </a:rPr>
              <a:t>Removed unwanted characters like commas, currency symbols (e.g., €), using gsub()</a:t>
            </a:r>
          </a:p>
          <a:p>
            <a:pPr algn="just" marL="378385" indent="-189192" lvl="1">
              <a:lnSpc>
                <a:spcPts val="2453"/>
              </a:lnSpc>
              <a:buFont typeface="Arial"/>
              <a:buChar char="•"/>
            </a:pPr>
            <a:r>
              <a:rPr lang="en-US" b="true" sz="1752">
                <a:solidFill>
                  <a:srgbClr val="253247"/>
                </a:solidFill>
                <a:latin typeface="Glacial Indifference Bold"/>
                <a:ea typeface="Glacial Indifference Bold"/>
                <a:cs typeface="Glacial Indifference Bold"/>
                <a:sym typeface="Glacial Indifference Bold"/>
              </a:rPr>
              <a:t>Conversion to Numeric:</a:t>
            </a:r>
          </a:p>
          <a:p>
            <a:pPr algn="just" marL="756769" indent="-252256" lvl="2">
              <a:lnSpc>
                <a:spcPts val="2453"/>
              </a:lnSpc>
              <a:buFont typeface="Arial"/>
              <a:buChar char="⚬"/>
            </a:pPr>
            <a:r>
              <a:rPr lang="en-US" sz="1752">
                <a:solidFill>
                  <a:srgbClr val="253247"/>
                </a:solidFill>
                <a:latin typeface="Glacial Indifference"/>
                <a:ea typeface="Glacial Indifference"/>
                <a:cs typeface="Glacial Indifference"/>
                <a:sym typeface="Glacial Indifference"/>
              </a:rPr>
              <a:t>Converted cleaned prices to numeric format using as.numeric() for analysis</a:t>
            </a:r>
          </a:p>
          <a:p>
            <a:pPr algn="just" marL="378385" indent="-189192" lvl="1">
              <a:lnSpc>
                <a:spcPts val="2453"/>
              </a:lnSpc>
              <a:buFont typeface="Arial"/>
              <a:buChar char="•"/>
            </a:pPr>
            <a:r>
              <a:rPr lang="en-US" b="true" sz="1752">
                <a:solidFill>
                  <a:srgbClr val="253247"/>
                </a:solidFill>
                <a:latin typeface="Glacial Indifference Bold"/>
                <a:ea typeface="Glacial Indifference Bold"/>
                <a:cs typeface="Glacial Indifference Bold"/>
                <a:sym typeface="Glacial Indifference Bold"/>
              </a:rPr>
              <a:t>Validation:</a:t>
            </a:r>
          </a:p>
          <a:p>
            <a:pPr algn="just" marL="756769" indent="-252256" lvl="2">
              <a:lnSpc>
                <a:spcPts val="2453"/>
              </a:lnSpc>
              <a:buFont typeface="Arial"/>
              <a:buChar char="⚬"/>
            </a:pPr>
            <a:r>
              <a:rPr lang="en-US" sz="1752">
                <a:solidFill>
                  <a:srgbClr val="253247"/>
                </a:solidFill>
                <a:latin typeface="Glacial Indifference"/>
                <a:ea typeface="Glacial Indifference"/>
                <a:cs typeface="Glacial Indifference"/>
                <a:sym typeface="Glacial Indifference"/>
              </a:rPr>
              <a:t>Ensur</a:t>
            </a:r>
            <a:r>
              <a:rPr lang="en-US" sz="1752">
                <a:solidFill>
                  <a:srgbClr val="253247"/>
                </a:solidFill>
                <a:latin typeface="Glacial Indifference"/>
                <a:ea typeface="Glacial Indifference"/>
                <a:cs typeface="Glacial Indifference"/>
                <a:sym typeface="Glacial Indifference"/>
              </a:rPr>
              <a:t>ed all entries in the price column were valid numeric values with no anomalies</a:t>
            </a:r>
          </a:p>
          <a:p>
            <a:pPr algn="just">
              <a:lnSpc>
                <a:spcPts val="2453"/>
              </a:lnSpc>
            </a:pPr>
          </a:p>
          <a:p>
            <a:pPr algn="just">
              <a:lnSpc>
                <a:spcPts val="2453"/>
              </a:lnSpc>
            </a:pPr>
            <a:r>
              <a:rPr lang="en-US" b="true" sz="1752">
                <a:solidFill>
                  <a:srgbClr val="253247"/>
                </a:solidFill>
                <a:latin typeface="Glacial Indifference Bold"/>
                <a:ea typeface="Glacial Indifference Bold"/>
                <a:cs typeface="Glacial Indifference Bold"/>
                <a:sym typeface="Glacial Indifference Bold"/>
              </a:rPr>
              <a:t>Key Steps Taken:</a:t>
            </a:r>
          </a:p>
          <a:p>
            <a:pPr algn="just" marL="378385" indent="-189192" lvl="1">
              <a:lnSpc>
                <a:spcPts val="2453"/>
              </a:lnSpc>
              <a:spcBef>
                <a:spcPct val="0"/>
              </a:spcBef>
              <a:buFont typeface="Arial"/>
              <a:buChar char="•"/>
            </a:pPr>
            <a:r>
              <a:rPr lang="en-US" sz="1752">
                <a:solidFill>
                  <a:srgbClr val="253247"/>
                </a:solidFill>
                <a:latin typeface="Glacial Indifference"/>
                <a:ea typeface="Glacial Indifference"/>
                <a:cs typeface="Glacial Indifference"/>
                <a:sym typeface="Glacial Indifference"/>
              </a:rPr>
              <a:t>Ins</a:t>
            </a:r>
            <a:r>
              <a:rPr lang="en-US" sz="1752">
                <a:solidFill>
                  <a:srgbClr val="253247"/>
                </a:solidFill>
                <a:latin typeface="Glacial Indifference"/>
                <a:ea typeface="Glacial Indifference"/>
                <a:cs typeface="Glacial Indifference"/>
                <a:sym typeface="Glacial Indifference"/>
              </a:rPr>
              <a:t>pected unique values to detect irregularities.</a:t>
            </a:r>
          </a:p>
          <a:p>
            <a:pPr algn="just" marL="378385" indent="-189192" lvl="1">
              <a:lnSpc>
                <a:spcPts val="2453"/>
              </a:lnSpc>
              <a:spcBef>
                <a:spcPct val="0"/>
              </a:spcBef>
              <a:buFont typeface="Arial"/>
              <a:buChar char="•"/>
            </a:pPr>
            <a:r>
              <a:rPr lang="en-US" sz="1752">
                <a:solidFill>
                  <a:srgbClr val="253247"/>
                </a:solidFill>
                <a:latin typeface="Glacial Indifference"/>
                <a:ea typeface="Glacial Indifference"/>
                <a:cs typeface="Glacial Indifference"/>
                <a:sym typeface="Glacial Indifference"/>
              </a:rPr>
              <a:t>Cle</a:t>
            </a:r>
            <a:r>
              <a:rPr lang="en-US" sz="1752">
                <a:solidFill>
                  <a:srgbClr val="253247"/>
                </a:solidFill>
                <a:latin typeface="Glacial Indifference"/>
                <a:ea typeface="Glacial Indifference"/>
                <a:cs typeface="Glacial Indifference"/>
                <a:sym typeface="Glacial Indifference"/>
              </a:rPr>
              <a:t>ared formatting issues (e.g., commas, extra symbols).</a:t>
            </a:r>
          </a:p>
          <a:p>
            <a:pPr algn="just" marL="378385" indent="-189192" lvl="1">
              <a:lnSpc>
                <a:spcPts val="2453"/>
              </a:lnSpc>
              <a:spcBef>
                <a:spcPct val="0"/>
              </a:spcBef>
              <a:buFont typeface="Arial"/>
              <a:buChar char="•"/>
            </a:pPr>
            <a:r>
              <a:rPr lang="en-US" sz="1752">
                <a:solidFill>
                  <a:srgbClr val="253247"/>
                </a:solidFill>
                <a:latin typeface="Glacial Indifference"/>
                <a:ea typeface="Glacial Indifference"/>
                <a:cs typeface="Glacial Indifference"/>
                <a:sym typeface="Glacial Indifference"/>
              </a:rPr>
              <a:t>Prepared column for statistical calculations and modeling.</a:t>
            </a:r>
          </a:p>
          <a:p>
            <a:pPr algn="just">
              <a:lnSpc>
                <a:spcPts val="2453"/>
              </a:lnSpc>
              <a:spcBef>
                <a:spcPct val="0"/>
              </a:spcBef>
            </a:pPr>
          </a:p>
          <a:p>
            <a:pPr algn="just">
              <a:lnSpc>
                <a:spcPts val="2453"/>
              </a:lnSpc>
              <a:spcBef>
                <a:spcPct val="0"/>
              </a:spcBef>
            </a:pPr>
          </a:p>
          <a:p>
            <a:pPr algn="just">
              <a:lnSpc>
                <a:spcPts val="2453"/>
              </a:lnSpc>
              <a:spcBef>
                <a:spcPct val="0"/>
              </a:spcBef>
            </a:pPr>
          </a:p>
        </p:txBody>
      </p:sp>
      <p:sp>
        <p:nvSpPr>
          <p:cNvPr name="Freeform 17" id="17"/>
          <p:cNvSpPr/>
          <p:nvPr/>
        </p:nvSpPr>
        <p:spPr>
          <a:xfrm flipH="false" flipV="false" rot="5400000">
            <a:off x="8118543" y="3912060"/>
            <a:ext cx="405479" cy="2057400"/>
          </a:xfrm>
          <a:custGeom>
            <a:avLst/>
            <a:gdLst/>
            <a:ahLst/>
            <a:cxnLst/>
            <a:rect r="r" b="b" t="t" l="l"/>
            <a:pathLst>
              <a:path h="2057400" w="405479">
                <a:moveTo>
                  <a:pt x="0" y="0"/>
                </a:moveTo>
                <a:lnTo>
                  <a:pt x="405479" y="0"/>
                </a:lnTo>
                <a:lnTo>
                  <a:pt x="405479" y="2057400"/>
                </a:lnTo>
                <a:lnTo>
                  <a:pt x="0" y="2057400"/>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bg>
      <p:bgPr>
        <a:solidFill>
          <a:srgbClr val="D9E4EC"/>
        </a:solidFill>
      </p:bgPr>
    </p:bg>
    <p:spTree>
      <p:nvGrpSpPr>
        <p:cNvPr id="1" name=""/>
        <p:cNvGrpSpPr/>
        <p:nvPr/>
      </p:nvGrpSpPr>
      <p:grpSpPr>
        <a:xfrm>
          <a:off x="0" y="0"/>
          <a:ext cx="0" cy="0"/>
          <a:chOff x="0" y="0"/>
          <a:chExt cx="0" cy="0"/>
        </a:xfrm>
      </p:grpSpPr>
      <p:sp>
        <p:nvSpPr>
          <p:cNvPr name="Freeform 2" id="2"/>
          <p:cNvSpPr/>
          <p:nvPr/>
        </p:nvSpPr>
        <p:spPr>
          <a:xfrm flipH="true" flipV="true" rot="0">
            <a:off x="15335897" y="-291796"/>
            <a:ext cx="2952103" cy="2944723"/>
          </a:xfrm>
          <a:custGeom>
            <a:avLst/>
            <a:gdLst/>
            <a:ahLst/>
            <a:cxnLst/>
            <a:rect r="r" b="b" t="t" l="l"/>
            <a:pathLst>
              <a:path h="2944723" w="2952103">
                <a:moveTo>
                  <a:pt x="2952103" y="2944722"/>
                </a:moveTo>
                <a:lnTo>
                  <a:pt x="0" y="2944722"/>
                </a:lnTo>
                <a:lnTo>
                  <a:pt x="0" y="0"/>
                </a:lnTo>
                <a:lnTo>
                  <a:pt x="2952103" y="0"/>
                </a:lnTo>
                <a:lnTo>
                  <a:pt x="2952103" y="2944722"/>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8828038">
            <a:off x="4271547" y="-2750518"/>
            <a:ext cx="13665829" cy="1525700"/>
            <a:chOff x="0" y="0"/>
            <a:chExt cx="3599231" cy="401831"/>
          </a:xfrm>
        </p:grpSpPr>
        <p:sp>
          <p:nvSpPr>
            <p:cNvPr name="Freeform 4" id="4"/>
            <p:cNvSpPr/>
            <p:nvPr/>
          </p:nvSpPr>
          <p:spPr>
            <a:xfrm flipH="false" flipV="false" rot="0">
              <a:off x="0" y="0"/>
              <a:ext cx="3599231" cy="401831"/>
            </a:xfrm>
            <a:custGeom>
              <a:avLst/>
              <a:gdLst/>
              <a:ahLst/>
              <a:cxnLst/>
              <a:rect r="r" b="b" t="t" l="l"/>
              <a:pathLst>
                <a:path h="401831" w="3599231">
                  <a:moveTo>
                    <a:pt x="203200" y="0"/>
                  </a:moveTo>
                  <a:lnTo>
                    <a:pt x="3599231" y="0"/>
                  </a:lnTo>
                  <a:lnTo>
                    <a:pt x="3396031" y="401831"/>
                  </a:lnTo>
                  <a:lnTo>
                    <a:pt x="0" y="401831"/>
                  </a:lnTo>
                  <a:lnTo>
                    <a:pt x="203200" y="0"/>
                  </a:lnTo>
                  <a:close/>
                </a:path>
              </a:pathLst>
            </a:custGeom>
            <a:solidFill>
              <a:srgbClr val="578EAF"/>
            </a:solidFill>
          </p:spPr>
        </p:sp>
        <p:sp>
          <p:nvSpPr>
            <p:cNvPr name="TextBox 5" id="5"/>
            <p:cNvSpPr txBox="true"/>
            <p:nvPr/>
          </p:nvSpPr>
          <p:spPr>
            <a:xfrm>
              <a:off x="101600" y="-38100"/>
              <a:ext cx="3396031" cy="439931"/>
            </a:xfrm>
            <a:prstGeom prst="rect">
              <a:avLst/>
            </a:prstGeom>
          </p:spPr>
          <p:txBody>
            <a:bodyPr anchor="ctr" rtlCol="false" tIns="50800" lIns="50800" bIns="50800" rIns="50800"/>
            <a:lstStyle/>
            <a:p>
              <a:pPr algn="ctr">
                <a:lnSpc>
                  <a:spcPts val="2659"/>
                </a:lnSpc>
              </a:pPr>
            </a:p>
          </p:txBody>
        </p:sp>
      </p:grpSp>
      <p:grpSp>
        <p:nvGrpSpPr>
          <p:cNvPr name="Group 6" id="6"/>
          <p:cNvGrpSpPr/>
          <p:nvPr/>
        </p:nvGrpSpPr>
        <p:grpSpPr>
          <a:xfrm rot="-9061468">
            <a:off x="-3088929" y="-1143254"/>
            <a:ext cx="10495456" cy="1412986"/>
            <a:chOff x="0" y="0"/>
            <a:chExt cx="2764235" cy="372144"/>
          </a:xfrm>
        </p:grpSpPr>
        <p:sp>
          <p:nvSpPr>
            <p:cNvPr name="Freeform 7" id="7"/>
            <p:cNvSpPr/>
            <p:nvPr/>
          </p:nvSpPr>
          <p:spPr>
            <a:xfrm flipH="false" flipV="false" rot="0">
              <a:off x="0" y="0"/>
              <a:ext cx="2764235" cy="372144"/>
            </a:xfrm>
            <a:custGeom>
              <a:avLst/>
              <a:gdLst/>
              <a:ahLst/>
              <a:cxnLst/>
              <a:rect r="r" b="b" t="t" l="l"/>
              <a:pathLst>
                <a:path h="372144" w="2764235">
                  <a:moveTo>
                    <a:pt x="203200" y="0"/>
                  </a:moveTo>
                  <a:lnTo>
                    <a:pt x="2764235" y="0"/>
                  </a:lnTo>
                  <a:lnTo>
                    <a:pt x="2561035" y="372144"/>
                  </a:lnTo>
                  <a:lnTo>
                    <a:pt x="0" y="372144"/>
                  </a:lnTo>
                  <a:lnTo>
                    <a:pt x="203200" y="0"/>
                  </a:lnTo>
                  <a:close/>
                </a:path>
              </a:pathLst>
            </a:custGeom>
            <a:solidFill>
              <a:srgbClr val="6AABD2"/>
            </a:solidFill>
          </p:spPr>
        </p:sp>
        <p:sp>
          <p:nvSpPr>
            <p:cNvPr name="TextBox 8" id="8"/>
            <p:cNvSpPr txBox="true"/>
            <p:nvPr/>
          </p:nvSpPr>
          <p:spPr>
            <a:xfrm>
              <a:off x="101600" y="-38100"/>
              <a:ext cx="2561035" cy="410244"/>
            </a:xfrm>
            <a:prstGeom prst="rect">
              <a:avLst/>
            </a:prstGeom>
          </p:spPr>
          <p:txBody>
            <a:bodyPr anchor="ctr" rtlCol="false" tIns="50800" lIns="50800" bIns="50800" rIns="50800"/>
            <a:lstStyle/>
            <a:p>
              <a:pPr algn="ctr">
                <a:lnSpc>
                  <a:spcPts val="2659"/>
                </a:lnSpc>
              </a:pPr>
            </a:p>
          </p:txBody>
        </p:sp>
      </p:grpSp>
      <p:grpSp>
        <p:nvGrpSpPr>
          <p:cNvPr name="Group 9" id="9"/>
          <p:cNvGrpSpPr/>
          <p:nvPr/>
        </p:nvGrpSpPr>
        <p:grpSpPr>
          <a:xfrm rot="-2042265">
            <a:off x="-9170706" y="10779985"/>
            <a:ext cx="13665829" cy="1525700"/>
            <a:chOff x="0" y="0"/>
            <a:chExt cx="3599231" cy="401831"/>
          </a:xfrm>
        </p:grpSpPr>
        <p:sp>
          <p:nvSpPr>
            <p:cNvPr name="Freeform 10" id="10"/>
            <p:cNvSpPr/>
            <p:nvPr/>
          </p:nvSpPr>
          <p:spPr>
            <a:xfrm flipH="false" flipV="false" rot="0">
              <a:off x="0" y="0"/>
              <a:ext cx="3599231" cy="401831"/>
            </a:xfrm>
            <a:custGeom>
              <a:avLst/>
              <a:gdLst/>
              <a:ahLst/>
              <a:cxnLst/>
              <a:rect r="r" b="b" t="t" l="l"/>
              <a:pathLst>
                <a:path h="401831" w="3599231">
                  <a:moveTo>
                    <a:pt x="203200" y="0"/>
                  </a:moveTo>
                  <a:lnTo>
                    <a:pt x="3599231" y="0"/>
                  </a:lnTo>
                  <a:lnTo>
                    <a:pt x="3396031" y="401831"/>
                  </a:lnTo>
                  <a:lnTo>
                    <a:pt x="0" y="401831"/>
                  </a:lnTo>
                  <a:lnTo>
                    <a:pt x="203200" y="0"/>
                  </a:lnTo>
                  <a:close/>
                </a:path>
              </a:pathLst>
            </a:custGeom>
            <a:solidFill>
              <a:srgbClr val="578EAF"/>
            </a:solidFill>
          </p:spPr>
        </p:sp>
        <p:sp>
          <p:nvSpPr>
            <p:cNvPr name="TextBox 11" id="11"/>
            <p:cNvSpPr txBox="true"/>
            <p:nvPr/>
          </p:nvSpPr>
          <p:spPr>
            <a:xfrm>
              <a:off x="101600" y="-38100"/>
              <a:ext cx="3396031" cy="439931"/>
            </a:xfrm>
            <a:prstGeom prst="rect">
              <a:avLst/>
            </a:prstGeom>
          </p:spPr>
          <p:txBody>
            <a:bodyPr anchor="ctr" rtlCol="false" tIns="50800" lIns="50800" bIns="50800" rIns="50800"/>
            <a:lstStyle/>
            <a:p>
              <a:pPr algn="ctr">
                <a:lnSpc>
                  <a:spcPts val="2659"/>
                </a:lnSpc>
              </a:pPr>
            </a:p>
          </p:txBody>
        </p:sp>
      </p:grpSp>
      <p:grpSp>
        <p:nvGrpSpPr>
          <p:cNvPr name="Group 12" id="12"/>
          <p:cNvGrpSpPr/>
          <p:nvPr/>
        </p:nvGrpSpPr>
        <p:grpSpPr>
          <a:xfrm rot="1668227">
            <a:off x="1326557" y="9102829"/>
            <a:ext cx="10495456" cy="1412986"/>
            <a:chOff x="0" y="0"/>
            <a:chExt cx="2764235" cy="372144"/>
          </a:xfrm>
        </p:grpSpPr>
        <p:sp>
          <p:nvSpPr>
            <p:cNvPr name="Freeform 13" id="13"/>
            <p:cNvSpPr/>
            <p:nvPr/>
          </p:nvSpPr>
          <p:spPr>
            <a:xfrm flipH="false" flipV="false" rot="0">
              <a:off x="0" y="0"/>
              <a:ext cx="2764235" cy="372144"/>
            </a:xfrm>
            <a:custGeom>
              <a:avLst/>
              <a:gdLst/>
              <a:ahLst/>
              <a:cxnLst/>
              <a:rect r="r" b="b" t="t" l="l"/>
              <a:pathLst>
                <a:path h="372144" w="2764235">
                  <a:moveTo>
                    <a:pt x="203200" y="0"/>
                  </a:moveTo>
                  <a:lnTo>
                    <a:pt x="2764235" y="0"/>
                  </a:lnTo>
                  <a:lnTo>
                    <a:pt x="2561035" y="372144"/>
                  </a:lnTo>
                  <a:lnTo>
                    <a:pt x="0" y="372144"/>
                  </a:lnTo>
                  <a:lnTo>
                    <a:pt x="203200" y="0"/>
                  </a:lnTo>
                  <a:close/>
                </a:path>
              </a:pathLst>
            </a:custGeom>
            <a:solidFill>
              <a:srgbClr val="6AABD2"/>
            </a:solidFill>
          </p:spPr>
        </p:sp>
        <p:sp>
          <p:nvSpPr>
            <p:cNvPr name="TextBox 14" id="14"/>
            <p:cNvSpPr txBox="true"/>
            <p:nvPr/>
          </p:nvSpPr>
          <p:spPr>
            <a:xfrm>
              <a:off x="101600" y="-38100"/>
              <a:ext cx="2561035" cy="410244"/>
            </a:xfrm>
            <a:prstGeom prst="rect">
              <a:avLst/>
            </a:prstGeom>
          </p:spPr>
          <p:txBody>
            <a:bodyPr anchor="ctr" rtlCol="false" tIns="50800" lIns="50800" bIns="50800" rIns="50800"/>
            <a:lstStyle/>
            <a:p>
              <a:pPr algn="ctr">
                <a:lnSpc>
                  <a:spcPts val="2659"/>
                </a:lnSpc>
              </a:pPr>
            </a:p>
          </p:txBody>
        </p:sp>
      </p:grpSp>
      <p:sp>
        <p:nvSpPr>
          <p:cNvPr name="Freeform 15" id="15"/>
          <p:cNvSpPr/>
          <p:nvPr/>
        </p:nvSpPr>
        <p:spPr>
          <a:xfrm flipH="false" flipV="false" rot="0">
            <a:off x="493170" y="4116812"/>
            <a:ext cx="8538403" cy="2053375"/>
          </a:xfrm>
          <a:custGeom>
            <a:avLst/>
            <a:gdLst/>
            <a:ahLst/>
            <a:cxnLst/>
            <a:rect r="r" b="b" t="t" l="l"/>
            <a:pathLst>
              <a:path h="2053375" w="8538403">
                <a:moveTo>
                  <a:pt x="0" y="0"/>
                </a:moveTo>
                <a:lnTo>
                  <a:pt x="8538403" y="0"/>
                </a:lnTo>
                <a:lnTo>
                  <a:pt x="8538403" y="2053376"/>
                </a:lnTo>
                <a:lnTo>
                  <a:pt x="0" y="2053376"/>
                </a:lnTo>
                <a:lnTo>
                  <a:pt x="0" y="0"/>
                </a:lnTo>
                <a:close/>
              </a:path>
            </a:pathLst>
          </a:custGeom>
          <a:blipFill>
            <a:blip r:embed="rId4"/>
            <a:stretch>
              <a:fillRect l="0" t="0" r="0" b="0"/>
            </a:stretch>
          </a:blipFill>
        </p:spPr>
      </p:sp>
      <p:sp>
        <p:nvSpPr>
          <p:cNvPr name="TextBox 16" id="16"/>
          <p:cNvSpPr txBox="true"/>
          <p:nvPr/>
        </p:nvSpPr>
        <p:spPr>
          <a:xfrm rot="0">
            <a:off x="9368709" y="1934118"/>
            <a:ext cx="8320939" cy="7875204"/>
          </a:xfrm>
          <a:prstGeom prst="rect">
            <a:avLst/>
          </a:prstGeom>
        </p:spPr>
        <p:txBody>
          <a:bodyPr anchor="t" rtlCol="false" tIns="0" lIns="0" bIns="0" rIns="0">
            <a:spAutoFit/>
          </a:bodyPr>
          <a:lstStyle/>
          <a:p>
            <a:pPr algn="just">
              <a:lnSpc>
                <a:spcPts val="3013"/>
              </a:lnSpc>
            </a:pPr>
          </a:p>
          <a:p>
            <a:pPr algn="just">
              <a:lnSpc>
                <a:spcPts val="3013"/>
              </a:lnSpc>
            </a:pPr>
          </a:p>
          <a:p>
            <a:pPr algn="just">
              <a:lnSpc>
                <a:spcPts val="3293"/>
              </a:lnSpc>
              <a:spcBef>
                <a:spcPct val="0"/>
              </a:spcBef>
            </a:pPr>
            <a:r>
              <a:rPr lang="en-US" b="true" sz="2352">
                <a:solidFill>
                  <a:srgbClr val="253247"/>
                </a:solidFill>
                <a:latin typeface="Glacial Indifference Bold"/>
                <a:ea typeface="Glacial Indifference Bold"/>
                <a:cs typeface="Glacial Indifference Bold"/>
                <a:sym typeface="Glacial Indifference Bold"/>
              </a:rPr>
              <a:t>F</a:t>
            </a:r>
            <a:r>
              <a:rPr lang="en-US" b="true" sz="2352">
                <a:solidFill>
                  <a:srgbClr val="253247"/>
                </a:solidFill>
                <a:latin typeface="Glacial Indifference Bold"/>
                <a:ea typeface="Glacial Indifference Bold"/>
                <a:cs typeface="Glacial Indifference Bold"/>
                <a:sym typeface="Glacial Indifference Bold"/>
              </a:rPr>
              <a:t>inal Dataset Integration</a:t>
            </a:r>
          </a:p>
          <a:p>
            <a:pPr algn="just">
              <a:lnSpc>
                <a:spcPts val="2733"/>
              </a:lnSpc>
              <a:spcBef>
                <a:spcPct val="0"/>
              </a:spcBef>
            </a:pPr>
          </a:p>
          <a:p>
            <a:pPr algn="just" marL="421564" indent="-210782" lvl="1">
              <a:lnSpc>
                <a:spcPts val="2733"/>
              </a:lnSpc>
              <a:buFont typeface="Arial"/>
              <a:buChar char="•"/>
            </a:pPr>
            <a:r>
              <a:rPr lang="en-US" b="true" sz="1952">
                <a:solidFill>
                  <a:srgbClr val="253247"/>
                </a:solidFill>
                <a:latin typeface="Glacial Indifference Bold"/>
                <a:ea typeface="Glacial Indifference Bold"/>
                <a:cs typeface="Glacial Indifference Bold"/>
                <a:sym typeface="Glacial Indifference Bold"/>
              </a:rPr>
              <a:t>Steps</a:t>
            </a:r>
            <a:r>
              <a:rPr lang="en-US" b="true" sz="1952">
                <a:solidFill>
                  <a:srgbClr val="253247"/>
                </a:solidFill>
                <a:latin typeface="Glacial Indifference Bold"/>
                <a:ea typeface="Glacial Indifference Bold"/>
                <a:cs typeface="Glacial Indifference Bold"/>
                <a:sym typeface="Glacial Indifference Bold"/>
              </a:rPr>
              <a:t> Taken:</a:t>
            </a:r>
          </a:p>
          <a:p>
            <a:pPr algn="just" marL="843127" indent="-281042" lvl="2">
              <a:lnSpc>
                <a:spcPts val="2733"/>
              </a:lnSpc>
              <a:buFont typeface="Arial"/>
              <a:buChar char="⚬"/>
            </a:pPr>
            <a:r>
              <a:rPr lang="en-US" sz="1952">
                <a:solidFill>
                  <a:srgbClr val="253247"/>
                </a:solidFill>
                <a:latin typeface="Glacial Indifference"/>
                <a:ea typeface="Glacial Indifference"/>
                <a:cs typeface="Glacial Indifference"/>
                <a:sym typeface="Glacial Indifference"/>
              </a:rPr>
              <a:t>Used bind_rows() to merge cleanpropertydataset1 and cleanpropertydataset2 into a unified dataset (all_properties_data)</a:t>
            </a:r>
          </a:p>
          <a:p>
            <a:pPr algn="just" marL="843127" indent="-281042" lvl="2">
              <a:lnSpc>
                <a:spcPts val="2733"/>
              </a:lnSpc>
              <a:buFont typeface="Arial"/>
              <a:buChar char="⚬"/>
            </a:pPr>
            <a:r>
              <a:rPr lang="en-US" sz="1952">
                <a:solidFill>
                  <a:srgbClr val="253247"/>
                </a:solidFill>
                <a:latin typeface="Glacial Indifference"/>
                <a:ea typeface="Glacial Indifference"/>
                <a:cs typeface="Glacial Indifference"/>
                <a:sym typeface="Glacial Indifference"/>
              </a:rPr>
              <a:t>Ensured consistent column names and formats between datasets</a:t>
            </a:r>
          </a:p>
          <a:p>
            <a:pPr algn="just" marL="843127" indent="-281042" lvl="2">
              <a:lnSpc>
                <a:spcPts val="2733"/>
              </a:lnSpc>
              <a:buFont typeface="Arial"/>
              <a:buChar char="⚬"/>
            </a:pPr>
            <a:r>
              <a:rPr lang="en-US" sz="1952">
                <a:solidFill>
                  <a:srgbClr val="253247"/>
                </a:solidFill>
                <a:latin typeface="Glacial Indifference"/>
                <a:ea typeface="Glacial Indifference"/>
                <a:cs typeface="Glacial Indifference"/>
                <a:sym typeface="Glacial Indifference"/>
              </a:rPr>
              <a:t>Verified data types, summary statistics, and u</a:t>
            </a:r>
            <a:r>
              <a:rPr lang="en-US" sz="1952">
                <a:solidFill>
                  <a:srgbClr val="253247"/>
                </a:solidFill>
                <a:latin typeface="Glacial Indifference"/>
                <a:ea typeface="Glacial Indifference"/>
                <a:cs typeface="Glacial Indifference"/>
                <a:sym typeface="Glacial Indifference"/>
              </a:rPr>
              <a:t>niqu</a:t>
            </a:r>
            <a:r>
              <a:rPr lang="en-US" sz="1952">
                <a:solidFill>
                  <a:srgbClr val="253247"/>
                </a:solidFill>
                <a:latin typeface="Glacial Indifference"/>
                <a:ea typeface="Glacial Indifference"/>
                <a:cs typeface="Glacial Indifference"/>
                <a:sym typeface="Glacial Indifference"/>
              </a:rPr>
              <a:t>e property types in the combined dataset</a:t>
            </a:r>
          </a:p>
          <a:p>
            <a:pPr algn="just">
              <a:lnSpc>
                <a:spcPts val="2733"/>
              </a:lnSpc>
            </a:pPr>
          </a:p>
          <a:p>
            <a:pPr algn="just">
              <a:lnSpc>
                <a:spcPts val="2733"/>
              </a:lnSpc>
            </a:pPr>
            <a:r>
              <a:rPr lang="en-US" b="true" sz="1952">
                <a:solidFill>
                  <a:srgbClr val="253247"/>
                </a:solidFill>
                <a:latin typeface="Glacial Indifference Bold"/>
                <a:ea typeface="Glacial Indifference Bold"/>
                <a:cs typeface="Glacial Indifference Bold"/>
                <a:sym typeface="Glacial Indifference Bold"/>
              </a:rPr>
              <a:t>Validation Checks Performed:</a:t>
            </a:r>
          </a:p>
          <a:p>
            <a:pPr algn="just" marL="421564" indent="-210782" lvl="1">
              <a:lnSpc>
                <a:spcPts val="2733"/>
              </a:lnSpc>
              <a:buFont typeface="Arial"/>
              <a:buChar char="•"/>
            </a:pPr>
            <a:r>
              <a:rPr lang="en-US" b="true" sz="1952">
                <a:solidFill>
                  <a:srgbClr val="253247"/>
                </a:solidFill>
                <a:latin typeface="Glacial Indifference Bold"/>
                <a:ea typeface="Glacial Indifference Bold"/>
                <a:cs typeface="Glacial Indifference Bold"/>
                <a:sym typeface="Glacial Indifference Bold"/>
              </a:rPr>
              <a:t>str(): </a:t>
            </a:r>
            <a:r>
              <a:rPr lang="en-US" sz="1952">
                <a:solidFill>
                  <a:srgbClr val="253247"/>
                </a:solidFill>
                <a:latin typeface="Glacial Indifference"/>
                <a:ea typeface="Glacial Indifference"/>
                <a:cs typeface="Glacial Indifference"/>
                <a:sym typeface="Glacial Indifference"/>
              </a:rPr>
              <a:t>Validated data structure</a:t>
            </a:r>
          </a:p>
          <a:p>
            <a:pPr algn="just" marL="421564" indent="-210782" lvl="1">
              <a:lnSpc>
                <a:spcPts val="2733"/>
              </a:lnSpc>
              <a:buFont typeface="Arial"/>
              <a:buChar char="•"/>
            </a:pPr>
            <a:r>
              <a:rPr lang="en-US" b="true" sz="1952">
                <a:solidFill>
                  <a:srgbClr val="253247"/>
                </a:solidFill>
                <a:latin typeface="Glacial Indifference Bold"/>
                <a:ea typeface="Glacial Indifference Bold"/>
                <a:cs typeface="Glacial Indifference Bold"/>
                <a:sym typeface="Glacial Indifference Bold"/>
              </a:rPr>
              <a:t>summar</a:t>
            </a:r>
            <a:r>
              <a:rPr lang="en-US" b="true" sz="1952">
                <a:solidFill>
                  <a:srgbClr val="253247"/>
                </a:solidFill>
                <a:latin typeface="Glacial Indifference Bold"/>
                <a:ea typeface="Glacial Indifference Bold"/>
                <a:cs typeface="Glacial Indifference Bold"/>
                <a:sym typeface="Glacial Indifference Bold"/>
              </a:rPr>
              <a:t>y(): </a:t>
            </a:r>
            <a:r>
              <a:rPr lang="en-US" sz="1952">
                <a:solidFill>
                  <a:srgbClr val="253247"/>
                </a:solidFill>
                <a:latin typeface="Glacial Indifference"/>
                <a:ea typeface="Glacial Indifference"/>
                <a:cs typeface="Glacial Indifference"/>
                <a:sym typeface="Glacial Indifference"/>
              </a:rPr>
              <a:t>Ensured correct summary statistics</a:t>
            </a:r>
          </a:p>
          <a:p>
            <a:pPr algn="just" marL="421564" indent="-210782" lvl="1">
              <a:lnSpc>
                <a:spcPts val="2733"/>
              </a:lnSpc>
              <a:spcBef>
                <a:spcPct val="0"/>
              </a:spcBef>
              <a:buFont typeface="Arial"/>
              <a:buChar char="•"/>
            </a:pPr>
            <a:r>
              <a:rPr lang="en-US" b="true" sz="1952">
                <a:solidFill>
                  <a:srgbClr val="253247"/>
                </a:solidFill>
                <a:latin typeface="Glacial Indifference Bold"/>
                <a:ea typeface="Glacial Indifference Bold"/>
                <a:cs typeface="Glacial Indifference Bold"/>
                <a:sym typeface="Glacial Indifference Bold"/>
              </a:rPr>
              <a:t>unique(): </a:t>
            </a:r>
            <a:r>
              <a:rPr lang="en-US" sz="1952">
                <a:solidFill>
                  <a:srgbClr val="253247"/>
                </a:solidFill>
                <a:latin typeface="Glacial Indifference"/>
                <a:ea typeface="Glacial Indifference"/>
                <a:cs typeface="Glacial Indifference"/>
                <a:sym typeface="Glacial Indifference"/>
              </a:rPr>
              <a:t>Iden</a:t>
            </a:r>
            <a:r>
              <a:rPr lang="en-US" sz="1952">
                <a:solidFill>
                  <a:srgbClr val="253247"/>
                </a:solidFill>
                <a:latin typeface="Glacial Indifference"/>
                <a:ea typeface="Glacial Indifference"/>
                <a:cs typeface="Glacial Indifference"/>
                <a:sym typeface="Glacial Indifference"/>
              </a:rPr>
              <a:t>tified all unique property types for cross-verification</a:t>
            </a:r>
          </a:p>
          <a:p>
            <a:pPr algn="just">
              <a:lnSpc>
                <a:spcPts val="2733"/>
              </a:lnSpc>
              <a:spcBef>
                <a:spcPct val="0"/>
              </a:spcBef>
            </a:pPr>
          </a:p>
          <a:p>
            <a:pPr algn="just">
              <a:lnSpc>
                <a:spcPts val="2733"/>
              </a:lnSpc>
              <a:spcBef>
                <a:spcPct val="0"/>
              </a:spcBef>
            </a:pPr>
            <a:r>
              <a:rPr lang="en-US" b="true" sz="1952">
                <a:solidFill>
                  <a:srgbClr val="253247"/>
                </a:solidFill>
                <a:latin typeface="Glacial Indifference Bold"/>
                <a:ea typeface="Glacial Indifference Bold"/>
                <a:cs typeface="Glacial Indifference Bold"/>
                <a:sym typeface="Glacial Indifference Bold"/>
              </a:rPr>
              <a:t>Outcome:</a:t>
            </a:r>
          </a:p>
          <a:p>
            <a:pPr algn="just">
              <a:lnSpc>
                <a:spcPts val="2733"/>
              </a:lnSpc>
              <a:spcBef>
                <a:spcPct val="0"/>
              </a:spcBef>
            </a:pPr>
            <a:r>
              <a:rPr lang="en-US" sz="1952">
                <a:solidFill>
                  <a:srgbClr val="253247"/>
                </a:solidFill>
                <a:latin typeface="Glacial Indifference"/>
                <a:ea typeface="Glacial Indifference"/>
                <a:cs typeface="Glacial Indifference"/>
                <a:sym typeface="Glacial Indifference"/>
              </a:rPr>
              <a:t>A c</a:t>
            </a:r>
            <a:r>
              <a:rPr lang="en-US" sz="1952">
                <a:solidFill>
                  <a:srgbClr val="253247"/>
                </a:solidFill>
                <a:latin typeface="Glacial Indifference"/>
                <a:ea typeface="Glacial Indifference"/>
                <a:cs typeface="Glacial Indifference"/>
                <a:sym typeface="Glacial Indifference"/>
              </a:rPr>
              <a:t>le</a:t>
            </a:r>
            <a:r>
              <a:rPr lang="en-US" sz="1952">
                <a:solidFill>
                  <a:srgbClr val="253247"/>
                </a:solidFill>
                <a:latin typeface="Glacial Indifference"/>
                <a:ea typeface="Glacial Indifference"/>
                <a:cs typeface="Glacial Indifference"/>
                <a:sym typeface="Glacial Indifference"/>
              </a:rPr>
              <a:t>an, structured, and standardized dataset ready for detailed analysis and visualization.</a:t>
            </a:r>
          </a:p>
          <a:p>
            <a:pPr algn="just">
              <a:lnSpc>
                <a:spcPts val="2453"/>
              </a:lnSpc>
              <a:spcBef>
                <a:spcPct val="0"/>
              </a:spcBef>
            </a:pPr>
          </a:p>
          <a:p>
            <a:pPr algn="just">
              <a:lnSpc>
                <a:spcPts val="2453"/>
              </a:lnSpc>
              <a:spcBef>
                <a:spcPct val="0"/>
              </a:spcBef>
            </a:pPr>
          </a:p>
          <a:p>
            <a:pPr algn="just">
              <a:lnSpc>
                <a:spcPts val="2453"/>
              </a:lnSpc>
              <a:spcBef>
                <a:spcPct val="0"/>
              </a:spcBef>
            </a:pPr>
          </a:p>
          <a:p>
            <a:pPr algn="just">
              <a:lnSpc>
                <a:spcPts val="2453"/>
              </a:lnSpc>
              <a:spcBef>
                <a:spcPct val="0"/>
              </a:spcBef>
            </a:pPr>
          </a:p>
        </p:txBody>
      </p:sp>
      <p:sp>
        <p:nvSpPr>
          <p:cNvPr name="Freeform 17" id="17"/>
          <p:cNvSpPr/>
          <p:nvPr/>
        </p:nvSpPr>
        <p:spPr>
          <a:xfrm flipH="false" flipV="false" rot="5400000">
            <a:off x="8430673" y="4114800"/>
            <a:ext cx="405479" cy="2057400"/>
          </a:xfrm>
          <a:custGeom>
            <a:avLst/>
            <a:gdLst/>
            <a:ahLst/>
            <a:cxnLst/>
            <a:rect r="r" b="b" t="t" l="l"/>
            <a:pathLst>
              <a:path h="2057400" w="405479">
                <a:moveTo>
                  <a:pt x="0" y="0"/>
                </a:moveTo>
                <a:lnTo>
                  <a:pt x="405479" y="0"/>
                </a:lnTo>
                <a:lnTo>
                  <a:pt x="405479" y="2057400"/>
                </a:lnTo>
                <a:lnTo>
                  <a:pt x="0" y="2057400"/>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bg>
      <p:bgPr>
        <a:solidFill>
          <a:srgbClr val="D9E4EC"/>
        </a:solidFill>
      </p:bgPr>
    </p:bg>
    <p:spTree>
      <p:nvGrpSpPr>
        <p:cNvPr id="1" name=""/>
        <p:cNvGrpSpPr/>
        <p:nvPr/>
      </p:nvGrpSpPr>
      <p:grpSpPr>
        <a:xfrm>
          <a:off x="0" y="0"/>
          <a:ext cx="0" cy="0"/>
          <a:chOff x="0" y="0"/>
          <a:chExt cx="0" cy="0"/>
        </a:xfrm>
      </p:grpSpPr>
      <p:sp>
        <p:nvSpPr>
          <p:cNvPr name="Freeform 2" id="2"/>
          <p:cNvSpPr/>
          <p:nvPr/>
        </p:nvSpPr>
        <p:spPr>
          <a:xfrm flipH="true" flipV="true" rot="0">
            <a:off x="15335897" y="-291796"/>
            <a:ext cx="2952103" cy="2944723"/>
          </a:xfrm>
          <a:custGeom>
            <a:avLst/>
            <a:gdLst/>
            <a:ahLst/>
            <a:cxnLst/>
            <a:rect r="r" b="b" t="t" l="l"/>
            <a:pathLst>
              <a:path h="2944723" w="2952103">
                <a:moveTo>
                  <a:pt x="2952103" y="2944722"/>
                </a:moveTo>
                <a:lnTo>
                  <a:pt x="0" y="2944722"/>
                </a:lnTo>
                <a:lnTo>
                  <a:pt x="0" y="0"/>
                </a:lnTo>
                <a:lnTo>
                  <a:pt x="2952103" y="0"/>
                </a:lnTo>
                <a:lnTo>
                  <a:pt x="2952103" y="2944722"/>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8828038">
            <a:off x="-1851762" y="-1988584"/>
            <a:ext cx="13665829" cy="1525700"/>
            <a:chOff x="0" y="0"/>
            <a:chExt cx="3599231" cy="401831"/>
          </a:xfrm>
        </p:grpSpPr>
        <p:sp>
          <p:nvSpPr>
            <p:cNvPr name="Freeform 4" id="4"/>
            <p:cNvSpPr/>
            <p:nvPr/>
          </p:nvSpPr>
          <p:spPr>
            <a:xfrm flipH="false" flipV="false" rot="0">
              <a:off x="0" y="0"/>
              <a:ext cx="3599231" cy="401831"/>
            </a:xfrm>
            <a:custGeom>
              <a:avLst/>
              <a:gdLst/>
              <a:ahLst/>
              <a:cxnLst/>
              <a:rect r="r" b="b" t="t" l="l"/>
              <a:pathLst>
                <a:path h="401831" w="3599231">
                  <a:moveTo>
                    <a:pt x="203200" y="0"/>
                  </a:moveTo>
                  <a:lnTo>
                    <a:pt x="3599231" y="0"/>
                  </a:lnTo>
                  <a:lnTo>
                    <a:pt x="3396031" y="401831"/>
                  </a:lnTo>
                  <a:lnTo>
                    <a:pt x="0" y="401831"/>
                  </a:lnTo>
                  <a:lnTo>
                    <a:pt x="203200" y="0"/>
                  </a:lnTo>
                  <a:close/>
                </a:path>
              </a:pathLst>
            </a:custGeom>
            <a:solidFill>
              <a:srgbClr val="578EAF"/>
            </a:solidFill>
          </p:spPr>
        </p:sp>
        <p:sp>
          <p:nvSpPr>
            <p:cNvPr name="TextBox 5" id="5"/>
            <p:cNvSpPr txBox="true"/>
            <p:nvPr/>
          </p:nvSpPr>
          <p:spPr>
            <a:xfrm>
              <a:off x="101600" y="-38100"/>
              <a:ext cx="3396031" cy="439931"/>
            </a:xfrm>
            <a:prstGeom prst="rect">
              <a:avLst/>
            </a:prstGeom>
          </p:spPr>
          <p:txBody>
            <a:bodyPr anchor="ctr" rtlCol="false" tIns="50800" lIns="50800" bIns="50800" rIns="50800"/>
            <a:lstStyle/>
            <a:p>
              <a:pPr algn="ctr">
                <a:lnSpc>
                  <a:spcPts val="2659"/>
                </a:lnSpc>
              </a:pPr>
            </a:p>
          </p:txBody>
        </p:sp>
      </p:grpSp>
      <p:grpSp>
        <p:nvGrpSpPr>
          <p:cNvPr name="Group 6" id="6"/>
          <p:cNvGrpSpPr/>
          <p:nvPr/>
        </p:nvGrpSpPr>
        <p:grpSpPr>
          <a:xfrm rot="-9061468">
            <a:off x="-3088929" y="-1143254"/>
            <a:ext cx="10495456" cy="1412986"/>
            <a:chOff x="0" y="0"/>
            <a:chExt cx="2764235" cy="372144"/>
          </a:xfrm>
        </p:grpSpPr>
        <p:sp>
          <p:nvSpPr>
            <p:cNvPr name="Freeform 7" id="7"/>
            <p:cNvSpPr/>
            <p:nvPr/>
          </p:nvSpPr>
          <p:spPr>
            <a:xfrm flipH="false" flipV="false" rot="0">
              <a:off x="0" y="0"/>
              <a:ext cx="2764235" cy="372144"/>
            </a:xfrm>
            <a:custGeom>
              <a:avLst/>
              <a:gdLst/>
              <a:ahLst/>
              <a:cxnLst/>
              <a:rect r="r" b="b" t="t" l="l"/>
              <a:pathLst>
                <a:path h="372144" w="2764235">
                  <a:moveTo>
                    <a:pt x="203200" y="0"/>
                  </a:moveTo>
                  <a:lnTo>
                    <a:pt x="2764235" y="0"/>
                  </a:lnTo>
                  <a:lnTo>
                    <a:pt x="2561035" y="372144"/>
                  </a:lnTo>
                  <a:lnTo>
                    <a:pt x="0" y="372144"/>
                  </a:lnTo>
                  <a:lnTo>
                    <a:pt x="203200" y="0"/>
                  </a:lnTo>
                  <a:close/>
                </a:path>
              </a:pathLst>
            </a:custGeom>
            <a:solidFill>
              <a:srgbClr val="6AABD2"/>
            </a:solidFill>
          </p:spPr>
        </p:sp>
        <p:sp>
          <p:nvSpPr>
            <p:cNvPr name="TextBox 8" id="8"/>
            <p:cNvSpPr txBox="true"/>
            <p:nvPr/>
          </p:nvSpPr>
          <p:spPr>
            <a:xfrm>
              <a:off x="101600" y="-38100"/>
              <a:ext cx="2561035" cy="410244"/>
            </a:xfrm>
            <a:prstGeom prst="rect">
              <a:avLst/>
            </a:prstGeom>
          </p:spPr>
          <p:txBody>
            <a:bodyPr anchor="ctr" rtlCol="false" tIns="50800" lIns="50800" bIns="50800" rIns="50800"/>
            <a:lstStyle/>
            <a:p>
              <a:pPr algn="ctr">
                <a:lnSpc>
                  <a:spcPts val="2659"/>
                </a:lnSpc>
              </a:pPr>
            </a:p>
          </p:txBody>
        </p:sp>
      </p:grpSp>
      <p:grpSp>
        <p:nvGrpSpPr>
          <p:cNvPr name="Group 9" id="9"/>
          <p:cNvGrpSpPr/>
          <p:nvPr/>
        </p:nvGrpSpPr>
        <p:grpSpPr>
          <a:xfrm rot="-2042265">
            <a:off x="-5182129" y="10349294"/>
            <a:ext cx="13665829" cy="1525700"/>
            <a:chOff x="0" y="0"/>
            <a:chExt cx="3599231" cy="401831"/>
          </a:xfrm>
        </p:grpSpPr>
        <p:sp>
          <p:nvSpPr>
            <p:cNvPr name="Freeform 10" id="10"/>
            <p:cNvSpPr/>
            <p:nvPr/>
          </p:nvSpPr>
          <p:spPr>
            <a:xfrm flipH="false" flipV="false" rot="0">
              <a:off x="0" y="0"/>
              <a:ext cx="3599231" cy="401831"/>
            </a:xfrm>
            <a:custGeom>
              <a:avLst/>
              <a:gdLst/>
              <a:ahLst/>
              <a:cxnLst/>
              <a:rect r="r" b="b" t="t" l="l"/>
              <a:pathLst>
                <a:path h="401831" w="3599231">
                  <a:moveTo>
                    <a:pt x="203200" y="0"/>
                  </a:moveTo>
                  <a:lnTo>
                    <a:pt x="3599231" y="0"/>
                  </a:lnTo>
                  <a:lnTo>
                    <a:pt x="3396031" y="401831"/>
                  </a:lnTo>
                  <a:lnTo>
                    <a:pt x="0" y="401831"/>
                  </a:lnTo>
                  <a:lnTo>
                    <a:pt x="203200" y="0"/>
                  </a:lnTo>
                  <a:close/>
                </a:path>
              </a:pathLst>
            </a:custGeom>
            <a:solidFill>
              <a:srgbClr val="578EAF"/>
            </a:solidFill>
          </p:spPr>
        </p:sp>
        <p:sp>
          <p:nvSpPr>
            <p:cNvPr name="TextBox 11" id="11"/>
            <p:cNvSpPr txBox="true"/>
            <p:nvPr/>
          </p:nvSpPr>
          <p:spPr>
            <a:xfrm>
              <a:off x="101600" y="-38100"/>
              <a:ext cx="3396031" cy="439931"/>
            </a:xfrm>
            <a:prstGeom prst="rect">
              <a:avLst/>
            </a:prstGeom>
          </p:spPr>
          <p:txBody>
            <a:bodyPr anchor="ctr" rtlCol="false" tIns="50800" lIns="50800" bIns="50800" rIns="50800"/>
            <a:lstStyle/>
            <a:p>
              <a:pPr algn="ctr">
                <a:lnSpc>
                  <a:spcPts val="2659"/>
                </a:lnSpc>
              </a:pPr>
            </a:p>
          </p:txBody>
        </p:sp>
      </p:grpSp>
      <p:grpSp>
        <p:nvGrpSpPr>
          <p:cNvPr name="Group 12" id="12"/>
          <p:cNvGrpSpPr/>
          <p:nvPr/>
        </p:nvGrpSpPr>
        <p:grpSpPr>
          <a:xfrm rot="1668227">
            <a:off x="-1572499" y="8112679"/>
            <a:ext cx="10495456" cy="1412986"/>
            <a:chOff x="0" y="0"/>
            <a:chExt cx="2764235" cy="372144"/>
          </a:xfrm>
        </p:grpSpPr>
        <p:sp>
          <p:nvSpPr>
            <p:cNvPr name="Freeform 13" id="13"/>
            <p:cNvSpPr/>
            <p:nvPr/>
          </p:nvSpPr>
          <p:spPr>
            <a:xfrm flipH="false" flipV="false" rot="0">
              <a:off x="0" y="0"/>
              <a:ext cx="2764235" cy="372144"/>
            </a:xfrm>
            <a:custGeom>
              <a:avLst/>
              <a:gdLst/>
              <a:ahLst/>
              <a:cxnLst/>
              <a:rect r="r" b="b" t="t" l="l"/>
              <a:pathLst>
                <a:path h="372144" w="2764235">
                  <a:moveTo>
                    <a:pt x="203200" y="0"/>
                  </a:moveTo>
                  <a:lnTo>
                    <a:pt x="2764235" y="0"/>
                  </a:lnTo>
                  <a:lnTo>
                    <a:pt x="2561035" y="372144"/>
                  </a:lnTo>
                  <a:lnTo>
                    <a:pt x="0" y="372144"/>
                  </a:lnTo>
                  <a:lnTo>
                    <a:pt x="203200" y="0"/>
                  </a:lnTo>
                  <a:close/>
                </a:path>
              </a:pathLst>
            </a:custGeom>
            <a:solidFill>
              <a:srgbClr val="6AABD2"/>
            </a:solidFill>
          </p:spPr>
        </p:sp>
        <p:sp>
          <p:nvSpPr>
            <p:cNvPr name="TextBox 14" id="14"/>
            <p:cNvSpPr txBox="true"/>
            <p:nvPr/>
          </p:nvSpPr>
          <p:spPr>
            <a:xfrm>
              <a:off x="101600" y="-38100"/>
              <a:ext cx="2561035" cy="410244"/>
            </a:xfrm>
            <a:prstGeom prst="rect">
              <a:avLst/>
            </a:prstGeom>
          </p:spPr>
          <p:txBody>
            <a:bodyPr anchor="ctr" rtlCol="false" tIns="50800" lIns="50800" bIns="50800" rIns="50800"/>
            <a:lstStyle/>
            <a:p>
              <a:pPr algn="ctr">
                <a:lnSpc>
                  <a:spcPts val="2659"/>
                </a:lnSpc>
              </a:pPr>
            </a:p>
          </p:txBody>
        </p:sp>
      </p:grpSp>
      <p:sp>
        <p:nvSpPr>
          <p:cNvPr name="Freeform 15" id="15"/>
          <p:cNvSpPr/>
          <p:nvPr/>
        </p:nvSpPr>
        <p:spPr>
          <a:xfrm flipH="false" flipV="false" rot="0">
            <a:off x="941069" y="6813673"/>
            <a:ext cx="2435460" cy="2444627"/>
          </a:xfrm>
          <a:custGeom>
            <a:avLst/>
            <a:gdLst/>
            <a:ahLst/>
            <a:cxnLst/>
            <a:rect r="r" b="b" t="t" l="l"/>
            <a:pathLst>
              <a:path h="2444627" w="2435460">
                <a:moveTo>
                  <a:pt x="0" y="0"/>
                </a:moveTo>
                <a:lnTo>
                  <a:pt x="2435460" y="0"/>
                </a:lnTo>
                <a:lnTo>
                  <a:pt x="2435460" y="2444627"/>
                </a:lnTo>
                <a:lnTo>
                  <a:pt x="0" y="2444627"/>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16" id="16"/>
          <p:cNvSpPr txBox="true"/>
          <p:nvPr/>
        </p:nvSpPr>
        <p:spPr>
          <a:xfrm rot="0">
            <a:off x="531348" y="3232427"/>
            <a:ext cx="8115300" cy="3142118"/>
          </a:xfrm>
          <a:prstGeom prst="rect">
            <a:avLst/>
          </a:prstGeom>
        </p:spPr>
        <p:txBody>
          <a:bodyPr anchor="t" rtlCol="false" tIns="0" lIns="0" bIns="0" rIns="0">
            <a:spAutoFit/>
          </a:bodyPr>
          <a:lstStyle/>
          <a:p>
            <a:pPr algn="l">
              <a:lnSpc>
                <a:spcPts val="12662"/>
              </a:lnSpc>
            </a:pPr>
            <a:r>
              <a:rPr lang="en-US" sz="9044">
                <a:solidFill>
                  <a:srgbClr val="253247"/>
                </a:solidFill>
                <a:latin typeface="League Spartan"/>
                <a:ea typeface="League Spartan"/>
                <a:cs typeface="League Spartan"/>
                <a:sym typeface="League Spartan"/>
              </a:rPr>
              <a:t>REMOVING OUTLIERS</a:t>
            </a:r>
          </a:p>
        </p:txBody>
      </p:sp>
      <p:sp>
        <p:nvSpPr>
          <p:cNvPr name="TextBox 17" id="17"/>
          <p:cNvSpPr txBox="true"/>
          <p:nvPr/>
        </p:nvSpPr>
        <p:spPr>
          <a:xfrm rot="0">
            <a:off x="8646648" y="1398497"/>
            <a:ext cx="8390009" cy="8657840"/>
          </a:xfrm>
          <a:prstGeom prst="rect">
            <a:avLst/>
          </a:prstGeom>
        </p:spPr>
        <p:txBody>
          <a:bodyPr anchor="t" rtlCol="false" tIns="0" lIns="0" bIns="0" rIns="0">
            <a:spAutoFit/>
          </a:bodyPr>
          <a:lstStyle/>
          <a:p>
            <a:pPr algn="just">
              <a:lnSpc>
                <a:spcPts val="3521"/>
              </a:lnSpc>
              <a:spcBef>
                <a:spcPct val="0"/>
              </a:spcBef>
            </a:pPr>
            <a:r>
              <a:rPr lang="en-US" b="true" sz="2515">
                <a:solidFill>
                  <a:srgbClr val="253247"/>
                </a:solidFill>
                <a:latin typeface="Glacial Indifference Bold"/>
                <a:ea typeface="Glacial Indifference Bold"/>
                <a:cs typeface="Glacial Indifference Bold"/>
                <a:sym typeface="Glacial Indifference Bold"/>
              </a:rPr>
              <a:t>Cleaning Process Overview</a:t>
            </a:r>
          </a:p>
          <a:p>
            <a:pPr algn="just">
              <a:lnSpc>
                <a:spcPts val="2821"/>
              </a:lnSpc>
              <a:spcBef>
                <a:spcPct val="0"/>
              </a:spcBef>
            </a:pPr>
          </a:p>
          <a:p>
            <a:pPr algn="just">
              <a:lnSpc>
                <a:spcPts val="2961"/>
              </a:lnSpc>
              <a:spcBef>
                <a:spcPct val="0"/>
              </a:spcBef>
            </a:pPr>
            <a:r>
              <a:rPr lang="en-US" b="true" sz="2115">
                <a:solidFill>
                  <a:srgbClr val="253247"/>
                </a:solidFill>
                <a:latin typeface="Glacial Indifference Bold"/>
                <a:ea typeface="Glacial Indifference Bold"/>
                <a:cs typeface="Glacial Indifference Bold"/>
                <a:sym typeface="Glacial Indifference Bold"/>
              </a:rPr>
              <a:t>What Are Outliers?</a:t>
            </a:r>
          </a:p>
          <a:p>
            <a:pPr algn="just">
              <a:lnSpc>
                <a:spcPts val="2821"/>
              </a:lnSpc>
              <a:spcBef>
                <a:spcPct val="0"/>
              </a:spcBef>
            </a:pPr>
          </a:p>
          <a:p>
            <a:pPr algn="just">
              <a:lnSpc>
                <a:spcPts val="2821"/>
              </a:lnSpc>
              <a:spcBef>
                <a:spcPct val="0"/>
              </a:spcBef>
            </a:pPr>
            <a:r>
              <a:rPr lang="en-US" b="true" sz="2015">
                <a:solidFill>
                  <a:srgbClr val="253247"/>
                </a:solidFill>
                <a:latin typeface="Glacial Indifference Bold"/>
                <a:ea typeface="Glacial Indifference Bold"/>
                <a:cs typeface="Glacial Indifference Bold"/>
                <a:sym typeface="Glacial Indifference Bold"/>
              </a:rPr>
              <a:t>Definition: </a:t>
            </a:r>
            <a:r>
              <a:rPr lang="en-US" sz="2015">
                <a:solidFill>
                  <a:srgbClr val="253247"/>
                </a:solidFill>
                <a:latin typeface="Glacial Indifference"/>
                <a:ea typeface="Glacial Indifference"/>
                <a:cs typeface="Glacial Indifference"/>
                <a:sym typeface="Glacial Indifference"/>
              </a:rPr>
              <a:t>Data points significantly different from the majority of values in the dataset</a:t>
            </a:r>
          </a:p>
          <a:p>
            <a:pPr algn="just">
              <a:lnSpc>
                <a:spcPts val="2821"/>
              </a:lnSpc>
              <a:spcBef>
                <a:spcPct val="0"/>
              </a:spcBef>
            </a:pPr>
          </a:p>
          <a:p>
            <a:pPr algn="just">
              <a:lnSpc>
                <a:spcPts val="3101"/>
              </a:lnSpc>
              <a:spcBef>
                <a:spcPct val="0"/>
              </a:spcBef>
            </a:pPr>
            <a:r>
              <a:rPr lang="en-US" b="true" sz="2215">
                <a:solidFill>
                  <a:srgbClr val="253247"/>
                </a:solidFill>
                <a:latin typeface="Glacial Indifference Bold"/>
                <a:ea typeface="Glacial Indifference Bold"/>
                <a:cs typeface="Glacial Indifference Bold"/>
                <a:sym typeface="Glacial Indifference Bold"/>
              </a:rPr>
              <a:t>Impact:</a:t>
            </a:r>
          </a:p>
          <a:p>
            <a:pPr algn="just">
              <a:lnSpc>
                <a:spcPts val="3101"/>
              </a:lnSpc>
              <a:spcBef>
                <a:spcPct val="0"/>
              </a:spcBef>
            </a:pPr>
          </a:p>
          <a:p>
            <a:pPr algn="just" marL="435075" indent="-217537" lvl="1">
              <a:lnSpc>
                <a:spcPts val="2821"/>
              </a:lnSpc>
              <a:spcBef>
                <a:spcPct val="0"/>
              </a:spcBef>
              <a:buFont typeface="Arial"/>
              <a:buChar char="•"/>
            </a:pPr>
            <a:r>
              <a:rPr lang="en-US" sz="2015">
                <a:solidFill>
                  <a:srgbClr val="253247"/>
                </a:solidFill>
                <a:latin typeface="Glacial Indifference"/>
                <a:ea typeface="Glacial Indifference"/>
                <a:cs typeface="Glacial Indifference"/>
                <a:sym typeface="Glacial Indifference"/>
              </a:rPr>
              <a:t>Skew statistical analysis</a:t>
            </a:r>
          </a:p>
          <a:p>
            <a:pPr algn="just" marL="435075" indent="-217537" lvl="1">
              <a:lnSpc>
                <a:spcPts val="2821"/>
              </a:lnSpc>
              <a:spcBef>
                <a:spcPct val="0"/>
              </a:spcBef>
              <a:buFont typeface="Arial"/>
              <a:buChar char="•"/>
            </a:pPr>
            <a:r>
              <a:rPr lang="en-US" sz="2015">
                <a:solidFill>
                  <a:srgbClr val="253247"/>
                </a:solidFill>
                <a:latin typeface="Glacial Indifference"/>
                <a:ea typeface="Glacial Indifference"/>
                <a:cs typeface="Glacial Indifference"/>
                <a:sym typeface="Glacial Indifference"/>
              </a:rPr>
              <a:t>Reduce the accuracy of predictive models</a:t>
            </a:r>
          </a:p>
          <a:p>
            <a:pPr algn="just" marL="435075" indent="-217537" lvl="1">
              <a:lnSpc>
                <a:spcPts val="2821"/>
              </a:lnSpc>
              <a:spcBef>
                <a:spcPct val="0"/>
              </a:spcBef>
              <a:buFont typeface="Arial"/>
              <a:buChar char="•"/>
            </a:pPr>
            <a:r>
              <a:rPr lang="en-US" sz="2015">
                <a:solidFill>
                  <a:srgbClr val="253247"/>
                </a:solidFill>
                <a:latin typeface="Glacial Indifference"/>
                <a:ea typeface="Glacial Indifference"/>
                <a:cs typeface="Glacial Indifference"/>
                <a:sym typeface="Glacial Indifference"/>
              </a:rPr>
              <a:t>Obscure meaningful patterns</a:t>
            </a:r>
          </a:p>
          <a:p>
            <a:pPr algn="just">
              <a:lnSpc>
                <a:spcPts val="2821"/>
              </a:lnSpc>
              <a:spcBef>
                <a:spcPct val="0"/>
              </a:spcBef>
            </a:pPr>
          </a:p>
          <a:p>
            <a:pPr algn="just">
              <a:lnSpc>
                <a:spcPts val="2961"/>
              </a:lnSpc>
              <a:spcBef>
                <a:spcPct val="0"/>
              </a:spcBef>
            </a:pPr>
            <a:r>
              <a:rPr lang="en-US" b="true" sz="2115">
                <a:solidFill>
                  <a:srgbClr val="253247"/>
                </a:solidFill>
                <a:latin typeface="Glacial Indifference Bold"/>
                <a:ea typeface="Glacial Indifference Bold"/>
                <a:cs typeface="Glacial Indifference Bold"/>
                <a:sym typeface="Glacial Indifference Bold"/>
              </a:rPr>
              <a:t>Identifying Outliers in the price Column</a:t>
            </a:r>
          </a:p>
          <a:p>
            <a:pPr algn="just">
              <a:lnSpc>
                <a:spcPts val="2821"/>
              </a:lnSpc>
              <a:spcBef>
                <a:spcPct val="0"/>
              </a:spcBef>
            </a:pPr>
          </a:p>
          <a:p>
            <a:pPr algn="just">
              <a:lnSpc>
                <a:spcPts val="2821"/>
              </a:lnSpc>
              <a:spcBef>
                <a:spcPct val="0"/>
              </a:spcBef>
            </a:pPr>
            <a:r>
              <a:rPr lang="en-US" b="true" sz="2015">
                <a:solidFill>
                  <a:srgbClr val="253247"/>
                </a:solidFill>
                <a:latin typeface="Glacial Indifference Bold"/>
                <a:ea typeface="Glacial Indifference Bold"/>
                <a:cs typeface="Glacial Indifference Bold"/>
                <a:sym typeface="Glacial Indifference Bold"/>
              </a:rPr>
              <a:t>Method Used:</a:t>
            </a:r>
            <a:r>
              <a:rPr lang="en-US" sz="2015">
                <a:solidFill>
                  <a:srgbClr val="253247"/>
                </a:solidFill>
                <a:latin typeface="Glacial Indifference"/>
                <a:ea typeface="Glacial Indifference"/>
                <a:cs typeface="Glacial Indifference"/>
                <a:sym typeface="Glacial Indifference"/>
              </a:rPr>
              <a:t> Interquartile Range (IQR)</a:t>
            </a:r>
          </a:p>
          <a:p>
            <a:pPr algn="just">
              <a:lnSpc>
                <a:spcPts val="2821"/>
              </a:lnSpc>
              <a:spcBef>
                <a:spcPct val="0"/>
              </a:spcBef>
            </a:pPr>
            <a:r>
              <a:rPr lang="en-US" b="true" sz="2015">
                <a:solidFill>
                  <a:srgbClr val="253247"/>
                </a:solidFill>
                <a:latin typeface="Glacial Indifference Bold"/>
                <a:ea typeface="Glacial Indifference Bold"/>
                <a:cs typeface="Glacial Indifference Bold"/>
                <a:sym typeface="Glacial Indifference Bold"/>
              </a:rPr>
              <a:t>Q1: </a:t>
            </a:r>
            <a:r>
              <a:rPr lang="en-US" sz="2015">
                <a:solidFill>
                  <a:srgbClr val="253247"/>
                </a:solidFill>
                <a:latin typeface="Glacial Indifference"/>
                <a:ea typeface="Glacial Indifference"/>
                <a:cs typeface="Glacial Indifference"/>
                <a:sym typeface="Glacial Indifference"/>
              </a:rPr>
              <a:t>25th percentile</a:t>
            </a:r>
          </a:p>
          <a:p>
            <a:pPr algn="just">
              <a:lnSpc>
                <a:spcPts val="2821"/>
              </a:lnSpc>
              <a:spcBef>
                <a:spcPct val="0"/>
              </a:spcBef>
            </a:pPr>
            <a:r>
              <a:rPr lang="en-US" b="true" sz="2015">
                <a:solidFill>
                  <a:srgbClr val="253247"/>
                </a:solidFill>
                <a:latin typeface="Glacial Indifference Bold"/>
                <a:ea typeface="Glacial Indifference Bold"/>
                <a:cs typeface="Glacial Indifference Bold"/>
                <a:sym typeface="Glacial Indifference Bold"/>
              </a:rPr>
              <a:t>Q3: </a:t>
            </a:r>
            <a:r>
              <a:rPr lang="en-US" sz="2015">
                <a:solidFill>
                  <a:srgbClr val="253247"/>
                </a:solidFill>
                <a:latin typeface="Glacial Indifference"/>
                <a:ea typeface="Glacial Indifference"/>
                <a:cs typeface="Glacial Indifference"/>
                <a:sym typeface="Glacial Indifference"/>
              </a:rPr>
              <a:t>75th percentile</a:t>
            </a:r>
          </a:p>
          <a:p>
            <a:pPr algn="just">
              <a:lnSpc>
                <a:spcPts val="2821"/>
              </a:lnSpc>
              <a:spcBef>
                <a:spcPct val="0"/>
              </a:spcBef>
            </a:pPr>
            <a:r>
              <a:rPr lang="en-US" b="true" sz="2015">
                <a:solidFill>
                  <a:srgbClr val="253247"/>
                </a:solidFill>
                <a:latin typeface="Glacial Indifference Bold"/>
                <a:ea typeface="Glacial Indifference Bold"/>
                <a:cs typeface="Glacial Indifference Bold"/>
                <a:sym typeface="Glacial Indifference Bold"/>
              </a:rPr>
              <a:t>IQR: </a:t>
            </a:r>
            <a:r>
              <a:rPr lang="en-US" sz="2015">
                <a:solidFill>
                  <a:srgbClr val="253247"/>
                </a:solidFill>
                <a:latin typeface="Glacial Indifference"/>
                <a:ea typeface="Glacial Indifference"/>
                <a:cs typeface="Glacial Indifference"/>
                <a:sym typeface="Glacial Indifference"/>
              </a:rPr>
              <a:t>Q3 - Q1</a:t>
            </a:r>
          </a:p>
          <a:p>
            <a:pPr algn="just">
              <a:lnSpc>
                <a:spcPts val="2821"/>
              </a:lnSpc>
              <a:spcBef>
                <a:spcPct val="0"/>
              </a:spcBef>
            </a:pPr>
            <a:r>
              <a:rPr lang="en-US" b="true" sz="2015">
                <a:solidFill>
                  <a:srgbClr val="253247"/>
                </a:solidFill>
                <a:latin typeface="Glacial Indifference Bold"/>
                <a:ea typeface="Glacial Indifference Bold"/>
                <a:cs typeface="Glacial Indifference Bold"/>
                <a:sym typeface="Glacial Indifference Bold"/>
              </a:rPr>
              <a:t>Bounds:</a:t>
            </a:r>
          </a:p>
          <a:p>
            <a:pPr algn="just" marL="435075" indent="-217537" lvl="1">
              <a:lnSpc>
                <a:spcPts val="2821"/>
              </a:lnSpc>
              <a:spcBef>
                <a:spcPct val="0"/>
              </a:spcBef>
              <a:buFont typeface="Arial"/>
              <a:buChar char="•"/>
            </a:pPr>
            <a:r>
              <a:rPr lang="en-US" b="true" sz="2015">
                <a:solidFill>
                  <a:srgbClr val="253247"/>
                </a:solidFill>
                <a:latin typeface="Glacial Indifference Bold"/>
                <a:ea typeface="Glacial Indifference Bold"/>
                <a:cs typeface="Glacial Indifference Bold"/>
                <a:sym typeface="Glacial Indifference Bold"/>
              </a:rPr>
              <a:t>Lower Bound = </a:t>
            </a:r>
            <a:r>
              <a:rPr lang="en-US" sz="2015">
                <a:solidFill>
                  <a:srgbClr val="253247"/>
                </a:solidFill>
                <a:latin typeface="Glacial Indifference"/>
                <a:ea typeface="Glacial Indifference"/>
                <a:cs typeface="Glacial Indifference"/>
                <a:sym typeface="Glacial Indifference"/>
              </a:rPr>
              <a:t>Q1−1.5×IQRQ1 - 1.5 \times IQRQ1−1.5×IQR</a:t>
            </a:r>
          </a:p>
          <a:p>
            <a:pPr algn="just" marL="435075" indent="-217537" lvl="1">
              <a:lnSpc>
                <a:spcPts val="2821"/>
              </a:lnSpc>
              <a:spcBef>
                <a:spcPct val="0"/>
              </a:spcBef>
              <a:buFont typeface="Arial"/>
              <a:buChar char="•"/>
            </a:pPr>
            <a:r>
              <a:rPr lang="en-US" b="true" sz="2015">
                <a:solidFill>
                  <a:srgbClr val="253247"/>
                </a:solidFill>
                <a:latin typeface="Glacial Indifference Bold"/>
                <a:ea typeface="Glacial Indifference Bold"/>
                <a:cs typeface="Glacial Indifference Bold"/>
                <a:sym typeface="Glacial Indifference Bold"/>
              </a:rPr>
              <a:t>Upper Bound = </a:t>
            </a:r>
            <a:r>
              <a:rPr lang="en-US" sz="2015">
                <a:solidFill>
                  <a:srgbClr val="253247"/>
                </a:solidFill>
                <a:latin typeface="Glacial Indifference"/>
                <a:ea typeface="Glacial Indifference"/>
                <a:cs typeface="Glacial Indifference"/>
                <a:sym typeface="Glacial Indifference"/>
              </a:rPr>
              <a:t>Q3+1.5×IQRQ3 + 1.5 \times IQRQ3+1.5×IQR</a:t>
            </a:r>
          </a:p>
          <a:p>
            <a:pPr algn="just" marL="435075" indent="-217537" lvl="1">
              <a:lnSpc>
                <a:spcPts val="2821"/>
              </a:lnSpc>
              <a:spcBef>
                <a:spcPct val="0"/>
              </a:spcBef>
              <a:buFont typeface="Arial"/>
              <a:buChar char="•"/>
            </a:pPr>
            <a:r>
              <a:rPr lang="en-US" b="true" sz="2015">
                <a:solidFill>
                  <a:srgbClr val="253247"/>
                </a:solidFill>
                <a:latin typeface="Glacial Indifference Bold"/>
                <a:ea typeface="Glacial Indifference Bold"/>
                <a:cs typeface="Glacial Indifference Bold"/>
                <a:sym typeface="Glacial Indifference Bold"/>
              </a:rPr>
              <a:t>Outliers lie outside these bounds</a:t>
            </a:r>
          </a:p>
          <a:p>
            <a:pPr algn="just">
              <a:lnSpc>
                <a:spcPts val="2821"/>
              </a:lnSpc>
              <a:spcBef>
                <a:spcPct val="0"/>
              </a:spcBef>
            </a:pPr>
          </a:p>
        </p:txBody>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bg>
      <p:bgPr>
        <a:solidFill>
          <a:srgbClr val="D9E4EC"/>
        </a:solidFill>
      </p:bgPr>
    </p:bg>
    <p:spTree>
      <p:nvGrpSpPr>
        <p:cNvPr id="1" name=""/>
        <p:cNvGrpSpPr/>
        <p:nvPr/>
      </p:nvGrpSpPr>
      <p:grpSpPr>
        <a:xfrm>
          <a:off x="0" y="0"/>
          <a:ext cx="0" cy="0"/>
          <a:chOff x="0" y="0"/>
          <a:chExt cx="0" cy="0"/>
        </a:xfrm>
      </p:grpSpPr>
      <p:sp>
        <p:nvSpPr>
          <p:cNvPr name="Freeform 2" id="2"/>
          <p:cNvSpPr/>
          <p:nvPr/>
        </p:nvSpPr>
        <p:spPr>
          <a:xfrm flipH="true" flipV="true" rot="0">
            <a:off x="15335897" y="-291796"/>
            <a:ext cx="2952103" cy="2944723"/>
          </a:xfrm>
          <a:custGeom>
            <a:avLst/>
            <a:gdLst/>
            <a:ahLst/>
            <a:cxnLst/>
            <a:rect r="r" b="b" t="t" l="l"/>
            <a:pathLst>
              <a:path h="2944723" w="2952103">
                <a:moveTo>
                  <a:pt x="2952103" y="2944722"/>
                </a:moveTo>
                <a:lnTo>
                  <a:pt x="0" y="2944722"/>
                </a:lnTo>
                <a:lnTo>
                  <a:pt x="0" y="0"/>
                </a:lnTo>
                <a:lnTo>
                  <a:pt x="2952103" y="0"/>
                </a:lnTo>
                <a:lnTo>
                  <a:pt x="2952103" y="2944722"/>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8828038">
            <a:off x="4271547" y="-2750518"/>
            <a:ext cx="13665829" cy="1525700"/>
            <a:chOff x="0" y="0"/>
            <a:chExt cx="3599231" cy="401831"/>
          </a:xfrm>
        </p:grpSpPr>
        <p:sp>
          <p:nvSpPr>
            <p:cNvPr name="Freeform 4" id="4"/>
            <p:cNvSpPr/>
            <p:nvPr/>
          </p:nvSpPr>
          <p:spPr>
            <a:xfrm flipH="false" flipV="false" rot="0">
              <a:off x="0" y="0"/>
              <a:ext cx="3599231" cy="401831"/>
            </a:xfrm>
            <a:custGeom>
              <a:avLst/>
              <a:gdLst/>
              <a:ahLst/>
              <a:cxnLst/>
              <a:rect r="r" b="b" t="t" l="l"/>
              <a:pathLst>
                <a:path h="401831" w="3599231">
                  <a:moveTo>
                    <a:pt x="203200" y="0"/>
                  </a:moveTo>
                  <a:lnTo>
                    <a:pt x="3599231" y="0"/>
                  </a:lnTo>
                  <a:lnTo>
                    <a:pt x="3396031" y="401831"/>
                  </a:lnTo>
                  <a:lnTo>
                    <a:pt x="0" y="401831"/>
                  </a:lnTo>
                  <a:lnTo>
                    <a:pt x="203200" y="0"/>
                  </a:lnTo>
                  <a:close/>
                </a:path>
              </a:pathLst>
            </a:custGeom>
            <a:solidFill>
              <a:srgbClr val="578EAF"/>
            </a:solidFill>
          </p:spPr>
        </p:sp>
        <p:sp>
          <p:nvSpPr>
            <p:cNvPr name="TextBox 5" id="5"/>
            <p:cNvSpPr txBox="true"/>
            <p:nvPr/>
          </p:nvSpPr>
          <p:spPr>
            <a:xfrm>
              <a:off x="101600" y="-38100"/>
              <a:ext cx="3396031" cy="439931"/>
            </a:xfrm>
            <a:prstGeom prst="rect">
              <a:avLst/>
            </a:prstGeom>
          </p:spPr>
          <p:txBody>
            <a:bodyPr anchor="ctr" rtlCol="false" tIns="50800" lIns="50800" bIns="50800" rIns="50800"/>
            <a:lstStyle/>
            <a:p>
              <a:pPr algn="ctr">
                <a:lnSpc>
                  <a:spcPts val="2659"/>
                </a:lnSpc>
              </a:pPr>
            </a:p>
          </p:txBody>
        </p:sp>
      </p:grpSp>
      <p:grpSp>
        <p:nvGrpSpPr>
          <p:cNvPr name="Group 6" id="6"/>
          <p:cNvGrpSpPr/>
          <p:nvPr/>
        </p:nvGrpSpPr>
        <p:grpSpPr>
          <a:xfrm rot="-9061468">
            <a:off x="-3088929" y="-1143254"/>
            <a:ext cx="10495456" cy="1412986"/>
            <a:chOff x="0" y="0"/>
            <a:chExt cx="2764235" cy="372144"/>
          </a:xfrm>
        </p:grpSpPr>
        <p:sp>
          <p:nvSpPr>
            <p:cNvPr name="Freeform 7" id="7"/>
            <p:cNvSpPr/>
            <p:nvPr/>
          </p:nvSpPr>
          <p:spPr>
            <a:xfrm flipH="false" flipV="false" rot="0">
              <a:off x="0" y="0"/>
              <a:ext cx="2764235" cy="372144"/>
            </a:xfrm>
            <a:custGeom>
              <a:avLst/>
              <a:gdLst/>
              <a:ahLst/>
              <a:cxnLst/>
              <a:rect r="r" b="b" t="t" l="l"/>
              <a:pathLst>
                <a:path h="372144" w="2764235">
                  <a:moveTo>
                    <a:pt x="203200" y="0"/>
                  </a:moveTo>
                  <a:lnTo>
                    <a:pt x="2764235" y="0"/>
                  </a:lnTo>
                  <a:lnTo>
                    <a:pt x="2561035" y="372144"/>
                  </a:lnTo>
                  <a:lnTo>
                    <a:pt x="0" y="372144"/>
                  </a:lnTo>
                  <a:lnTo>
                    <a:pt x="203200" y="0"/>
                  </a:lnTo>
                  <a:close/>
                </a:path>
              </a:pathLst>
            </a:custGeom>
            <a:solidFill>
              <a:srgbClr val="6AABD2"/>
            </a:solidFill>
          </p:spPr>
        </p:sp>
        <p:sp>
          <p:nvSpPr>
            <p:cNvPr name="TextBox 8" id="8"/>
            <p:cNvSpPr txBox="true"/>
            <p:nvPr/>
          </p:nvSpPr>
          <p:spPr>
            <a:xfrm>
              <a:off x="101600" y="-38100"/>
              <a:ext cx="2561035" cy="410244"/>
            </a:xfrm>
            <a:prstGeom prst="rect">
              <a:avLst/>
            </a:prstGeom>
          </p:spPr>
          <p:txBody>
            <a:bodyPr anchor="ctr" rtlCol="false" tIns="50800" lIns="50800" bIns="50800" rIns="50800"/>
            <a:lstStyle/>
            <a:p>
              <a:pPr algn="ctr">
                <a:lnSpc>
                  <a:spcPts val="2659"/>
                </a:lnSpc>
              </a:pPr>
            </a:p>
          </p:txBody>
        </p:sp>
      </p:grpSp>
      <p:grpSp>
        <p:nvGrpSpPr>
          <p:cNvPr name="Group 9" id="9"/>
          <p:cNvGrpSpPr/>
          <p:nvPr/>
        </p:nvGrpSpPr>
        <p:grpSpPr>
          <a:xfrm rot="-2042265">
            <a:off x="-9170706" y="10779985"/>
            <a:ext cx="13665829" cy="1525700"/>
            <a:chOff x="0" y="0"/>
            <a:chExt cx="3599231" cy="401831"/>
          </a:xfrm>
        </p:grpSpPr>
        <p:sp>
          <p:nvSpPr>
            <p:cNvPr name="Freeform 10" id="10"/>
            <p:cNvSpPr/>
            <p:nvPr/>
          </p:nvSpPr>
          <p:spPr>
            <a:xfrm flipH="false" flipV="false" rot="0">
              <a:off x="0" y="0"/>
              <a:ext cx="3599231" cy="401831"/>
            </a:xfrm>
            <a:custGeom>
              <a:avLst/>
              <a:gdLst/>
              <a:ahLst/>
              <a:cxnLst/>
              <a:rect r="r" b="b" t="t" l="l"/>
              <a:pathLst>
                <a:path h="401831" w="3599231">
                  <a:moveTo>
                    <a:pt x="203200" y="0"/>
                  </a:moveTo>
                  <a:lnTo>
                    <a:pt x="3599231" y="0"/>
                  </a:lnTo>
                  <a:lnTo>
                    <a:pt x="3396031" y="401831"/>
                  </a:lnTo>
                  <a:lnTo>
                    <a:pt x="0" y="401831"/>
                  </a:lnTo>
                  <a:lnTo>
                    <a:pt x="203200" y="0"/>
                  </a:lnTo>
                  <a:close/>
                </a:path>
              </a:pathLst>
            </a:custGeom>
            <a:solidFill>
              <a:srgbClr val="578EAF"/>
            </a:solidFill>
          </p:spPr>
        </p:sp>
        <p:sp>
          <p:nvSpPr>
            <p:cNvPr name="TextBox 11" id="11"/>
            <p:cNvSpPr txBox="true"/>
            <p:nvPr/>
          </p:nvSpPr>
          <p:spPr>
            <a:xfrm>
              <a:off x="101600" y="-38100"/>
              <a:ext cx="3396031" cy="439931"/>
            </a:xfrm>
            <a:prstGeom prst="rect">
              <a:avLst/>
            </a:prstGeom>
          </p:spPr>
          <p:txBody>
            <a:bodyPr anchor="ctr" rtlCol="false" tIns="50800" lIns="50800" bIns="50800" rIns="50800"/>
            <a:lstStyle/>
            <a:p>
              <a:pPr algn="ctr">
                <a:lnSpc>
                  <a:spcPts val="2659"/>
                </a:lnSpc>
              </a:pPr>
            </a:p>
          </p:txBody>
        </p:sp>
      </p:grpSp>
      <p:grpSp>
        <p:nvGrpSpPr>
          <p:cNvPr name="Group 12" id="12"/>
          <p:cNvGrpSpPr/>
          <p:nvPr/>
        </p:nvGrpSpPr>
        <p:grpSpPr>
          <a:xfrm rot="1668227">
            <a:off x="1326557" y="9102829"/>
            <a:ext cx="10495456" cy="1412986"/>
            <a:chOff x="0" y="0"/>
            <a:chExt cx="2764235" cy="372144"/>
          </a:xfrm>
        </p:grpSpPr>
        <p:sp>
          <p:nvSpPr>
            <p:cNvPr name="Freeform 13" id="13"/>
            <p:cNvSpPr/>
            <p:nvPr/>
          </p:nvSpPr>
          <p:spPr>
            <a:xfrm flipH="false" flipV="false" rot="0">
              <a:off x="0" y="0"/>
              <a:ext cx="2764235" cy="372144"/>
            </a:xfrm>
            <a:custGeom>
              <a:avLst/>
              <a:gdLst/>
              <a:ahLst/>
              <a:cxnLst/>
              <a:rect r="r" b="b" t="t" l="l"/>
              <a:pathLst>
                <a:path h="372144" w="2764235">
                  <a:moveTo>
                    <a:pt x="203200" y="0"/>
                  </a:moveTo>
                  <a:lnTo>
                    <a:pt x="2764235" y="0"/>
                  </a:lnTo>
                  <a:lnTo>
                    <a:pt x="2561035" y="372144"/>
                  </a:lnTo>
                  <a:lnTo>
                    <a:pt x="0" y="372144"/>
                  </a:lnTo>
                  <a:lnTo>
                    <a:pt x="203200" y="0"/>
                  </a:lnTo>
                  <a:close/>
                </a:path>
              </a:pathLst>
            </a:custGeom>
            <a:solidFill>
              <a:srgbClr val="6AABD2"/>
            </a:solidFill>
          </p:spPr>
        </p:sp>
        <p:sp>
          <p:nvSpPr>
            <p:cNvPr name="TextBox 14" id="14"/>
            <p:cNvSpPr txBox="true"/>
            <p:nvPr/>
          </p:nvSpPr>
          <p:spPr>
            <a:xfrm>
              <a:off x="101600" y="-38100"/>
              <a:ext cx="2561035" cy="410244"/>
            </a:xfrm>
            <a:prstGeom prst="rect">
              <a:avLst/>
            </a:prstGeom>
          </p:spPr>
          <p:txBody>
            <a:bodyPr anchor="ctr" rtlCol="false" tIns="50800" lIns="50800" bIns="50800" rIns="50800"/>
            <a:lstStyle/>
            <a:p>
              <a:pPr algn="ctr">
                <a:lnSpc>
                  <a:spcPts val="2659"/>
                </a:lnSpc>
              </a:pPr>
            </a:p>
          </p:txBody>
        </p:sp>
      </p:grpSp>
      <p:sp>
        <p:nvSpPr>
          <p:cNvPr name="Freeform 15" id="15"/>
          <p:cNvSpPr/>
          <p:nvPr/>
        </p:nvSpPr>
        <p:spPr>
          <a:xfrm flipH="false" flipV="false" rot="0">
            <a:off x="465597" y="3397611"/>
            <a:ext cx="8426912" cy="4072581"/>
          </a:xfrm>
          <a:custGeom>
            <a:avLst/>
            <a:gdLst/>
            <a:ahLst/>
            <a:cxnLst/>
            <a:rect r="r" b="b" t="t" l="l"/>
            <a:pathLst>
              <a:path h="4072581" w="8426912">
                <a:moveTo>
                  <a:pt x="0" y="0"/>
                </a:moveTo>
                <a:lnTo>
                  <a:pt x="8426912" y="0"/>
                </a:lnTo>
                <a:lnTo>
                  <a:pt x="8426912" y="4072581"/>
                </a:lnTo>
                <a:lnTo>
                  <a:pt x="0" y="4072581"/>
                </a:lnTo>
                <a:lnTo>
                  <a:pt x="0" y="0"/>
                </a:lnTo>
                <a:close/>
              </a:path>
            </a:pathLst>
          </a:custGeom>
          <a:blipFill>
            <a:blip r:embed="rId4"/>
            <a:stretch>
              <a:fillRect l="0" t="0" r="0" b="0"/>
            </a:stretch>
          </a:blipFill>
        </p:spPr>
      </p:sp>
      <p:sp>
        <p:nvSpPr>
          <p:cNvPr name="TextBox 16" id="16"/>
          <p:cNvSpPr txBox="true"/>
          <p:nvPr/>
        </p:nvSpPr>
        <p:spPr>
          <a:xfrm rot="0">
            <a:off x="9488399" y="3102471"/>
            <a:ext cx="8390009" cy="5094220"/>
          </a:xfrm>
          <a:prstGeom prst="rect">
            <a:avLst/>
          </a:prstGeom>
        </p:spPr>
        <p:txBody>
          <a:bodyPr anchor="t" rtlCol="false" tIns="0" lIns="0" bIns="0" rIns="0">
            <a:spAutoFit/>
          </a:bodyPr>
          <a:lstStyle/>
          <a:p>
            <a:pPr algn="just">
              <a:lnSpc>
                <a:spcPts val="3661"/>
              </a:lnSpc>
            </a:pPr>
            <a:r>
              <a:rPr lang="en-US" sz="2615" b="true">
                <a:solidFill>
                  <a:srgbClr val="253247"/>
                </a:solidFill>
                <a:latin typeface="Glacial Indifference Bold"/>
                <a:ea typeface="Glacial Indifference Bold"/>
                <a:cs typeface="Glacial Indifference Bold"/>
                <a:sym typeface="Glacial Indifference Bold"/>
              </a:rPr>
              <a:t>Functions Used</a:t>
            </a:r>
          </a:p>
          <a:p>
            <a:pPr algn="just">
              <a:lnSpc>
                <a:spcPts val="3381"/>
              </a:lnSpc>
            </a:pPr>
          </a:p>
          <a:p>
            <a:pPr algn="just">
              <a:lnSpc>
                <a:spcPts val="3381"/>
              </a:lnSpc>
              <a:spcBef>
                <a:spcPct val="0"/>
              </a:spcBef>
            </a:pPr>
            <a:r>
              <a:rPr lang="en-US" b="true" sz="2415">
                <a:solidFill>
                  <a:srgbClr val="253247"/>
                </a:solidFill>
                <a:latin typeface="Glacial Indifference Bold"/>
                <a:ea typeface="Glacial Indifference Bold"/>
                <a:cs typeface="Glacial Indifference Bold"/>
                <a:sym typeface="Glacial Indifference Bold"/>
              </a:rPr>
              <a:t>dp</a:t>
            </a:r>
            <a:r>
              <a:rPr lang="en-US" b="true" sz="2415">
                <a:solidFill>
                  <a:srgbClr val="253247"/>
                </a:solidFill>
                <a:latin typeface="Glacial Indifference Bold"/>
                <a:ea typeface="Glacial Indifference Bold"/>
                <a:cs typeface="Glacial Indifference Bold"/>
                <a:sym typeface="Glacial Indifference Bold"/>
              </a:rPr>
              <a:t>lyr:</a:t>
            </a:r>
          </a:p>
          <a:p>
            <a:pPr algn="just" marL="521433" indent="-260716" lvl="1">
              <a:lnSpc>
                <a:spcPts val="3381"/>
              </a:lnSpc>
              <a:spcBef>
                <a:spcPct val="0"/>
              </a:spcBef>
              <a:buFont typeface="Arial"/>
              <a:buChar char="•"/>
            </a:pPr>
            <a:r>
              <a:rPr lang="en-US" b="true" sz="2415">
                <a:solidFill>
                  <a:srgbClr val="253247"/>
                </a:solidFill>
                <a:latin typeface="Glacial Indifference Bold"/>
                <a:ea typeface="Glacial Indifference Bold"/>
                <a:cs typeface="Glacial Indifference Bold"/>
                <a:sym typeface="Glacial Indifference Bold"/>
              </a:rPr>
              <a:t>Functions:</a:t>
            </a:r>
          </a:p>
          <a:p>
            <a:pPr algn="just" marL="1042865" indent="-347622" lvl="2">
              <a:lnSpc>
                <a:spcPts val="3381"/>
              </a:lnSpc>
              <a:spcBef>
                <a:spcPct val="0"/>
              </a:spcBef>
              <a:buFont typeface="Arial"/>
              <a:buChar char="⚬"/>
            </a:pPr>
            <a:r>
              <a:rPr lang="en-US" b="true" sz="2415">
                <a:solidFill>
                  <a:srgbClr val="253247"/>
                </a:solidFill>
                <a:latin typeface="Glacial Indifference Bold"/>
                <a:ea typeface="Glacial Indifference Bold"/>
                <a:cs typeface="Glacial Indifference Bold"/>
                <a:sym typeface="Glacial Indifference Bold"/>
              </a:rPr>
              <a:t>filter(): </a:t>
            </a:r>
            <a:r>
              <a:rPr lang="en-US" sz="2415">
                <a:solidFill>
                  <a:srgbClr val="253247"/>
                </a:solidFill>
                <a:latin typeface="Glacial Indifference"/>
                <a:ea typeface="Glacial Indifference"/>
                <a:cs typeface="Glacial Indifference"/>
                <a:sym typeface="Glacial Indifference"/>
              </a:rPr>
              <a:t>Remove rows t</a:t>
            </a:r>
            <a:r>
              <a:rPr lang="en-US" sz="2415">
                <a:solidFill>
                  <a:srgbClr val="253247"/>
                </a:solidFill>
                <a:latin typeface="Glacial Indifference"/>
                <a:ea typeface="Glacial Indifference"/>
                <a:cs typeface="Glacial Indifference"/>
                <a:sym typeface="Glacial Indifference"/>
              </a:rPr>
              <a:t>hat meet certain conditions.</a:t>
            </a:r>
          </a:p>
          <a:p>
            <a:pPr algn="just" marL="1042865" indent="-347622" lvl="2">
              <a:lnSpc>
                <a:spcPts val="3381"/>
              </a:lnSpc>
              <a:spcBef>
                <a:spcPct val="0"/>
              </a:spcBef>
              <a:buFont typeface="Arial"/>
              <a:buChar char="⚬"/>
            </a:pPr>
            <a:r>
              <a:rPr lang="en-US" b="true" sz="2415">
                <a:solidFill>
                  <a:srgbClr val="253247"/>
                </a:solidFill>
                <a:latin typeface="Glacial Indifference Bold"/>
                <a:ea typeface="Glacial Indifference Bold"/>
                <a:cs typeface="Glacial Indifference Bold"/>
                <a:sym typeface="Glacial Indifference Bold"/>
              </a:rPr>
              <a:t>%&gt;%: </a:t>
            </a:r>
            <a:r>
              <a:rPr lang="en-US" sz="2415">
                <a:solidFill>
                  <a:srgbClr val="253247"/>
                </a:solidFill>
                <a:latin typeface="Glacial Indifference"/>
                <a:ea typeface="Glacial Indifference"/>
                <a:cs typeface="Glacial Indifference"/>
                <a:sym typeface="Glacial Indifference"/>
              </a:rPr>
              <a:t>Pipe operator to streamline data transformations.</a:t>
            </a:r>
          </a:p>
          <a:p>
            <a:pPr algn="just">
              <a:lnSpc>
                <a:spcPts val="3381"/>
              </a:lnSpc>
              <a:spcBef>
                <a:spcPct val="0"/>
              </a:spcBef>
            </a:pPr>
            <a:r>
              <a:rPr lang="en-US" b="true" sz="2415">
                <a:solidFill>
                  <a:srgbClr val="253247"/>
                </a:solidFill>
                <a:latin typeface="Glacial Indifference Bold"/>
                <a:ea typeface="Glacial Indifference Bold"/>
                <a:cs typeface="Glacial Indifference Bold"/>
                <a:sym typeface="Glacial Indifference Bold"/>
              </a:rPr>
              <a:t>base R:</a:t>
            </a:r>
          </a:p>
          <a:p>
            <a:pPr algn="just" marL="521433" indent="-260716" lvl="1">
              <a:lnSpc>
                <a:spcPts val="3381"/>
              </a:lnSpc>
              <a:spcBef>
                <a:spcPct val="0"/>
              </a:spcBef>
              <a:buFont typeface="Arial"/>
              <a:buChar char="•"/>
            </a:pPr>
            <a:r>
              <a:rPr lang="en-US" b="true" sz="2415">
                <a:solidFill>
                  <a:srgbClr val="253247"/>
                </a:solidFill>
                <a:latin typeface="Glacial Indifference Bold"/>
                <a:ea typeface="Glacial Indifference Bold"/>
                <a:cs typeface="Glacial Indifference Bold"/>
                <a:sym typeface="Glacial Indifference Bold"/>
              </a:rPr>
              <a:t>Functions:</a:t>
            </a:r>
          </a:p>
          <a:p>
            <a:pPr algn="just" marL="1042865" indent="-347622" lvl="2">
              <a:lnSpc>
                <a:spcPts val="3381"/>
              </a:lnSpc>
              <a:spcBef>
                <a:spcPct val="0"/>
              </a:spcBef>
              <a:buFont typeface="Arial"/>
              <a:buChar char="⚬"/>
            </a:pPr>
            <a:r>
              <a:rPr lang="en-US" b="true" sz="2415">
                <a:solidFill>
                  <a:srgbClr val="253247"/>
                </a:solidFill>
                <a:latin typeface="Glacial Indifference Bold"/>
                <a:ea typeface="Glacial Indifference Bold"/>
                <a:cs typeface="Glacial Indifference Bold"/>
                <a:sym typeface="Glacial Indifference Bold"/>
              </a:rPr>
              <a:t>quantile(): </a:t>
            </a:r>
            <a:r>
              <a:rPr lang="en-US" sz="2415">
                <a:solidFill>
                  <a:srgbClr val="253247"/>
                </a:solidFill>
                <a:latin typeface="Glacial Indifference"/>
                <a:ea typeface="Glacial Indifference"/>
                <a:cs typeface="Glacial Indifference"/>
                <a:sym typeface="Glacial Indifference"/>
              </a:rPr>
              <a:t>Calculate percentiles (Q1 and Q3).</a:t>
            </a:r>
          </a:p>
          <a:p>
            <a:pPr algn="just" marL="1042865" indent="-347622" lvl="2">
              <a:lnSpc>
                <a:spcPts val="3381"/>
              </a:lnSpc>
              <a:spcBef>
                <a:spcPct val="0"/>
              </a:spcBef>
              <a:buFont typeface="Arial"/>
              <a:buChar char="⚬"/>
            </a:pPr>
            <a:r>
              <a:rPr lang="en-US" b="true" sz="2415">
                <a:solidFill>
                  <a:srgbClr val="253247"/>
                </a:solidFill>
                <a:latin typeface="Glacial Indifference Bold"/>
                <a:ea typeface="Glacial Indifference Bold"/>
                <a:cs typeface="Glacial Indifference Bold"/>
                <a:sym typeface="Glacial Indifference Bold"/>
              </a:rPr>
              <a:t>summary(): </a:t>
            </a:r>
            <a:r>
              <a:rPr lang="en-US" sz="2415">
                <a:solidFill>
                  <a:srgbClr val="253247"/>
                </a:solidFill>
                <a:latin typeface="Glacial Indifference"/>
                <a:ea typeface="Glacial Indifference"/>
                <a:cs typeface="Glacial Indifference"/>
                <a:sym typeface="Glacial Indifference"/>
              </a:rPr>
              <a:t>Summarize data.</a:t>
            </a:r>
          </a:p>
          <a:p>
            <a:pPr algn="just" marL="1042865" indent="-347622" lvl="2">
              <a:lnSpc>
                <a:spcPts val="3381"/>
              </a:lnSpc>
              <a:spcBef>
                <a:spcPct val="0"/>
              </a:spcBef>
              <a:buFont typeface="Arial"/>
              <a:buChar char="⚬"/>
            </a:pPr>
            <a:r>
              <a:rPr lang="en-US" b="true" sz="2415">
                <a:solidFill>
                  <a:srgbClr val="253247"/>
                </a:solidFill>
                <a:latin typeface="Glacial Indifference Bold"/>
                <a:ea typeface="Glacial Indifference Bold"/>
                <a:cs typeface="Glacial Indifference Bold"/>
                <a:sym typeface="Glacial Indifference Bold"/>
              </a:rPr>
              <a:t>as.numeric(): </a:t>
            </a:r>
            <a:r>
              <a:rPr lang="en-US" sz="2415">
                <a:solidFill>
                  <a:srgbClr val="253247"/>
                </a:solidFill>
                <a:latin typeface="Glacial Indifference"/>
                <a:ea typeface="Glacial Indifference"/>
                <a:cs typeface="Glacial Indifference"/>
                <a:sym typeface="Glacial Indifference"/>
              </a:rPr>
              <a:t>Convert columns to numeric format.</a:t>
            </a:r>
          </a:p>
          <a:p>
            <a:pPr algn="just">
              <a:lnSpc>
                <a:spcPts val="2821"/>
              </a:lnSpc>
              <a:spcBef>
                <a:spcPct val="0"/>
              </a:spcBef>
            </a:pPr>
          </a:p>
        </p:txBody>
      </p:sp>
      <p:sp>
        <p:nvSpPr>
          <p:cNvPr name="Freeform 17" id="17"/>
          <p:cNvSpPr/>
          <p:nvPr/>
        </p:nvSpPr>
        <p:spPr>
          <a:xfrm flipH="false" flipV="false" rot="5400000">
            <a:off x="8128646" y="4405202"/>
            <a:ext cx="405479" cy="2057400"/>
          </a:xfrm>
          <a:custGeom>
            <a:avLst/>
            <a:gdLst/>
            <a:ahLst/>
            <a:cxnLst/>
            <a:rect r="r" b="b" t="t" l="l"/>
            <a:pathLst>
              <a:path h="2057400" w="405479">
                <a:moveTo>
                  <a:pt x="0" y="0"/>
                </a:moveTo>
                <a:lnTo>
                  <a:pt x="405479" y="0"/>
                </a:lnTo>
                <a:lnTo>
                  <a:pt x="405479" y="2057400"/>
                </a:lnTo>
                <a:lnTo>
                  <a:pt x="0" y="2057400"/>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bg>
      <p:bgPr>
        <a:solidFill>
          <a:srgbClr val="D9E4EC"/>
        </a:solidFill>
      </p:bgPr>
    </p:bg>
    <p:spTree>
      <p:nvGrpSpPr>
        <p:cNvPr id="1" name=""/>
        <p:cNvGrpSpPr/>
        <p:nvPr/>
      </p:nvGrpSpPr>
      <p:grpSpPr>
        <a:xfrm>
          <a:off x="0" y="0"/>
          <a:ext cx="0" cy="0"/>
          <a:chOff x="0" y="0"/>
          <a:chExt cx="0" cy="0"/>
        </a:xfrm>
      </p:grpSpPr>
      <p:sp>
        <p:nvSpPr>
          <p:cNvPr name="Freeform 2" id="2"/>
          <p:cNvSpPr/>
          <p:nvPr/>
        </p:nvSpPr>
        <p:spPr>
          <a:xfrm flipH="true" flipV="true" rot="0">
            <a:off x="15335897" y="-291796"/>
            <a:ext cx="2952103" cy="2944723"/>
          </a:xfrm>
          <a:custGeom>
            <a:avLst/>
            <a:gdLst/>
            <a:ahLst/>
            <a:cxnLst/>
            <a:rect r="r" b="b" t="t" l="l"/>
            <a:pathLst>
              <a:path h="2944723" w="2952103">
                <a:moveTo>
                  <a:pt x="2952103" y="2944722"/>
                </a:moveTo>
                <a:lnTo>
                  <a:pt x="0" y="2944722"/>
                </a:lnTo>
                <a:lnTo>
                  <a:pt x="0" y="0"/>
                </a:lnTo>
                <a:lnTo>
                  <a:pt x="2952103" y="0"/>
                </a:lnTo>
                <a:lnTo>
                  <a:pt x="2952103" y="2944722"/>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8828038">
            <a:off x="-1851762" y="-1988584"/>
            <a:ext cx="13665829" cy="1525700"/>
            <a:chOff x="0" y="0"/>
            <a:chExt cx="3599231" cy="401831"/>
          </a:xfrm>
        </p:grpSpPr>
        <p:sp>
          <p:nvSpPr>
            <p:cNvPr name="Freeform 4" id="4"/>
            <p:cNvSpPr/>
            <p:nvPr/>
          </p:nvSpPr>
          <p:spPr>
            <a:xfrm flipH="false" flipV="false" rot="0">
              <a:off x="0" y="0"/>
              <a:ext cx="3599231" cy="401831"/>
            </a:xfrm>
            <a:custGeom>
              <a:avLst/>
              <a:gdLst/>
              <a:ahLst/>
              <a:cxnLst/>
              <a:rect r="r" b="b" t="t" l="l"/>
              <a:pathLst>
                <a:path h="401831" w="3599231">
                  <a:moveTo>
                    <a:pt x="203200" y="0"/>
                  </a:moveTo>
                  <a:lnTo>
                    <a:pt x="3599231" y="0"/>
                  </a:lnTo>
                  <a:lnTo>
                    <a:pt x="3396031" y="401831"/>
                  </a:lnTo>
                  <a:lnTo>
                    <a:pt x="0" y="401831"/>
                  </a:lnTo>
                  <a:lnTo>
                    <a:pt x="203200" y="0"/>
                  </a:lnTo>
                  <a:close/>
                </a:path>
              </a:pathLst>
            </a:custGeom>
            <a:solidFill>
              <a:srgbClr val="578EAF"/>
            </a:solidFill>
          </p:spPr>
        </p:sp>
        <p:sp>
          <p:nvSpPr>
            <p:cNvPr name="TextBox 5" id="5"/>
            <p:cNvSpPr txBox="true"/>
            <p:nvPr/>
          </p:nvSpPr>
          <p:spPr>
            <a:xfrm>
              <a:off x="101600" y="-38100"/>
              <a:ext cx="3396031" cy="439931"/>
            </a:xfrm>
            <a:prstGeom prst="rect">
              <a:avLst/>
            </a:prstGeom>
          </p:spPr>
          <p:txBody>
            <a:bodyPr anchor="ctr" rtlCol="false" tIns="50800" lIns="50800" bIns="50800" rIns="50800"/>
            <a:lstStyle/>
            <a:p>
              <a:pPr algn="ctr">
                <a:lnSpc>
                  <a:spcPts val="2659"/>
                </a:lnSpc>
              </a:pPr>
            </a:p>
          </p:txBody>
        </p:sp>
      </p:grpSp>
      <p:grpSp>
        <p:nvGrpSpPr>
          <p:cNvPr name="Group 6" id="6"/>
          <p:cNvGrpSpPr/>
          <p:nvPr/>
        </p:nvGrpSpPr>
        <p:grpSpPr>
          <a:xfrm rot="-9061468">
            <a:off x="-3088929" y="-1143254"/>
            <a:ext cx="10495456" cy="1412986"/>
            <a:chOff x="0" y="0"/>
            <a:chExt cx="2764235" cy="372144"/>
          </a:xfrm>
        </p:grpSpPr>
        <p:sp>
          <p:nvSpPr>
            <p:cNvPr name="Freeform 7" id="7"/>
            <p:cNvSpPr/>
            <p:nvPr/>
          </p:nvSpPr>
          <p:spPr>
            <a:xfrm flipH="false" flipV="false" rot="0">
              <a:off x="0" y="0"/>
              <a:ext cx="2764235" cy="372144"/>
            </a:xfrm>
            <a:custGeom>
              <a:avLst/>
              <a:gdLst/>
              <a:ahLst/>
              <a:cxnLst/>
              <a:rect r="r" b="b" t="t" l="l"/>
              <a:pathLst>
                <a:path h="372144" w="2764235">
                  <a:moveTo>
                    <a:pt x="203200" y="0"/>
                  </a:moveTo>
                  <a:lnTo>
                    <a:pt x="2764235" y="0"/>
                  </a:lnTo>
                  <a:lnTo>
                    <a:pt x="2561035" y="372144"/>
                  </a:lnTo>
                  <a:lnTo>
                    <a:pt x="0" y="372144"/>
                  </a:lnTo>
                  <a:lnTo>
                    <a:pt x="203200" y="0"/>
                  </a:lnTo>
                  <a:close/>
                </a:path>
              </a:pathLst>
            </a:custGeom>
            <a:solidFill>
              <a:srgbClr val="6AABD2"/>
            </a:solidFill>
          </p:spPr>
        </p:sp>
        <p:sp>
          <p:nvSpPr>
            <p:cNvPr name="TextBox 8" id="8"/>
            <p:cNvSpPr txBox="true"/>
            <p:nvPr/>
          </p:nvSpPr>
          <p:spPr>
            <a:xfrm>
              <a:off x="101600" y="-38100"/>
              <a:ext cx="2561035" cy="410244"/>
            </a:xfrm>
            <a:prstGeom prst="rect">
              <a:avLst/>
            </a:prstGeom>
          </p:spPr>
          <p:txBody>
            <a:bodyPr anchor="ctr" rtlCol="false" tIns="50800" lIns="50800" bIns="50800" rIns="50800"/>
            <a:lstStyle/>
            <a:p>
              <a:pPr algn="ctr">
                <a:lnSpc>
                  <a:spcPts val="2659"/>
                </a:lnSpc>
              </a:pPr>
            </a:p>
          </p:txBody>
        </p:sp>
      </p:grpSp>
      <p:grpSp>
        <p:nvGrpSpPr>
          <p:cNvPr name="Group 9" id="9"/>
          <p:cNvGrpSpPr/>
          <p:nvPr/>
        </p:nvGrpSpPr>
        <p:grpSpPr>
          <a:xfrm rot="-2042265">
            <a:off x="-5182129" y="10349294"/>
            <a:ext cx="13665829" cy="1525700"/>
            <a:chOff x="0" y="0"/>
            <a:chExt cx="3599231" cy="401831"/>
          </a:xfrm>
        </p:grpSpPr>
        <p:sp>
          <p:nvSpPr>
            <p:cNvPr name="Freeform 10" id="10"/>
            <p:cNvSpPr/>
            <p:nvPr/>
          </p:nvSpPr>
          <p:spPr>
            <a:xfrm flipH="false" flipV="false" rot="0">
              <a:off x="0" y="0"/>
              <a:ext cx="3599231" cy="401831"/>
            </a:xfrm>
            <a:custGeom>
              <a:avLst/>
              <a:gdLst/>
              <a:ahLst/>
              <a:cxnLst/>
              <a:rect r="r" b="b" t="t" l="l"/>
              <a:pathLst>
                <a:path h="401831" w="3599231">
                  <a:moveTo>
                    <a:pt x="203200" y="0"/>
                  </a:moveTo>
                  <a:lnTo>
                    <a:pt x="3599231" y="0"/>
                  </a:lnTo>
                  <a:lnTo>
                    <a:pt x="3396031" y="401831"/>
                  </a:lnTo>
                  <a:lnTo>
                    <a:pt x="0" y="401831"/>
                  </a:lnTo>
                  <a:lnTo>
                    <a:pt x="203200" y="0"/>
                  </a:lnTo>
                  <a:close/>
                </a:path>
              </a:pathLst>
            </a:custGeom>
            <a:solidFill>
              <a:srgbClr val="578EAF"/>
            </a:solidFill>
          </p:spPr>
        </p:sp>
        <p:sp>
          <p:nvSpPr>
            <p:cNvPr name="TextBox 11" id="11"/>
            <p:cNvSpPr txBox="true"/>
            <p:nvPr/>
          </p:nvSpPr>
          <p:spPr>
            <a:xfrm>
              <a:off x="101600" y="-38100"/>
              <a:ext cx="3396031" cy="439931"/>
            </a:xfrm>
            <a:prstGeom prst="rect">
              <a:avLst/>
            </a:prstGeom>
          </p:spPr>
          <p:txBody>
            <a:bodyPr anchor="ctr" rtlCol="false" tIns="50800" lIns="50800" bIns="50800" rIns="50800"/>
            <a:lstStyle/>
            <a:p>
              <a:pPr algn="ctr">
                <a:lnSpc>
                  <a:spcPts val="2659"/>
                </a:lnSpc>
              </a:pPr>
            </a:p>
          </p:txBody>
        </p:sp>
      </p:grpSp>
      <p:grpSp>
        <p:nvGrpSpPr>
          <p:cNvPr name="Group 12" id="12"/>
          <p:cNvGrpSpPr/>
          <p:nvPr/>
        </p:nvGrpSpPr>
        <p:grpSpPr>
          <a:xfrm rot="1668227">
            <a:off x="-1572499" y="8112679"/>
            <a:ext cx="10495456" cy="1412986"/>
            <a:chOff x="0" y="0"/>
            <a:chExt cx="2764235" cy="372144"/>
          </a:xfrm>
        </p:grpSpPr>
        <p:sp>
          <p:nvSpPr>
            <p:cNvPr name="Freeform 13" id="13"/>
            <p:cNvSpPr/>
            <p:nvPr/>
          </p:nvSpPr>
          <p:spPr>
            <a:xfrm flipH="false" flipV="false" rot="0">
              <a:off x="0" y="0"/>
              <a:ext cx="2764235" cy="372144"/>
            </a:xfrm>
            <a:custGeom>
              <a:avLst/>
              <a:gdLst/>
              <a:ahLst/>
              <a:cxnLst/>
              <a:rect r="r" b="b" t="t" l="l"/>
              <a:pathLst>
                <a:path h="372144" w="2764235">
                  <a:moveTo>
                    <a:pt x="203200" y="0"/>
                  </a:moveTo>
                  <a:lnTo>
                    <a:pt x="2764235" y="0"/>
                  </a:lnTo>
                  <a:lnTo>
                    <a:pt x="2561035" y="372144"/>
                  </a:lnTo>
                  <a:lnTo>
                    <a:pt x="0" y="372144"/>
                  </a:lnTo>
                  <a:lnTo>
                    <a:pt x="203200" y="0"/>
                  </a:lnTo>
                  <a:close/>
                </a:path>
              </a:pathLst>
            </a:custGeom>
            <a:solidFill>
              <a:srgbClr val="6AABD2"/>
            </a:solidFill>
          </p:spPr>
        </p:sp>
        <p:sp>
          <p:nvSpPr>
            <p:cNvPr name="TextBox 14" id="14"/>
            <p:cNvSpPr txBox="true"/>
            <p:nvPr/>
          </p:nvSpPr>
          <p:spPr>
            <a:xfrm>
              <a:off x="101600" y="-38100"/>
              <a:ext cx="2561035" cy="410244"/>
            </a:xfrm>
            <a:prstGeom prst="rect">
              <a:avLst/>
            </a:prstGeom>
          </p:spPr>
          <p:txBody>
            <a:bodyPr anchor="ctr" rtlCol="false" tIns="50800" lIns="50800" bIns="50800" rIns="50800"/>
            <a:lstStyle/>
            <a:p>
              <a:pPr algn="ctr">
                <a:lnSpc>
                  <a:spcPts val="2659"/>
                </a:lnSpc>
              </a:pPr>
            </a:p>
          </p:txBody>
        </p:sp>
      </p:grpSp>
      <p:sp>
        <p:nvSpPr>
          <p:cNvPr name="Freeform 15" id="15"/>
          <p:cNvSpPr/>
          <p:nvPr/>
        </p:nvSpPr>
        <p:spPr>
          <a:xfrm flipH="false" flipV="false" rot="0">
            <a:off x="527491" y="6493797"/>
            <a:ext cx="2819199" cy="2509087"/>
          </a:xfrm>
          <a:custGeom>
            <a:avLst/>
            <a:gdLst/>
            <a:ahLst/>
            <a:cxnLst/>
            <a:rect r="r" b="b" t="t" l="l"/>
            <a:pathLst>
              <a:path h="2509087" w="2819199">
                <a:moveTo>
                  <a:pt x="0" y="0"/>
                </a:moveTo>
                <a:lnTo>
                  <a:pt x="2819199" y="0"/>
                </a:lnTo>
                <a:lnTo>
                  <a:pt x="2819199" y="2509087"/>
                </a:lnTo>
                <a:lnTo>
                  <a:pt x="0" y="2509087"/>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6" id="16"/>
          <p:cNvSpPr/>
          <p:nvPr/>
        </p:nvSpPr>
        <p:spPr>
          <a:xfrm flipH="false" flipV="false" rot="0">
            <a:off x="3675229" y="6349902"/>
            <a:ext cx="1305924" cy="1305924"/>
          </a:xfrm>
          <a:custGeom>
            <a:avLst/>
            <a:gdLst/>
            <a:ahLst/>
            <a:cxnLst/>
            <a:rect r="r" b="b" t="t" l="l"/>
            <a:pathLst>
              <a:path h="1305924" w="1305924">
                <a:moveTo>
                  <a:pt x="0" y="0"/>
                </a:moveTo>
                <a:lnTo>
                  <a:pt x="1305924" y="0"/>
                </a:lnTo>
                <a:lnTo>
                  <a:pt x="1305924" y="1305923"/>
                </a:lnTo>
                <a:lnTo>
                  <a:pt x="0" y="1305923"/>
                </a:lnTo>
                <a:lnTo>
                  <a:pt x="0" y="0"/>
                </a:lnTo>
                <a:close/>
              </a:path>
            </a:pathLst>
          </a:custGeom>
          <a:blipFill>
            <a:blip r:embed="rId6"/>
            <a:stretch>
              <a:fillRect l="0" t="0" r="0" b="0"/>
            </a:stretch>
          </a:blipFill>
        </p:spPr>
      </p:sp>
      <p:sp>
        <p:nvSpPr>
          <p:cNvPr name="TextBox 17" id="17"/>
          <p:cNvSpPr txBox="true"/>
          <p:nvPr/>
        </p:nvSpPr>
        <p:spPr>
          <a:xfrm rot="0">
            <a:off x="306639" y="2552036"/>
            <a:ext cx="8115300" cy="3142118"/>
          </a:xfrm>
          <a:prstGeom prst="rect">
            <a:avLst/>
          </a:prstGeom>
        </p:spPr>
        <p:txBody>
          <a:bodyPr anchor="t" rtlCol="false" tIns="0" lIns="0" bIns="0" rIns="0">
            <a:spAutoFit/>
          </a:bodyPr>
          <a:lstStyle/>
          <a:p>
            <a:pPr algn="l">
              <a:lnSpc>
                <a:spcPts val="12662"/>
              </a:lnSpc>
            </a:pPr>
            <a:r>
              <a:rPr lang="en-US" sz="9044">
                <a:solidFill>
                  <a:srgbClr val="253247"/>
                </a:solidFill>
                <a:latin typeface="League Spartan"/>
                <a:ea typeface="League Spartan"/>
                <a:cs typeface="League Spartan"/>
                <a:sym typeface="League Spartan"/>
              </a:rPr>
              <a:t>ADDITIONAL</a:t>
            </a:r>
          </a:p>
          <a:p>
            <a:pPr algn="l">
              <a:lnSpc>
                <a:spcPts val="12662"/>
              </a:lnSpc>
            </a:pPr>
            <a:r>
              <a:rPr lang="en-US" sz="9044">
                <a:solidFill>
                  <a:srgbClr val="253247"/>
                </a:solidFill>
                <a:latin typeface="League Spartan"/>
                <a:ea typeface="League Spartan"/>
                <a:cs typeface="League Spartan"/>
                <a:sym typeface="League Spartan"/>
              </a:rPr>
              <a:t>COLUMNS</a:t>
            </a:r>
          </a:p>
        </p:txBody>
      </p:sp>
      <p:sp>
        <p:nvSpPr>
          <p:cNvPr name="TextBox 18" id="18"/>
          <p:cNvSpPr txBox="true"/>
          <p:nvPr/>
        </p:nvSpPr>
        <p:spPr>
          <a:xfrm rot="0">
            <a:off x="8421939" y="2666336"/>
            <a:ext cx="9252737" cy="5732588"/>
          </a:xfrm>
          <a:prstGeom prst="rect">
            <a:avLst/>
          </a:prstGeom>
        </p:spPr>
        <p:txBody>
          <a:bodyPr anchor="t" rtlCol="false" tIns="0" lIns="0" bIns="0" rIns="0">
            <a:spAutoFit/>
          </a:bodyPr>
          <a:lstStyle/>
          <a:p>
            <a:pPr algn="l">
              <a:lnSpc>
                <a:spcPts val="3227"/>
              </a:lnSpc>
            </a:pPr>
            <a:r>
              <a:rPr lang="en-US" sz="2305" b="true">
                <a:solidFill>
                  <a:srgbClr val="253247"/>
                </a:solidFill>
                <a:latin typeface="Glacial Indifference Bold"/>
                <a:ea typeface="Glacial Indifference Bold"/>
                <a:cs typeface="Glacial Indifference Bold"/>
                <a:sym typeface="Glacial Indifference Bold"/>
              </a:rPr>
              <a:t>Purpose: </a:t>
            </a:r>
            <a:r>
              <a:rPr lang="en-US" sz="2305">
                <a:solidFill>
                  <a:srgbClr val="253247"/>
                </a:solidFill>
                <a:latin typeface="Glacial Indifference"/>
                <a:ea typeface="Glacial Indifference"/>
                <a:cs typeface="Glacial Indifference"/>
                <a:sym typeface="Glacial Indifference"/>
              </a:rPr>
              <a:t>Add derived variables for advanced analysis, such as time trends, regional insights, and price segmentation</a:t>
            </a:r>
          </a:p>
          <a:p>
            <a:pPr algn="l">
              <a:lnSpc>
                <a:spcPts val="3227"/>
              </a:lnSpc>
            </a:pPr>
          </a:p>
          <a:p>
            <a:pPr algn="l">
              <a:lnSpc>
                <a:spcPts val="3227"/>
              </a:lnSpc>
            </a:pPr>
            <a:r>
              <a:rPr lang="en-US" sz="2305" b="true">
                <a:solidFill>
                  <a:srgbClr val="253247"/>
                </a:solidFill>
                <a:latin typeface="Glacial Indifference Bold"/>
                <a:ea typeface="Glacial Indifference Bold"/>
                <a:cs typeface="Glacial Indifference Bold"/>
                <a:sym typeface="Glacial Indifference Bold"/>
              </a:rPr>
              <a:t>Steps Taken:</a:t>
            </a:r>
          </a:p>
          <a:p>
            <a:pPr algn="l" marL="497675" indent="-248837" lvl="1">
              <a:lnSpc>
                <a:spcPts val="3227"/>
              </a:lnSpc>
              <a:buFont typeface="Arial"/>
              <a:buChar char="•"/>
            </a:pPr>
            <a:r>
              <a:rPr lang="en-US" sz="2305">
                <a:solidFill>
                  <a:srgbClr val="253247"/>
                </a:solidFill>
                <a:latin typeface="Glacial Indifference"/>
                <a:ea typeface="Glacial Indifference"/>
                <a:cs typeface="Glacial Indifference"/>
                <a:sym typeface="Glacial Indifference"/>
              </a:rPr>
              <a:t>Extracted sale_year and sale_month for time-based analysis.</a:t>
            </a:r>
          </a:p>
          <a:p>
            <a:pPr algn="l" marL="497675" indent="-248837" lvl="1">
              <a:lnSpc>
                <a:spcPts val="3227"/>
              </a:lnSpc>
              <a:buFont typeface="Arial"/>
              <a:buChar char="•"/>
            </a:pPr>
            <a:r>
              <a:rPr lang="en-US" sz="2305">
                <a:solidFill>
                  <a:srgbClr val="253247"/>
                </a:solidFill>
                <a:latin typeface="Glacial Indifference"/>
                <a:ea typeface="Glacial Indifference"/>
                <a:cs typeface="Glacial Indifference"/>
                <a:sym typeface="Glacial Indifference"/>
              </a:rPr>
              <a:t>Calculated distances using latitude and longitude.</a:t>
            </a:r>
          </a:p>
          <a:p>
            <a:pPr algn="l" marL="497675" indent="-248837" lvl="1">
              <a:lnSpc>
                <a:spcPts val="3227"/>
              </a:lnSpc>
              <a:buFont typeface="Arial"/>
              <a:buChar char="•"/>
            </a:pPr>
            <a:r>
              <a:rPr lang="en-US" sz="2305">
                <a:solidFill>
                  <a:srgbClr val="253247"/>
                </a:solidFill>
                <a:latin typeface="Glacial Indifference"/>
                <a:ea typeface="Glacial Indifference"/>
                <a:cs typeface="Glacial Indifference"/>
                <a:sym typeface="Glacial Indifference"/>
              </a:rPr>
              <a:t>Categorized prices into price_category bins (low, medium, high).</a:t>
            </a:r>
          </a:p>
          <a:p>
            <a:pPr algn="l" marL="497675" indent="-248837" lvl="1">
              <a:lnSpc>
                <a:spcPts val="3227"/>
              </a:lnSpc>
              <a:buFont typeface="Arial"/>
              <a:buChar char="•"/>
            </a:pPr>
            <a:r>
              <a:rPr lang="en-US" sz="2305">
                <a:solidFill>
                  <a:srgbClr val="253247"/>
                </a:solidFill>
                <a:latin typeface="Glacial Indifference"/>
                <a:ea typeface="Glacial Indifference"/>
                <a:cs typeface="Glacial Indifference"/>
                <a:sym typeface="Glacial Indifference"/>
              </a:rPr>
              <a:t>Added lagged variables to track price trends.</a:t>
            </a:r>
          </a:p>
          <a:p>
            <a:pPr algn="l" marL="497675" indent="-248837" lvl="1">
              <a:lnSpc>
                <a:spcPts val="3227"/>
              </a:lnSpc>
              <a:buFont typeface="Arial"/>
              <a:buChar char="•"/>
            </a:pPr>
            <a:r>
              <a:rPr lang="en-US" sz="2305">
                <a:solidFill>
                  <a:srgbClr val="253247"/>
                </a:solidFill>
                <a:latin typeface="Glacial Indifference"/>
                <a:ea typeface="Glacial Indifference"/>
                <a:cs typeface="Glacial Indifference"/>
                <a:sym typeface="Glacial Indifference"/>
              </a:rPr>
              <a:t>Defined market_condition based on sales trends.</a:t>
            </a:r>
          </a:p>
          <a:p>
            <a:pPr algn="l">
              <a:lnSpc>
                <a:spcPts val="3227"/>
              </a:lnSpc>
              <a:spcBef>
                <a:spcPct val="0"/>
              </a:spcBef>
            </a:pPr>
          </a:p>
          <a:p>
            <a:pPr algn="l">
              <a:lnSpc>
                <a:spcPts val="3234"/>
              </a:lnSpc>
              <a:spcBef>
                <a:spcPct val="0"/>
              </a:spcBef>
            </a:pPr>
            <a:r>
              <a:rPr lang="en-US" b="true" sz="2310">
                <a:solidFill>
                  <a:srgbClr val="253247"/>
                </a:solidFill>
                <a:latin typeface="Glacial Indifference Bold"/>
                <a:ea typeface="Glacial Indifference Bold"/>
                <a:cs typeface="Glacial Indifference Bold"/>
                <a:sym typeface="Glacial Indifference Bold"/>
              </a:rPr>
              <a:t>Packages</a:t>
            </a:r>
            <a:r>
              <a:rPr lang="en-US" sz="2310">
                <a:solidFill>
                  <a:srgbClr val="253247"/>
                </a:solidFill>
                <a:latin typeface="Glacial Indifference"/>
                <a:ea typeface="Glacial Indifference"/>
                <a:cs typeface="Glacial Indifference"/>
                <a:sym typeface="Glacial Indifference"/>
              </a:rPr>
              <a:t>: geohashTools, geosphere, dplyr, tidyr, sf, ggplot2</a:t>
            </a:r>
          </a:p>
          <a:p>
            <a:pPr algn="l">
              <a:lnSpc>
                <a:spcPts val="3234"/>
              </a:lnSpc>
              <a:spcBef>
                <a:spcPct val="0"/>
              </a:spcBef>
            </a:pPr>
          </a:p>
          <a:p>
            <a:pPr algn="l">
              <a:lnSpc>
                <a:spcPts val="3234"/>
              </a:lnSpc>
              <a:spcBef>
                <a:spcPct val="0"/>
              </a:spcBef>
            </a:pPr>
            <a:r>
              <a:rPr lang="en-US" b="true" sz="2310">
                <a:solidFill>
                  <a:srgbClr val="253247"/>
                </a:solidFill>
                <a:latin typeface="Glacial Indifference Bold"/>
                <a:ea typeface="Glacial Indifference Bold"/>
                <a:cs typeface="Glacial Indifference Bold"/>
                <a:sym typeface="Glacial Indifference Bold"/>
              </a:rPr>
              <a:t>Functions</a:t>
            </a:r>
            <a:r>
              <a:rPr lang="en-US" sz="2310">
                <a:solidFill>
                  <a:srgbClr val="253247"/>
                </a:solidFill>
                <a:latin typeface="Glacial Indifference"/>
                <a:ea typeface="Glacial Indifference"/>
                <a:cs typeface="Glacial Indifference"/>
                <a:sym typeface="Glacial Indifference"/>
              </a:rPr>
              <a:t>: year(), month(), distVincentySphere(), cut(), lag(), case_when()</a:t>
            </a:r>
          </a:p>
        </p:txBody>
      </p:sp>
      <p:sp>
        <p:nvSpPr>
          <p:cNvPr name="Freeform 19" id="19"/>
          <p:cNvSpPr/>
          <p:nvPr/>
        </p:nvSpPr>
        <p:spPr>
          <a:xfrm flipH="false" flipV="false" rot="0">
            <a:off x="5305003" y="6495375"/>
            <a:ext cx="1080683" cy="1252966"/>
          </a:xfrm>
          <a:custGeom>
            <a:avLst/>
            <a:gdLst/>
            <a:ahLst/>
            <a:cxnLst/>
            <a:rect r="r" b="b" t="t" l="l"/>
            <a:pathLst>
              <a:path h="1252966" w="1080683">
                <a:moveTo>
                  <a:pt x="0" y="0"/>
                </a:moveTo>
                <a:lnTo>
                  <a:pt x="1080683" y="0"/>
                </a:lnTo>
                <a:lnTo>
                  <a:pt x="1080683" y="1252966"/>
                </a:lnTo>
                <a:lnTo>
                  <a:pt x="0" y="1252966"/>
                </a:lnTo>
                <a:lnTo>
                  <a:pt x="0" y="0"/>
                </a:lnTo>
                <a:close/>
              </a:path>
            </a:pathLst>
          </a:custGeom>
          <a:blipFill>
            <a:blip r:embed="rId7"/>
            <a:stretch>
              <a:fillRect l="0" t="0" r="0" b="0"/>
            </a:stretch>
          </a:blipFill>
        </p:spPr>
      </p:sp>
      <p:sp>
        <p:nvSpPr>
          <p:cNvPr name="Freeform 20" id="20"/>
          <p:cNvSpPr/>
          <p:nvPr/>
        </p:nvSpPr>
        <p:spPr>
          <a:xfrm flipH="false" flipV="false" rot="0">
            <a:off x="3753976" y="7913000"/>
            <a:ext cx="1148430" cy="1331513"/>
          </a:xfrm>
          <a:custGeom>
            <a:avLst/>
            <a:gdLst/>
            <a:ahLst/>
            <a:cxnLst/>
            <a:rect r="r" b="b" t="t" l="l"/>
            <a:pathLst>
              <a:path h="1331513" w="1148430">
                <a:moveTo>
                  <a:pt x="0" y="0"/>
                </a:moveTo>
                <a:lnTo>
                  <a:pt x="1148430" y="0"/>
                </a:lnTo>
                <a:lnTo>
                  <a:pt x="1148430" y="1331513"/>
                </a:lnTo>
                <a:lnTo>
                  <a:pt x="0" y="1331513"/>
                </a:lnTo>
                <a:lnTo>
                  <a:pt x="0" y="0"/>
                </a:lnTo>
                <a:close/>
              </a:path>
            </a:pathLst>
          </a:custGeom>
          <a:blipFill>
            <a:blip r:embed="rId8"/>
            <a:stretch>
              <a:fillRect l="0" t="0" r="0" b="0"/>
            </a:stretch>
          </a:blipFill>
        </p:spPr>
      </p:sp>
    </p:spTree>
  </p:cSld>
  <p:clrMapOvr>
    <a:masterClrMapping/>
  </p:clrMapOvr>
</p:sld>
</file>

<file path=ppt/slides/slide17.xml><?xml version="1.0" encoding="utf-8"?>
<p:sld xmlns:p="http://schemas.openxmlformats.org/presentationml/2006/main" xmlns:a="http://schemas.openxmlformats.org/drawingml/2006/main" xmlns:r="http://schemas.openxmlformats.org/officeDocument/2006/relationships">
  <p:cSld>
    <p:bg>
      <p:bgPr>
        <a:solidFill>
          <a:srgbClr val="D9E4EC"/>
        </a:solidFill>
      </p:bgPr>
    </p:bg>
    <p:spTree>
      <p:nvGrpSpPr>
        <p:cNvPr id="1" name=""/>
        <p:cNvGrpSpPr/>
        <p:nvPr/>
      </p:nvGrpSpPr>
      <p:grpSpPr>
        <a:xfrm>
          <a:off x="0" y="0"/>
          <a:ext cx="0" cy="0"/>
          <a:chOff x="0" y="0"/>
          <a:chExt cx="0" cy="0"/>
        </a:xfrm>
      </p:grpSpPr>
      <p:sp>
        <p:nvSpPr>
          <p:cNvPr name="Freeform 2" id="2"/>
          <p:cNvSpPr/>
          <p:nvPr/>
        </p:nvSpPr>
        <p:spPr>
          <a:xfrm flipH="true" flipV="true" rot="0">
            <a:off x="15335897" y="-291796"/>
            <a:ext cx="2952103" cy="2944723"/>
          </a:xfrm>
          <a:custGeom>
            <a:avLst/>
            <a:gdLst/>
            <a:ahLst/>
            <a:cxnLst/>
            <a:rect r="r" b="b" t="t" l="l"/>
            <a:pathLst>
              <a:path h="2944723" w="2952103">
                <a:moveTo>
                  <a:pt x="2952103" y="2944722"/>
                </a:moveTo>
                <a:lnTo>
                  <a:pt x="0" y="2944722"/>
                </a:lnTo>
                <a:lnTo>
                  <a:pt x="0" y="0"/>
                </a:lnTo>
                <a:lnTo>
                  <a:pt x="2952103" y="0"/>
                </a:lnTo>
                <a:lnTo>
                  <a:pt x="2952103" y="2944722"/>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8828038">
            <a:off x="4271547" y="-2750518"/>
            <a:ext cx="13665829" cy="1525700"/>
            <a:chOff x="0" y="0"/>
            <a:chExt cx="3599231" cy="401831"/>
          </a:xfrm>
        </p:grpSpPr>
        <p:sp>
          <p:nvSpPr>
            <p:cNvPr name="Freeform 4" id="4"/>
            <p:cNvSpPr/>
            <p:nvPr/>
          </p:nvSpPr>
          <p:spPr>
            <a:xfrm flipH="false" flipV="false" rot="0">
              <a:off x="0" y="0"/>
              <a:ext cx="3599231" cy="401831"/>
            </a:xfrm>
            <a:custGeom>
              <a:avLst/>
              <a:gdLst/>
              <a:ahLst/>
              <a:cxnLst/>
              <a:rect r="r" b="b" t="t" l="l"/>
              <a:pathLst>
                <a:path h="401831" w="3599231">
                  <a:moveTo>
                    <a:pt x="203200" y="0"/>
                  </a:moveTo>
                  <a:lnTo>
                    <a:pt x="3599231" y="0"/>
                  </a:lnTo>
                  <a:lnTo>
                    <a:pt x="3396031" y="401831"/>
                  </a:lnTo>
                  <a:lnTo>
                    <a:pt x="0" y="401831"/>
                  </a:lnTo>
                  <a:lnTo>
                    <a:pt x="203200" y="0"/>
                  </a:lnTo>
                  <a:close/>
                </a:path>
              </a:pathLst>
            </a:custGeom>
            <a:solidFill>
              <a:srgbClr val="578EAF"/>
            </a:solidFill>
          </p:spPr>
        </p:sp>
        <p:sp>
          <p:nvSpPr>
            <p:cNvPr name="TextBox 5" id="5"/>
            <p:cNvSpPr txBox="true"/>
            <p:nvPr/>
          </p:nvSpPr>
          <p:spPr>
            <a:xfrm>
              <a:off x="101600" y="-38100"/>
              <a:ext cx="3396031" cy="439931"/>
            </a:xfrm>
            <a:prstGeom prst="rect">
              <a:avLst/>
            </a:prstGeom>
          </p:spPr>
          <p:txBody>
            <a:bodyPr anchor="ctr" rtlCol="false" tIns="50800" lIns="50800" bIns="50800" rIns="50800"/>
            <a:lstStyle/>
            <a:p>
              <a:pPr algn="ctr">
                <a:lnSpc>
                  <a:spcPts val="2659"/>
                </a:lnSpc>
              </a:pPr>
            </a:p>
          </p:txBody>
        </p:sp>
      </p:grpSp>
      <p:grpSp>
        <p:nvGrpSpPr>
          <p:cNvPr name="Group 6" id="6"/>
          <p:cNvGrpSpPr/>
          <p:nvPr/>
        </p:nvGrpSpPr>
        <p:grpSpPr>
          <a:xfrm rot="-9061468">
            <a:off x="-3088929" y="-1143254"/>
            <a:ext cx="10495456" cy="1412986"/>
            <a:chOff x="0" y="0"/>
            <a:chExt cx="2764235" cy="372144"/>
          </a:xfrm>
        </p:grpSpPr>
        <p:sp>
          <p:nvSpPr>
            <p:cNvPr name="Freeform 7" id="7"/>
            <p:cNvSpPr/>
            <p:nvPr/>
          </p:nvSpPr>
          <p:spPr>
            <a:xfrm flipH="false" flipV="false" rot="0">
              <a:off x="0" y="0"/>
              <a:ext cx="2764235" cy="372144"/>
            </a:xfrm>
            <a:custGeom>
              <a:avLst/>
              <a:gdLst/>
              <a:ahLst/>
              <a:cxnLst/>
              <a:rect r="r" b="b" t="t" l="l"/>
              <a:pathLst>
                <a:path h="372144" w="2764235">
                  <a:moveTo>
                    <a:pt x="203200" y="0"/>
                  </a:moveTo>
                  <a:lnTo>
                    <a:pt x="2764235" y="0"/>
                  </a:lnTo>
                  <a:lnTo>
                    <a:pt x="2561035" y="372144"/>
                  </a:lnTo>
                  <a:lnTo>
                    <a:pt x="0" y="372144"/>
                  </a:lnTo>
                  <a:lnTo>
                    <a:pt x="203200" y="0"/>
                  </a:lnTo>
                  <a:close/>
                </a:path>
              </a:pathLst>
            </a:custGeom>
            <a:solidFill>
              <a:srgbClr val="6AABD2"/>
            </a:solidFill>
          </p:spPr>
        </p:sp>
        <p:sp>
          <p:nvSpPr>
            <p:cNvPr name="TextBox 8" id="8"/>
            <p:cNvSpPr txBox="true"/>
            <p:nvPr/>
          </p:nvSpPr>
          <p:spPr>
            <a:xfrm>
              <a:off x="101600" y="-38100"/>
              <a:ext cx="2561035" cy="410244"/>
            </a:xfrm>
            <a:prstGeom prst="rect">
              <a:avLst/>
            </a:prstGeom>
          </p:spPr>
          <p:txBody>
            <a:bodyPr anchor="ctr" rtlCol="false" tIns="50800" lIns="50800" bIns="50800" rIns="50800"/>
            <a:lstStyle/>
            <a:p>
              <a:pPr algn="ctr">
                <a:lnSpc>
                  <a:spcPts val="2659"/>
                </a:lnSpc>
              </a:pPr>
            </a:p>
          </p:txBody>
        </p:sp>
      </p:grpSp>
      <p:grpSp>
        <p:nvGrpSpPr>
          <p:cNvPr name="Group 9" id="9"/>
          <p:cNvGrpSpPr/>
          <p:nvPr/>
        </p:nvGrpSpPr>
        <p:grpSpPr>
          <a:xfrm rot="-2042265">
            <a:off x="-9170706" y="10779985"/>
            <a:ext cx="13665829" cy="1525700"/>
            <a:chOff x="0" y="0"/>
            <a:chExt cx="3599231" cy="401831"/>
          </a:xfrm>
        </p:grpSpPr>
        <p:sp>
          <p:nvSpPr>
            <p:cNvPr name="Freeform 10" id="10"/>
            <p:cNvSpPr/>
            <p:nvPr/>
          </p:nvSpPr>
          <p:spPr>
            <a:xfrm flipH="false" flipV="false" rot="0">
              <a:off x="0" y="0"/>
              <a:ext cx="3599231" cy="401831"/>
            </a:xfrm>
            <a:custGeom>
              <a:avLst/>
              <a:gdLst/>
              <a:ahLst/>
              <a:cxnLst/>
              <a:rect r="r" b="b" t="t" l="l"/>
              <a:pathLst>
                <a:path h="401831" w="3599231">
                  <a:moveTo>
                    <a:pt x="203200" y="0"/>
                  </a:moveTo>
                  <a:lnTo>
                    <a:pt x="3599231" y="0"/>
                  </a:lnTo>
                  <a:lnTo>
                    <a:pt x="3396031" y="401831"/>
                  </a:lnTo>
                  <a:lnTo>
                    <a:pt x="0" y="401831"/>
                  </a:lnTo>
                  <a:lnTo>
                    <a:pt x="203200" y="0"/>
                  </a:lnTo>
                  <a:close/>
                </a:path>
              </a:pathLst>
            </a:custGeom>
            <a:solidFill>
              <a:srgbClr val="578EAF"/>
            </a:solidFill>
          </p:spPr>
        </p:sp>
        <p:sp>
          <p:nvSpPr>
            <p:cNvPr name="TextBox 11" id="11"/>
            <p:cNvSpPr txBox="true"/>
            <p:nvPr/>
          </p:nvSpPr>
          <p:spPr>
            <a:xfrm>
              <a:off x="101600" y="-38100"/>
              <a:ext cx="3396031" cy="439931"/>
            </a:xfrm>
            <a:prstGeom prst="rect">
              <a:avLst/>
            </a:prstGeom>
          </p:spPr>
          <p:txBody>
            <a:bodyPr anchor="ctr" rtlCol="false" tIns="50800" lIns="50800" bIns="50800" rIns="50800"/>
            <a:lstStyle/>
            <a:p>
              <a:pPr algn="ctr">
                <a:lnSpc>
                  <a:spcPts val="2659"/>
                </a:lnSpc>
              </a:pPr>
            </a:p>
          </p:txBody>
        </p:sp>
      </p:grpSp>
      <p:grpSp>
        <p:nvGrpSpPr>
          <p:cNvPr name="Group 12" id="12"/>
          <p:cNvGrpSpPr/>
          <p:nvPr/>
        </p:nvGrpSpPr>
        <p:grpSpPr>
          <a:xfrm rot="1668227">
            <a:off x="1326557" y="9102829"/>
            <a:ext cx="10495456" cy="1412986"/>
            <a:chOff x="0" y="0"/>
            <a:chExt cx="2764235" cy="372144"/>
          </a:xfrm>
        </p:grpSpPr>
        <p:sp>
          <p:nvSpPr>
            <p:cNvPr name="Freeform 13" id="13"/>
            <p:cNvSpPr/>
            <p:nvPr/>
          </p:nvSpPr>
          <p:spPr>
            <a:xfrm flipH="false" flipV="false" rot="0">
              <a:off x="0" y="0"/>
              <a:ext cx="2764235" cy="372144"/>
            </a:xfrm>
            <a:custGeom>
              <a:avLst/>
              <a:gdLst/>
              <a:ahLst/>
              <a:cxnLst/>
              <a:rect r="r" b="b" t="t" l="l"/>
              <a:pathLst>
                <a:path h="372144" w="2764235">
                  <a:moveTo>
                    <a:pt x="203200" y="0"/>
                  </a:moveTo>
                  <a:lnTo>
                    <a:pt x="2764235" y="0"/>
                  </a:lnTo>
                  <a:lnTo>
                    <a:pt x="2561035" y="372144"/>
                  </a:lnTo>
                  <a:lnTo>
                    <a:pt x="0" y="372144"/>
                  </a:lnTo>
                  <a:lnTo>
                    <a:pt x="203200" y="0"/>
                  </a:lnTo>
                  <a:close/>
                </a:path>
              </a:pathLst>
            </a:custGeom>
            <a:solidFill>
              <a:srgbClr val="6AABD2"/>
            </a:solidFill>
          </p:spPr>
        </p:sp>
        <p:sp>
          <p:nvSpPr>
            <p:cNvPr name="TextBox 14" id="14"/>
            <p:cNvSpPr txBox="true"/>
            <p:nvPr/>
          </p:nvSpPr>
          <p:spPr>
            <a:xfrm>
              <a:off x="101600" y="-38100"/>
              <a:ext cx="2561035" cy="410244"/>
            </a:xfrm>
            <a:prstGeom prst="rect">
              <a:avLst/>
            </a:prstGeom>
          </p:spPr>
          <p:txBody>
            <a:bodyPr anchor="ctr" rtlCol="false" tIns="50800" lIns="50800" bIns="50800" rIns="50800"/>
            <a:lstStyle/>
            <a:p>
              <a:pPr algn="ctr">
                <a:lnSpc>
                  <a:spcPts val="2659"/>
                </a:lnSpc>
              </a:pPr>
            </a:p>
          </p:txBody>
        </p:sp>
      </p:grpSp>
      <p:sp>
        <p:nvSpPr>
          <p:cNvPr name="Freeform 15" id="15"/>
          <p:cNvSpPr/>
          <p:nvPr/>
        </p:nvSpPr>
        <p:spPr>
          <a:xfrm flipH="false" flipV="false" rot="0">
            <a:off x="1028700" y="3794824"/>
            <a:ext cx="6897301" cy="1870455"/>
          </a:xfrm>
          <a:custGeom>
            <a:avLst/>
            <a:gdLst/>
            <a:ahLst/>
            <a:cxnLst/>
            <a:rect r="r" b="b" t="t" l="l"/>
            <a:pathLst>
              <a:path h="1870455" w="6897301">
                <a:moveTo>
                  <a:pt x="0" y="0"/>
                </a:moveTo>
                <a:lnTo>
                  <a:pt x="6897301" y="0"/>
                </a:lnTo>
                <a:lnTo>
                  <a:pt x="6897301" y="1870454"/>
                </a:lnTo>
                <a:lnTo>
                  <a:pt x="0" y="1870454"/>
                </a:lnTo>
                <a:lnTo>
                  <a:pt x="0" y="0"/>
                </a:lnTo>
                <a:close/>
              </a:path>
            </a:pathLst>
          </a:custGeom>
          <a:blipFill>
            <a:blip r:embed="rId4"/>
            <a:stretch>
              <a:fillRect l="0" t="0" r="0" b="0"/>
            </a:stretch>
          </a:blipFill>
        </p:spPr>
      </p:sp>
      <p:sp>
        <p:nvSpPr>
          <p:cNvPr name="Freeform 16" id="16"/>
          <p:cNvSpPr/>
          <p:nvPr/>
        </p:nvSpPr>
        <p:spPr>
          <a:xfrm flipH="false" flipV="false" rot="0">
            <a:off x="8815266" y="6962848"/>
            <a:ext cx="4578391" cy="1773139"/>
          </a:xfrm>
          <a:custGeom>
            <a:avLst/>
            <a:gdLst/>
            <a:ahLst/>
            <a:cxnLst/>
            <a:rect r="r" b="b" t="t" l="l"/>
            <a:pathLst>
              <a:path h="1773139" w="4578391">
                <a:moveTo>
                  <a:pt x="0" y="0"/>
                </a:moveTo>
                <a:lnTo>
                  <a:pt x="4578390" y="0"/>
                </a:lnTo>
                <a:lnTo>
                  <a:pt x="4578390" y="1773138"/>
                </a:lnTo>
                <a:lnTo>
                  <a:pt x="0" y="1773138"/>
                </a:lnTo>
                <a:lnTo>
                  <a:pt x="0" y="0"/>
                </a:lnTo>
                <a:close/>
              </a:path>
            </a:pathLst>
          </a:custGeom>
          <a:blipFill>
            <a:blip r:embed="rId5"/>
            <a:stretch>
              <a:fillRect l="0" t="0" r="-2886" b="0"/>
            </a:stretch>
          </a:blipFill>
        </p:spPr>
      </p:sp>
      <p:sp>
        <p:nvSpPr>
          <p:cNvPr name="Freeform 17" id="17"/>
          <p:cNvSpPr/>
          <p:nvPr/>
        </p:nvSpPr>
        <p:spPr>
          <a:xfrm flipH="false" flipV="false" rot="0">
            <a:off x="10305567" y="3124109"/>
            <a:ext cx="5449045" cy="2877666"/>
          </a:xfrm>
          <a:custGeom>
            <a:avLst/>
            <a:gdLst/>
            <a:ahLst/>
            <a:cxnLst/>
            <a:rect r="r" b="b" t="t" l="l"/>
            <a:pathLst>
              <a:path h="2877666" w="5449045">
                <a:moveTo>
                  <a:pt x="0" y="0"/>
                </a:moveTo>
                <a:lnTo>
                  <a:pt x="5449045" y="0"/>
                </a:lnTo>
                <a:lnTo>
                  <a:pt x="5449045" y="2877665"/>
                </a:lnTo>
                <a:lnTo>
                  <a:pt x="0" y="2877665"/>
                </a:lnTo>
                <a:lnTo>
                  <a:pt x="0" y="0"/>
                </a:lnTo>
                <a:close/>
              </a:path>
            </a:pathLst>
          </a:custGeom>
          <a:blipFill>
            <a:blip r:embed="rId6"/>
            <a:stretch>
              <a:fillRect l="0" t="0" r="0" b="0"/>
            </a:stretch>
          </a:blipFill>
        </p:spPr>
      </p:sp>
      <p:sp>
        <p:nvSpPr>
          <p:cNvPr name="TextBox 18" id="18"/>
          <p:cNvSpPr txBox="true"/>
          <p:nvPr/>
        </p:nvSpPr>
        <p:spPr>
          <a:xfrm rot="0">
            <a:off x="1517523" y="6214052"/>
            <a:ext cx="6867413" cy="2971132"/>
          </a:xfrm>
          <a:prstGeom prst="rect">
            <a:avLst/>
          </a:prstGeom>
        </p:spPr>
        <p:txBody>
          <a:bodyPr anchor="t" rtlCol="false" tIns="0" lIns="0" bIns="0" rIns="0">
            <a:spAutoFit/>
          </a:bodyPr>
          <a:lstStyle/>
          <a:p>
            <a:pPr algn="just">
              <a:lnSpc>
                <a:spcPts val="2461"/>
              </a:lnSpc>
            </a:pPr>
          </a:p>
          <a:p>
            <a:pPr algn="l" marL="379633" indent="-189817" lvl="1">
              <a:lnSpc>
                <a:spcPts val="2461"/>
              </a:lnSpc>
              <a:buFont typeface="Arial"/>
              <a:buChar char="•"/>
            </a:pPr>
            <a:r>
              <a:rPr lang="en-US" b="true" sz="1758">
                <a:solidFill>
                  <a:srgbClr val="253247"/>
                </a:solidFill>
                <a:latin typeface="Glacial Indifference Bold"/>
                <a:ea typeface="Glacial Indifference Bold"/>
                <a:cs typeface="Glacial Indifference Bold"/>
                <a:sym typeface="Glacial Indifference Bold"/>
              </a:rPr>
              <a:t>Geolocation Features</a:t>
            </a:r>
          </a:p>
          <a:p>
            <a:pPr algn="l" marL="759266" indent="-253089" lvl="2">
              <a:lnSpc>
                <a:spcPts val="2461"/>
              </a:lnSpc>
              <a:buFont typeface="Arial"/>
              <a:buChar char="⚬"/>
            </a:pPr>
            <a:r>
              <a:rPr lang="en-US" b="true" sz="1758">
                <a:solidFill>
                  <a:srgbClr val="253247"/>
                </a:solidFill>
                <a:latin typeface="Glacial Indifference Bold"/>
                <a:ea typeface="Glacial Indifference Bold"/>
                <a:cs typeface="Glacial Indifference Bold"/>
                <a:sym typeface="Glacial Indifference Bold"/>
              </a:rPr>
              <a:t>Lat/Lon: </a:t>
            </a:r>
            <a:r>
              <a:rPr lang="en-US" sz="1758">
                <a:solidFill>
                  <a:srgbClr val="253247"/>
                </a:solidFill>
                <a:latin typeface="Glacial Indifference"/>
                <a:ea typeface="Glacial Indifference"/>
                <a:cs typeface="Glacial Indifference"/>
                <a:sym typeface="Glacial Indifference"/>
              </a:rPr>
              <a:t>Decoded using geohash.</a:t>
            </a:r>
          </a:p>
          <a:p>
            <a:pPr algn="l" marL="759266" indent="-253089" lvl="2">
              <a:lnSpc>
                <a:spcPts val="2461"/>
              </a:lnSpc>
              <a:buFont typeface="Arial"/>
              <a:buChar char="⚬"/>
            </a:pPr>
            <a:r>
              <a:rPr lang="en-US" b="true" sz="1758">
                <a:solidFill>
                  <a:srgbClr val="253247"/>
                </a:solidFill>
                <a:latin typeface="Glacial Indifference Bold"/>
                <a:ea typeface="Glacial Indifference Bold"/>
                <a:cs typeface="Glacial Indifference Bold"/>
                <a:sym typeface="Glacial Indifference Bold"/>
              </a:rPr>
              <a:t>Distance to Dublin (distance_to_DublinCity): </a:t>
            </a:r>
            <a:r>
              <a:rPr lang="en-US" sz="1758">
                <a:solidFill>
                  <a:srgbClr val="253247"/>
                </a:solidFill>
                <a:latin typeface="Glacial Indifference"/>
                <a:ea typeface="Glacial Indifference"/>
                <a:cs typeface="Glacial Indifference"/>
                <a:sym typeface="Glacial Indifference"/>
              </a:rPr>
              <a:t>Calculated via distVincentySphere().</a:t>
            </a:r>
          </a:p>
          <a:p>
            <a:pPr algn="l" marL="759266" indent="-253089" lvl="2">
              <a:lnSpc>
                <a:spcPts val="2461"/>
              </a:lnSpc>
              <a:buFont typeface="Arial"/>
              <a:buChar char="⚬"/>
            </a:pPr>
            <a:r>
              <a:rPr lang="en-US" b="true" sz="1758">
                <a:solidFill>
                  <a:srgbClr val="253247"/>
                </a:solidFill>
                <a:latin typeface="Glacial Indifference Bold"/>
                <a:ea typeface="Glacial Indifference Bold"/>
                <a:cs typeface="Glacial Indifference Bold"/>
                <a:sym typeface="Glacial Indifference Bold"/>
              </a:rPr>
              <a:t>Purpose: </a:t>
            </a:r>
            <a:r>
              <a:rPr lang="en-US" sz="1758">
                <a:solidFill>
                  <a:srgbClr val="253247"/>
                </a:solidFill>
                <a:latin typeface="Glacial Indifference"/>
                <a:ea typeface="Glacial Indifference"/>
                <a:cs typeface="Glacial Indifference"/>
                <a:sym typeface="Glacial Indifference"/>
              </a:rPr>
              <a:t>Examine spatial factors affecting prices.</a:t>
            </a:r>
          </a:p>
          <a:p>
            <a:pPr algn="l" marL="759266" indent="-253089" lvl="2">
              <a:lnSpc>
                <a:spcPts val="2461"/>
              </a:lnSpc>
              <a:buFont typeface="Arial"/>
              <a:buChar char="⚬"/>
            </a:pPr>
            <a:r>
              <a:rPr lang="en-US" b="true" sz="1758">
                <a:solidFill>
                  <a:srgbClr val="253247"/>
                </a:solidFill>
                <a:latin typeface="Glacial Indifference Bold"/>
                <a:ea typeface="Glacial Indifference Bold"/>
                <a:cs typeface="Glacial Indifference Bold"/>
                <a:sym typeface="Glacial Indifference Bold"/>
              </a:rPr>
              <a:t>Packages: </a:t>
            </a:r>
            <a:r>
              <a:rPr lang="en-US" sz="1758">
                <a:solidFill>
                  <a:srgbClr val="253247"/>
                </a:solidFill>
                <a:latin typeface="Glacial Indifference"/>
                <a:ea typeface="Glacial Indifference"/>
                <a:cs typeface="Glacial Indifference"/>
                <a:sym typeface="Glacial Indifference"/>
              </a:rPr>
              <a:t>geohashTools, geosphere, sf</a:t>
            </a:r>
          </a:p>
          <a:p>
            <a:pPr algn="l" marL="759266" indent="-253089" lvl="2">
              <a:lnSpc>
                <a:spcPts val="2461"/>
              </a:lnSpc>
              <a:buFont typeface="Arial"/>
              <a:buChar char="⚬"/>
            </a:pPr>
            <a:r>
              <a:rPr lang="en-US" b="true" sz="1758">
                <a:solidFill>
                  <a:srgbClr val="253247"/>
                </a:solidFill>
                <a:latin typeface="Glacial Indifference Bold"/>
                <a:ea typeface="Glacial Indifference Bold"/>
                <a:cs typeface="Glacial Indifference Bold"/>
                <a:sym typeface="Glacial Indifference Bold"/>
              </a:rPr>
              <a:t>Functions: </a:t>
            </a:r>
            <a:r>
              <a:rPr lang="en-US" sz="1758">
                <a:solidFill>
                  <a:srgbClr val="253247"/>
                </a:solidFill>
                <a:latin typeface="Glacial Indifference"/>
                <a:ea typeface="Glacial Indifference"/>
                <a:cs typeface="Glacial Indifference"/>
                <a:sym typeface="Glacial Indifference"/>
              </a:rPr>
              <a:t>distVincentySphere(), gh_decode().</a:t>
            </a:r>
          </a:p>
          <a:p>
            <a:pPr algn="just">
              <a:lnSpc>
                <a:spcPts val="2461"/>
              </a:lnSpc>
              <a:spcBef>
                <a:spcPct val="0"/>
              </a:spcBef>
            </a:pPr>
          </a:p>
          <a:p>
            <a:pPr algn="just">
              <a:lnSpc>
                <a:spcPts val="1811"/>
              </a:lnSpc>
              <a:spcBef>
                <a:spcPct val="0"/>
              </a:spcBef>
            </a:pPr>
          </a:p>
        </p:txBody>
      </p:sp>
      <p:sp>
        <p:nvSpPr>
          <p:cNvPr name="Freeform 19" id="19"/>
          <p:cNvSpPr/>
          <p:nvPr/>
        </p:nvSpPr>
        <p:spPr>
          <a:xfrm flipH="false" flipV="false" rot="5400000">
            <a:off x="7887888" y="7233697"/>
            <a:ext cx="202740" cy="1028700"/>
          </a:xfrm>
          <a:custGeom>
            <a:avLst/>
            <a:gdLst/>
            <a:ahLst/>
            <a:cxnLst/>
            <a:rect r="r" b="b" t="t" l="l"/>
            <a:pathLst>
              <a:path h="1028700" w="202740">
                <a:moveTo>
                  <a:pt x="0" y="0"/>
                </a:moveTo>
                <a:lnTo>
                  <a:pt x="202740" y="0"/>
                </a:lnTo>
                <a:lnTo>
                  <a:pt x="202740" y="1028700"/>
                </a:lnTo>
                <a:lnTo>
                  <a:pt x="0" y="1028700"/>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20" id="20"/>
          <p:cNvSpPr/>
          <p:nvPr/>
        </p:nvSpPr>
        <p:spPr>
          <a:xfrm flipH="false" flipV="false" rot="0">
            <a:off x="7091903" y="3212838"/>
            <a:ext cx="383006" cy="1035150"/>
          </a:xfrm>
          <a:custGeom>
            <a:avLst/>
            <a:gdLst/>
            <a:ahLst/>
            <a:cxnLst/>
            <a:rect r="r" b="b" t="t" l="l"/>
            <a:pathLst>
              <a:path h="1035150" w="383006">
                <a:moveTo>
                  <a:pt x="0" y="0"/>
                </a:moveTo>
                <a:lnTo>
                  <a:pt x="383005" y="0"/>
                </a:lnTo>
                <a:lnTo>
                  <a:pt x="383005" y="1035151"/>
                </a:lnTo>
                <a:lnTo>
                  <a:pt x="0" y="1035151"/>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TextBox 21" id="21"/>
          <p:cNvSpPr txBox="true"/>
          <p:nvPr/>
        </p:nvSpPr>
        <p:spPr>
          <a:xfrm rot="0">
            <a:off x="9773149" y="1738091"/>
            <a:ext cx="6867413" cy="2056732"/>
          </a:xfrm>
          <a:prstGeom prst="rect">
            <a:avLst/>
          </a:prstGeom>
        </p:spPr>
        <p:txBody>
          <a:bodyPr anchor="t" rtlCol="false" tIns="0" lIns="0" bIns="0" rIns="0">
            <a:spAutoFit/>
          </a:bodyPr>
          <a:lstStyle/>
          <a:p>
            <a:pPr algn="just" marL="379633" indent="-189817" lvl="1">
              <a:lnSpc>
                <a:spcPts val="2461"/>
              </a:lnSpc>
              <a:buFont typeface="Arial"/>
              <a:buChar char="•"/>
            </a:pPr>
            <a:r>
              <a:rPr lang="en-US" b="true" sz="1758">
                <a:solidFill>
                  <a:srgbClr val="253247"/>
                </a:solidFill>
                <a:latin typeface="Glacial Indifference Bold"/>
                <a:ea typeface="Glacial Indifference Bold"/>
                <a:cs typeface="Glacial Indifference Bold"/>
                <a:sym typeface="Glacial Indifference Bold"/>
              </a:rPr>
              <a:t>Price Trend (price_trend)</a:t>
            </a:r>
          </a:p>
          <a:p>
            <a:pPr algn="just" marL="759266" indent="-253089" lvl="2">
              <a:lnSpc>
                <a:spcPts val="2461"/>
              </a:lnSpc>
              <a:buFont typeface="Arial"/>
              <a:buChar char="⚬"/>
            </a:pPr>
            <a:r>
              <a:rPr lang="en-US" b="true" sz="1758">
                <a:solidFill>
                  <a:srgbClr val="253247"/>
                </a:solidFill>
                <a:latin typeface="Glacial Indifference Bold"/>
                <a:ea typeface="Glacial Indifference Bold"/>
                <a:cs typeface="Glacial Indifference Bold"/>
                <a:sym typeface="Glacial Indifference Bold"/>
              </a:rPr>
              <a:t>Purpose: Track price evolution.</a:t>
            </a:r>
          </a:p>
          <a:p>
            <a:pPr algn="just" marL="759266" indent="-253089" lvl="2">
              <a:lnSpc>
                <a:spcPts val="2461"/>
              </a:lnSpc>
              <a:buFont typeface="Arial"/>
              <a:buChar char="⚬"/>
            </a:pPr>
            <a:r>
              <a:rPr lang="en-US" b="true" sz="1758">
                <a:solidFill>
                  <a:srgbClr val="253247"/>
                </a:solidFill>
                <a:latin typeface="Glacial Indifference Bold"/>
                <a:ea typeface="Glacial Indifference Bold"/>
                <a:cs typeface="Glacial Indifference Bold"/>
                <a:sym typeface="Glacial Indifference Bold"/>
              </a:rPr>
              <a:t>Packages: dplyr</a:t>
            </a:r>
          </a:p>
          <a:p>
            <a:pPr algn="just" marL="759266" indent="-253089" lvl="2">
              <a:lnSpc>
                <a:spcPts val="2461"/>
              </a:lnSpc>
              <a:buFont typeface="Arial"/>
              <a:buChar char="⚬"/>
            </a:pPr>
            <a:r>
              <a:rPr lang="en-US" b="true" sz="1758">
                <a:solidFill>
                  <a:srgbClr val="253247"/>
                </a:solidFill>
                <a:latin typeface="Glacial Indifference Bold"/>
                <a:ea typeface="Glacial Indifference Bold"/>
                <a:cs typeface="Glacial Indifference Bold"/>
                <a:sym typeface="Glacial Indifference Bold"/>
              </a:rPr>
              <a:t>Functions: lag() for comparing yearly prices.</a:t>
            </a:r>
          </a:p>
          <a:p>
            <a:pPr algn="l">
              <a:lnSpc>
                <a:spcPts val="2461"/>
              </a:lnSpc>
            </a:pPr>
          </a:p>
          <a:p>
            <a:pPr algn="just">
              <a:lnSpc>
                <a:spcPts val="2461"/>
              </a:lnSpc>
              <a:spcBef>
                <a:spcPct val="0"/>
              </a:spcBef>
            </a:pPr>
          </a:p>
          <a:p>
            <a:pPr algn="just">
              <a:lnSpc>
                <a:spcPts val="1811"/>
              </a:lnSpc>
              <a:spcBef>
                <a:spcPct val="0"/>
              </a:spcBef>
            </a:pPr>
          </a:p>
        </p:txBody>
      </p:sp>
      <p:sp>
        <p:nvSpPr>
          <p:cNvPr name="Freeform 22" id="22"/>
          <p:cNvSpPr/>
          <p:nvPr/>
        </p:nvSpPr>
        <p:spPr>
          <a:xfrm flipH="false" flipV="false" rot="1042783">
            <a:off x="14708850" y="2493118"/>
            <a:ext cx="1254094" cy="1261982"/>
          </a:xfrm>
          <a:custGeom>
            <a:avLst/>
            <a:gdLst/>
            <a:ahLst/>
            <a:cxnLst/>
            <a:rect r="r" b="b" t="t" l="l"/>
            <a:pathLst>
              <a:path h="1261982" w="1254094">
                <a:moveTo>
                  <a:pt x="0" y="0"/>
                </a:moveTo>
                <a:lnTo>
                  <a:pt x="1254094" y="0"/>
                </a:lnTo>
                <a:lnTo>
                  <a:pt x="1254094" y="1261982"/>
                </a:lnTo>
                <a:lnTo>
                  <a:pt x="0" y="1261982"/>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sp>
        <p:nvSpPr>
          <p:cNvPr name="Freeform 23" id="23"/>
          <p:cNvSpPr/>
          <p:nvPr/>
        </p:nvSpPr>
        <p:spPr>
          <a:xfrm flipH="false" flipV="false" rot="0">
            <a:off x="13573372" y="6468499"/>
            <a:ext cx="4362482" cy="2692274"/>
          </a:xfrm>
          <a:custGeom>
            <a:avLst/>
            <a:gdLst/>
            <a:ahLst/>
            <a:cxnLst/>
            <a:rect r="r" b="b" t="t" l="l"/>
            <a:pathLst>
              <a:path h="2692274" w="4362482">
                <a:moveTo>
                  <a:pt x="0" y="0"/>
                </a:moveTo>
                <a:lnTo>
                  <a:pt x="4362481" y="0"/>
                </a:lnTo>
                <a:lnTo>
                  <a:pt x="4362481" y="2692275"/>
                </a:lnTo>
                <a:lnTo>
                  <a:pt x="0" y="2692275"/>
                </a:lnTo>
                <a:lnTo>
                  <a:pt x="0" y="0"/>
                </a:lnTo>
                <a:close/>
              </a:path>
            </a:pathLst>
          </a:custGeom>
          <a:blipFill>
            <a:blip r:embed="rId13"/>
            <a:stretch>
              <a:fillRect l="0" t="0" r="0" b="0"/>
            </a:stretch>
          </a:blipFill>
        </p:spPr>
      </p:sp>
      <p:sp>
        <p:nvSpPr>
          <p:cNvPr name="TextBox 24" id="24"/>
          <p:cNvSpPr txBox="true"/>
          <p:nvPr/>
        </p:nvSpPr>
        <p:spPr>
          <a:xfrm rot="0">
            <a:off x="745549" y="2322233"/>
            <a:ext cx="9560018" cy="1743111"/>
          </a:xfrm>
          <a:prstGeom prst="rect">
            <a:avLst/>
          </a:prstGeom>
        </p:spPr>
        <p:txBody>
          <a:bodyPr anchor="t" rtlCol="false" tIns="0" lIns="0" bIns="0" rIns="0">
            <a:spAutoFit/>
          </a:bodyPr>
          <a:lstStyle/>
          <a:p>
            <a:pPr algn="l" marL="372746" indent="-186373" lvl="1">
              <a:lnSpc>
                <a:spcPts val="2417"/>
              </a:lnSpc>
              <a:buFont typeface="Arial"/>
              <a:buChar char="•"/>
            </a:pPr>
            <a:r>
              <a:rPr lang="en-US" b="true" sz="1726">
                <a:solidFill>
                  <a:srgbClr val="253247"/>
                </a:solidFill>
                <a:latin typeface="Glacial Indifference Bold"/>
                <a:ea typeface="Glacial Indifference Bold"/>
                <a:cs typeface="Glacial Indifference Bold"/>
                <a:sym typeface="Glacial Indifference Bold"/>
              </a:rPr>
              <a:t>Year of Sale (sale_year)</a:t>
            </a:r>
          </a:p>
          <a:p>
            <a:pPr algn="l" marL="745493" indent="-248498" lvl="2">
              <a:lnSpc>
                <a:spcPts val="2417"/>
              </a:lnSpc>
              <a:buFont typeface="Arial"/>
              <a:buChar char="⚬"/>
            </a:pPr>
            <a:r>
              <a:rPr lang="en-US" b="true" sz="1726">
                <a:solidFill>
                  <a:srgbClr val="253247"/>
                </a:solidFill>
                <a:latin typeface="Glacial Indifference Bold"/>
                <a:ea typeface="Glacial Indifference Bold"/>
                <a:cs typeface="Glacial Indifference Bold"/>
                <a:sym typeface="Glacial Indifference Bold"/>
              </a:rPr>
              <a:t>Purpose: </a:t>
            </a:r>
            <a:r>
              <a:rPr lang="en-US" sz="1726">
                <a:solidFill>
                  <a:srgbClr val="253247"/>
                </a:solidFill>
                <a:latin typeface="Glacial Indifference"/>
                <a:ea typeface="Glacial Indifference"/>
                <a:cs typeface="Glacial Indifference"/>
                <a:sym typeface="Glacial Indifference"/>
              </a:rPr>
              <a:t>Analyze temporal trends and market dynamics over time.</a:t>
            </a:r>
          </a:p>
          <a:p>
            <a:pPr algn="l" marL="745493" indent="-248498" lvl="2">
              <a:lnSpc>
                <a:spcPts val="2417"/>
              </a:lnSpc>
              <a:buFont typeface="Arial"/>
              <a:buChar char="⚬"/>
            </a:pPr>
            <a:r>
              <a:rPr lang="en-US" b="true" sz="1726">
                <a:solidFill>
                  <a:srgbClr val="253247"/>
                </a:solidFill>
                <a:latin typeface="Glacial Indifference Bold"/>
                <a:ea typeface="Glacial Indifference Bold"/>
                <a:cs typeface="Glacial Indifference Bold"/>
                <a:sym typeface="Glacial Indifference Bold"/>
              </a:rPr>
              <a:t>Packages: </a:t>
            </a:r>
            <a:r>
              <a:rPr lang="en-US" sz="1726">
                <a:solidFill>
                  <a:srgbClr val="253247"/>
                </a:solidFill>
                <a:latin typeface="Glacial Indifference"/>
                <a:ea typeface="Glacial Indifference"/>
                <a:cs typeface="Glacial Indifference"/>
                <a:sym typeface="Glacial Indifference"/>
              </a:rPr>
              <a:t>dplyr</a:t>
            </a:r>
          </a:p>
          <a:p>
            <a:pPr algn="l" marL="745493" indent="-248498" lvl="2">
              <a:lnSpc>
                <a:spcPts val="2417"/>
              </a:lnSpc>
              <a:buFont typeface="Arial"/>
              <a:buChar char="⚬"/>
            </a:pPr>
            <a:r>
              <a:rPr lang="en-US" b="true" sz="1726">
                <a:solidFill>
                  <a:srgbClr val="253247"/>
                </a:solidFill>
                <a:latin typeface="Glacial Indifference Bold"/>
                <a:ea typeface="Glacial Indifference Bold"/>
                <a:cs typeface="Glacial Indifference Bold"/>
                <a:sym typeface="Glacial Indifference Bold"/>
              </a:rPr>
              <a:t>Functions: </a:t>
            </a:r>
            <a:r>
              <a:rPr lang="en-US" sz="1726">
                <a:solidFill>
                  <a:srgbClr val="253247"/>
                </a:solidFill>
                <a:latin typeface="Glacial Indifference"/>
                <a:ea typeface="Glacial Indifference"/>
                <a:cs typeface="Glacial Indifference"/>
                <a:sym typeface="Glacial Indifference"/>
              </a:rPr>
              <a:t>year() from sale_date, month() with label = TRUE.</a:t>
            </a:r>
          </a:p>
          <a:p>
            <a:pPr algn="just">
              <a:lnSpc>
                <a:spcPts val="2417"/>
              </a:lnSpc>
              <a:spcBef>
                <a:spcPct val="0"/>
              </a:spcBef>
            </a:pPr>
          </a:p>
          <a:p>
            <a:pPr algn="just">
              <a:lnSpc>
                <a:spcPts val="1778"/>
              </a:lnSpc>
              <a:spcBef>
                <a:spcPct val="0"/>
              </a:spcBef>
            </a:pPr>
          </a:p>
        </p:txBody>
      </p:sp>
    </p:spTree>
  </p:cSld>
  <p:clrMapOvr>
    <a:masterClrMapping/>
  </p:clrMapOvr>
</p:sld>
</file>

<file path=ppt/slides/slide18.xml><?xml version="1.0" encoding="utf-8"?>
<p:sld xmlns:p="http://schemas.openxmlformats.org/presentationml/2006/main" xmlns:a="http://schemas.openxmlformats.org/drawingml/2006/main" xmlns:r="http://schemas.openxmlformats.org/officeDocument/2006/relationships">
  <p:cSld>
    <p:bg>
      <p:bgPr>
        <a:solidFill>
          <a:srgbClr val="D9E4EC"/>
        </a:solidFill>
      </p:bgPr>
    </p:bg>
    <p:spTree>
      <p:nvGrpSpPr>
        <p:cNvPr id="1" name=""/>
        <p:cNvGrpSpPr/>
        <p:nvPr/>
      </p:nvGrpSpPr>
      <p:grpSpPr>
        <a:xfrm>
          <a:off x="0" y="0"/>
          <a:ext cx="0" cy="0"/>
          <a:chOff x="0" y="0"/>
          <a:chExt cx="0" cy="0"/>
        </a:xfrm>
      </p:grpSpPr>
      <p:sp>
        <p:nvSpPr>
          <p:cNvPr name="Freeform 2" id="2"/>
          <p:cNvSpPr/>
          <p:nvPr/>
        </p:nvSpPr>
        <p:spPr>
          <a:xfrm flipH="true" flipV="true" rot="0">
            <a:off x="15335897" y="-291796"/>
            <a:ext cx="2952103" cy="2944723"/>
          </a:xfrm>
          <a:custGeom>
            <a:avLst/>
            <a:gdLst/>
            <a:ahLst/>
            <a:cxnLst/>
            <a:rect r="r" b="b" t="t" l="l"/>
            <a:pathLst>
              <a:path h="2944723" w="2952103">
                <a:moveTo>
                  <a:pt x="2952103" y="2944722"/>
                </a:moveTo>
                <a:lnTo>
                  <a:pt x="0" y="2944722"/>
                </a:lnTo>
                <a:lnTo>
                  <a:pt x="0" y="0"/>
                </a:lnTo>
                <a:lnTo>
                  <a:pt x="2952103" y="0"/>
                </a:lnTo>
                <a:lnTo>
                  <a:pt x="2952103" y="2944722"/>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8828038">
            <a:off x="4271547" y="-2750518"/>
            <a:ext cx="13665829" cy="1525700"/>
            <a:chOff x="0" y="0"/>
            <a:chExt cx="3599231" cy="401831"/>
          </a:xfrm>
        </p:grpSpPr>
        <p:sp>
          <p:nvSpPr>
            <p:cNvPr name="Freeform 4" id="4"/>
            <p:cNvSpPr/>
            <p:nvPr/>
          </p:nvSpPr>
          <p:spPr>
            <a:xfrm flipH="false" flipV="false" rot="0">
              <a:off x="0" y="0"/>
              <a:ext cx="3599231" cy="401831"/>
            </a:xfrm>
            <a:custGeom>
              <a:avLst/>
              <a:gdLst/>
              <a:ahLst/>
              <a:cxnLst/>
              <a:rect r="r" b="b" t="t" l="l"/>
              <a:pathLst>
                <a:path h="401831" w="3599231">
                  <a:moveTo>
                    <a:pt x="203200" y="0"/>
                  </a:moveTo>
                  <a:lnTo>
                    <a:pt x="3599231" y="0"/>
                  </a:lnTo>
                  <a:lnTo>
                    <a:pt x="3396031" y="401831"/>
                  </a:lnTo>
                  <a:lnTo>
                    <a:pt x="0" y="401831"/>
                  </a:lnTo>
                  <a:lnTo>
                    <a:pt x="203200" y="0"/>
                  </a:lnTo>
                  <a:close/>
                </a:path>
              </a:pathLst>
            </a:custGeom>
            <a:solidFill>
              <a:srgbClr val="578EAF"/>
            </a:solidFill>
          </p:spPr>
        </p:sp>
        <p:sp>
          <p:nvSpPr>
            <p:cNvPr name="TextBox 5" id="5"/>
            <p:cNvSpPr txBox="true"/>
            <p:nvPr/>
          </p:nvSpPr>
          <p:spPr>
            <a:xfrm>
              <a:off x="101600" y="-38100"/>
              <a:ext cx="3396031" cy="439931"/>
            </a:xfrm>
            <a:prstGeom prst="rect">
              <a:avLst/>
            </a:prstGeom>
          </p:spPr>
          <p:txBody>
            <a:bodyPr anchor="ctr" rtlCol="false" tIns="50800" lIns="50800" bIns="50800" rIns="50800"/>
            <a:lstStyle/>
            <a:p>
              <a:pPr algn="ctr">
                <a:lnSpc>
                  <a:spcPts val="2659"/>
                </a:lnSpc>
              </a:pPr>
            </a:p>
          </p:txBody>
        </p:sp>
      </p:grpSp>
      <p:grpSp>
        <p:nvGrpSpPr>
          <p:cNvPr name="Group 6" id="6"/>
          <p:cNvGrpSpPr/>
          <p:nvPr/>
        </p:nvGrpSpPr>
        <p:grpSpPr>
          <a:xfrm rot="-9061468">
            <a:off x="-3088929" y="-1143254"/>
            <a:ext cx="10495456" cy="1412986"/>
            <a:chOff x="0" y="0"/>
            <a:chExt cx="2764235" cy="372144"/>
          </a:xfrm>
        </p:grpSpPr>
        <p:sp>
          <p:nvSpPr>
            <p:cNvPr name="Freeform 7" id="7"/>
            <p:cNvSpPr/>
            <p:nvPr/>
          </p:nvSpPr>
          <p:spPr>
            <a:xfrm flipH="false" flipV="false" rot="0">
              <a:off x="0" y="0"/>
              <a:ext cx="2764235" cy="372144"/>
            </a:xfrm>
            <a:custGeom>
              <a:avLst/>
              <a:gdLst/>
              <a:ahLst/>
              <a:cxnLst/>
              <a:rect r="r" b="b" t="t" l="l"/>
              <a:pathLst>
                <a:path h="372144" w="2764235">
                  <a:moveTo>
                    <a:pt x="203200" y="0"/>
                  </a:moveTo>
                  <a:lnTo>
                    <a:pt x="2764235" y="0"/>
                  </a:lnTo>
                  <a:lnTo>
                    <a:pt x="2561035" y="372144"/>
                  </a:lnTo>
                  <a:lnTo>
                    <a:pt x="0" y="372144"/>
                  </a:lnTo>
                  <a:lnTo>
                    <a:pt x="203200" y="0"/>
                  </a:lnTo>
                  <a:close/>
                </a:path>
              </a:pathLst>
            </a:custGeom>
            <a:solidFill>
              <a:srgbClr val="6AABD2"/>
            </a:solidFill>
          </p:spPr>
        </p:sp>
        <p:sp>
          <p:nvSpPr>
            <p:cNvPr name="TextBox 8" id="8"/>
            <p:cNvSpPr txBox="true"/>
            <p:nvPr/>
          </p:nvSpPr>
          <p:spPr>
            <a:xfrm>
              <a:off x="101600" y="-38100"/>
              <a:ext cx="2561035" cy="410244"/>
            </a:xfrm>
            <a:prstGeom prst="rect">
              <a:avLst/>
            </a:prstGeom>
          </p:spPr>
          <p:txBody>
            <a:bodyPr anchor="ctr" rtlCol="false" tIns="50800" lIns="50800" bIns="50800" rIns="50800"/>
            <a:lstStyle/>
            <a:p>
              <a:pPr algn="ctr">
                <a:lnSpc>
                  <a:spcPts val="2659"/>
                </a:lnSpc>
              </a:pPr>
            </a:p>
          </p:txBody>
        </p:sp>
      </p:grpSp>
      <p:grpSp>
        <p:nvGrpSpPr>
          <p:cNvPr name="Group 9" id="9"/>
          <p:cNvGrpSpPr/>
          <p:nvPr/>
        </p:nvGrpSpPr>
        <p:grpSpPr>
          <a:xfrm rot="-2042265">
            <a:off x="-9170706" y="10779985"/>
            <a:ext cx="13665829" cy="1525700"/>
            <a:chOff x="0" y="0"/>
            <a:chExt cx="3599231" cy="401831"/>
          </a:xfrm>
        </p:grpSpPr>
        <p:sp>
          <p:nvSpPr>
            <p:cNvPr name="Freeform 10" id="10"/>
            <p:cNvSpPr/>
            <p:nvPr/>
          </p:nvSpPr>
          <p:spPr>
            <a:xfrm flipH="false" flipV="false" rot="0">
              <a:off x="0" y="0"/>
              <a:ext cx="3599231" cy="401831"/>
            </a:xfrm>
            <a:custGeom>
              <a:avLst/>
              <a:gdLst/>
              <a:ahLst/>
              <a:cxnLst/>
              <a:rect r="r" b="b" t="t" l="l"/>
              <a:pathLst>
                <a:path h="401831" w="3599231">
                  <a:moveTo>
                    <a:pt x="203200" y="0"/>
                  </a:moveTo>
                  <a:lnTo>
                    <a:pt x="3599231" y="0"/>
                  </a:lnTo>
                  <a:lnTo>
                    <a:pt x="3396031" y="401831"/>
                  </a:lnTo>
                  <a:lnTo>
                    <a:pt x="0" y="401831"/>
                  </a:lnTo>
                  <a:lnTo>
                    <a:pt x="203200" y="0"/>
                  </a:lnTo>
                  <a:close/>
                </a:path>
              </a:pathLst>
            </a:custGeom>
            <a:solidFill>
              <a:srgbClr val="578EAF"/>
            </a:solidFill>
          </p:spPr>
        </p:sp>
        <p:sp>
          <p:nvSpPr>
            <p:cNvPr name="TextBox 11" id="11"/>
            <p:cNvSpPr txBox="true"/>
            <p:nvPr/>
          </p:nvSpPr>
          <p:spPr>
            <a:xfrm>
              <a:off x="101600" y="-38100"/>
              <a:ext cx="3396031" cy="439931"/>
            </a:xfrm>
            <a:prstGeom prst="rect">
              <a:avLst/>
            </a:prstGeom>
          </p:spPr>
          <p:txBody>
            <a:bodyPr anchor="ctr" rtlCol="false" tIns="50800" lIns="50800" bIns="50800" rIns="50800"/>
            <a:lstStyle/>
            <a:p>
              <a:pPr algn="ctr">
                <a:lnSpc>
                  <a:spcPts val="2659"/>
                </a:lnSpc>
              </a:pPr>
            </a:p>
          </p:txBody>
        </p:sp>
      </p:grpSp>
      <p:grpSp>
        <p:nvGrpSpPr>
          <p:cNvPr name="Group 12" id="12"/>
          <p:cNvGrpSpPr/>
          <p:nvPr/>
        </p:nvGrpSpPr>
        <p:grpSpPr>
          <a:xfrm rot="1668227">
            <a:off x="1326557" y="9102829"/>
            <a:ext cx="10495456" cy="1412986"/>
            <a:chOff x="0" y="0"/>
            <a:chExt cx="2764235" cy="372144"/>
          </a:xfrm>
        </p:grpSpPr>
        <p:sp>
          <p:nvSpPr>
            <p:cNvPr name="Freeform 13" id="13"/>
            <p:cNvSpPr/>
            <p:nvPr/>
          </p:nvSpPr>
          <p:spPr>
            <a:xfrm flipH="false" flipV="false" rot="0">
              <a:off x="0" y="0"/>
              <a:ext cx="2764235" cy="372144"/>
            </a:xfrm>
            <a:custGeom>
              <a:avLst/>
              <a:gdLst/>
              <a:ahLst/>
              <a:cxnLst/>
              <a:rect r="r" b="b" t="t" l="l"/>
              <a:pathLst>
                <a:path h="372144" w="2764235">
                  <a:moveTo>
                    <a:pt x="203200" y="0"/>
                  </a:moveTo>
                  <a:lnTo>
                    <a:pt x="2764235" y="0"/>
                  </a:lnTo>
                  <a:lnTo>
                    <a:pt x="2561035" y="372144"/>
                  </a:lnTo>
                  <a:lnTo>
                    <a:pt x="0" y="372144"/>
                  </a:lnTo>
                  <a:lnTo>
                    <a:pt x="203200" y="0"/>
                  </a:lnTo>
                  <a:close/>
                </a:path>
              </a:pathLst>
            </a:custGeom>
            <a:solidFill>
              <a:srgbClr val="6AABD2"/>
            </a:solidFill>
          </p:spPr>
        </p:sp>
        <p:sp>
          <p:nvSpPr>
            <p:cNvPr name="TextBox 14" id="14"/>
            <p:cNvSpPr txBox="true"/>
            <p:nvPr/>
          </p:nvSpPr>
          <p:spPr>
            <a:xfrm>
              <a:off x="101600" y="-38100"/>
              <a:ext cx="2561035" cy="410244"/>
            </a:xfrm>
            <a:prstGeom prst="rect">
              <a:avLst/>
            </a:prstGeom>
          </p:spPr>
          <p:txBody>
            <a:bodyPr anchor="ctr" rtlCol="false" tIns="50800" lIns="50800" bIns="50800" rIns="50800"/>
            <a:lstStyle/>
            <a:p>
              <a:pPr algn="ctr">
                <a:lnSpc>
                  <a:spcPts val="2659"/>
                </a:lnSpc>
              </a:pPr>
            </a:p>
          </p:txBody>
        </p:sp>
      </p:grpSp>
      <p:sp>
        <p:nvSpPr>
          <p:cNvPr name="Freeform 15" id="15"/>
          <p:cNvSpPr/>
          <p:nvPr/>
        </p:nvSpPr>
        <p:spPr>
          <a:xfrm flipH="false" flipV="false" rot="0">
            <a:off x="7091903" y="1614706"/>
            <a:ext cx="5462285" cy="2648381"/>
          </a:xfrm>
          <a:custGeom>
            <a:avLst/>
            <a:gdLst/>
            <a:ahLst/>
            <a:cxnLst/>
            <a:rect r="r" b="b" t="t" l="l"/>
            <a:pathLst>
              <a:path h="2648381" w="5462285">
                <a:moveTo>
                  <a:pt x="0" y="0"/>
                </a:moveTo>
                <a:lnTo>
                  <a:pt x="5462285" y="0"/>
                </a:lnTo>
                <a:lnTo>
                  <a:pt x="5462285" y="2648381"/>
                </a:lnTo>
                <a:lnTo>
                  <a:pt x="0" y="2648381"/>
                </a:lnTo>
                <a:lnTo>
                  <a:pt x="0" y="0"/>
                </a:lnTo>
                <a:close/>
              </a:path>
            </a:pathLst>
          </a:custGeom>
          <a:blipFill>
            <a:blip r:embed="rId4"/>
            <a:stretch>
              <a:fillRect l="0" t="0" r="0" b="0"/>
            </a:stretch>
          </a:blipFill>
        </p:spPr>
      </p:sp>
      <p:sp>
        <p:nvSpPr>
          <p:cNvPr name="Freeform 16" id="16"/>
          <p:cNvSpPr/>
          <p:nvPr/>
        </p:nvSpPr>
        <p:spPr>
          <a:xfrm flipH="false" flipV="false" rot="0">
            <a:off x="1028700" y="4096438"/>
            <a:ext cx="5565417" cy="3933911"/>
          </a:xfrm>
          <a:custGeom>
            <a:avLst/>
            <a:gdLst/>
            <a:ahLst/>
            <a:cxnLst/>
            <a:rect r="r" b="b" t="t" l="l"/>
            <a:pathLst>
              <a:path h="3933911" w="5565417">
                <a:moveTo>
                  <a:pt x="0" y="0"/>
                </a:moveTo>
                <a:lnTo>
                  <a:pt x="5565417" y="0"/>
                </a:lnTo>
                <a:lnTo>
                  <a:pt x="5565417" y="3933911"/>
                </a:lnTo>
                <a:lnTo>
                  <a:pt x="0" y="3933911"/>
                </a:lnTo>
                <a:lnTo>
                  <a:pt x="0" y="0"/>
                </a:lnTo>
                <a:close/>
              </a:path>
            </a:pathLst>
          </a:custGeom>
          <a:blipFill>
            <a:blip r:embed="rId5"/>
            <a:stretch>
              <a:fillRect l="0" t="0" r="0" b="0"/>
            </a:stretch>
          </a:blipFill>
        </p:spPr>
      </p:sp>
      <p:sp>
        <p:nvSpPr>
          <p:cNvPr name="Freeform 17" id="17"/>
          <p:cNvSpPr/>
          <p:nvPr/>
        </p:nvSpPr>
        <p:spPr>
          <a:xfrm flipH="false" flipV="false" rot="0">
            <a:off x="12119597" y="4867142"/>
            <a:ext cx="6432600" cy="3738949"/>
          </a:xfrm>
          <a:custGeom>
            <a:avLst/>
            <a:gdLst/>
            <a:ahLst/>
            <a:cxnLst/>
            <a:rect r="r" b="b" t="t" l="l"/>
            <a:pathLst>
              <a:path h="3738949" w="6432600">
                <a:moveTo>
                  <a:pt x="0" y="0"/>
                </a:moveTo>
                <a:lnTo>
                  <a:pt x="6432600" y="0"/>
                </a:lnTo>
                <a:lnTo>
                  <a:pt x="6432600" y="3738949"/>
                </a:lnTo>
                <a:lnTo>
                  <a:pt x="0" y="3738949"/>
                </a:lnTo>
                <a:lnTo>
                  <a:pt x="0" y="0"/>
                </a:lnTo>
                <a:close/>
              </a:path>
            </a:pathLst>
          </a:custGeom>
          <a:blipFill>
            <a:blip r:embed="rId6"/>
            <a:stretch>
              <a:fillRect l="0" t="0" r="0" b="0"/>
            </a:stretch>
          </a:blipFill>
        </p:spPr>
      </p:sp>
      <p:sp>
        <p:nvSpPr>
          <p:cNvPr name="TextBox 18" id="18"/>
          <p:cNvSpPr txBox="true"/>
          <p:nvPr/>
        </p:nvSpPr>
        <p:spPr>
          <a:xfrm rot="0">
            <a:off x="6751685" y="5686519"/>
            <a:ext cx="5367912" cy="2062094"/>
          </a:xfrm>
          <a:prstGeom prst="rect">
            <a:avLst/>
          </a:prstGeom>
        </p:spPr>
        <p:txBody>
          <a:bodyPr anchor="t" rtlCol="false" tIns="0" lIns="0" bIns="0" rIns="0">
            <a:spAutoFit/>
          </a:bodyPr>
          <a:lstStyle/>
          <a:p>
            <a:pPr algn="just">
              <a:lnSpc>
                <a:spcPts val="2121"/>
              </a:lnSpc>
            </a:pPr>
          </a:p>
          <a:p>
            <a:pPr algn="just" marL="327127" indent="-163564" lvl="1">
              <a:lnSpc>
                <a:spcPts val="2121"/>
              </a:lnSpc>
              <a:buFont typeface="Arial"/>
              <a:buChar char="•"/>
            </a:pPr>
            <a:r>
              <a:rPr lang="en-US" b="true" sz="1515">
                <a:solidFill>
                  <a:srgbClr val="253247"/>
                </a:solidFill>
                <a:latin typeface="Glacial Indifference Bold"/>
                <a:ea typeface="Glacial Indifference Bold"/>
                <a:cs typeface="Glacial Indifference Bold"/>
                <a:sym typeface="Glacial Indifference Bold"/>
              </a:rPr>
              <a:t>Property Type Classification (property_type)</a:t>
            </a:r>
          </a:p>
          <a:p>
            <a:pPr algn="just" marL="654255" indent="-218085" lvl="2">
              <a:lnSpc>
                <a:spcPts val="2121"/>
              </a:lnSpc>
              <a:buFont typeface="Arial"/>
              <a:buChar char="⚬"/>
            </a:pPr>
            <a:r>
              <a:rPr lang="en-US" b="true" sz="1515">
                <a:solidFill>
                  <a:srgbClr val="253247"/>
                </a:solidFill>
                <a:latin typeface="Glacial Indifference Bold"/>
                <a:ea typeface="Glacial Indifference Bold"/>
                <a:cs typeface="Glacial Indifference Bold"/>
                <a:sym typeface="Glacial Indifference Bold"/>
              </a:rPr>
              <a:t>Purpose: </a:t>
            </a:r>
            <a:r>
              <a:rPr lang="en-US" sz="1515">
                <a:solidFill>
                  <a:srgbClr val="253247"/>
                </a:solidFill>
                <a:latin typeface="Glacial Indifference"/>
                <a:ea typeface="Glacial Indifference"/>
                <a:cs typeface="Glacial Indifference"/>
                <a:sym typeface="Glacial Indifference"/>
              </a:rPr>
              <a:t>Analyze price variations across property types.</a:t>
            </a:r>
          </a:p>
          <a:p>
            <a:pPr algn="just" marL="654255" indent="-218085" lvl="2">
              <a:lnSpc>
                <a:spcPts val="2121"/>
              </a:lnSpc>
              <a:buFont typeface="Arial"/>
              <a:buChar char="⚬"/>
            </a:pPr>
            <a:r>
              <a:rPr lang="en-US" b="true" sz="1515">
                <a:solidFill>
                  <a:srgbClr val="253247"/>
                </a:solidFill>
                <a:latin typeface="Glacial Indifference Bold"/>
                <a:ea typeface="Glacial Indifference Bold"/>
                <a:cs typeface="Glacial Indifference Bold"/>
                <a:sym typeface="Glacial Indifference Bold"/>
              </a:rPr>
              <a:t>Packages: </a:t>
            </a:r>
            <a:r>
              <a:rPr lang="en-US" sz="1515">
                <a:solidFill>
                  <a:srgbClr val="253247"/>
                </a:solidFill>
                <a:latin typeface="Glacial Indifference"/>
                <a:ea typeface="Glacial Indifference"/>
                <a:cs typeface="Glacial Indifference"/>
                <a:sym typeface="Glacial Indifference"/>
              </a:rPr>
              <a:t>dplyr</a:t>
            </a:r>
          </a:p>
          <a:p>
            <a:pPr algn="just" marL="654255" indent="-218085" lvl="2">
              <a:lnSpc>
                <a:spcPts val="2121"/>
              </a:lnSpc>
              <a:buFont typeface="Arial"/>
              <a:buChar char="⚬"/>
            </a:pPr>
            <a:r>
              <a:rPr lang="en-US" b="true" sz="1515">
                <a:solidFill>
                  <a:srgbClr val="253247"/>
                </a:solidFill>
                <a:latin typeface="Glacial Indifference Bold"/>
                <a:ea typeface="Glacial Indifference Bold"/>
                <a:cs typeface="Glacial Indifference Bold"/>
                <a:sym typeface="Glacial Indifference Bold"/>
              </a:rPr>
              <a:t>Functions: </a:t>
            </a:r>
            <a:r>
              <a:rPr lang="en-US" sz="1515">
                <a:solidFill>
                  <a:srgbClr val="253247"/>
                </a:solidFill>
                <a:latin typeface="Glacial Indifference"/>
                <a:ea typeface="Glacial Indifference"/>
                <a:cs typeface="Glacial Indifference"/>
                <a:sym typeface="Glacial Indifference"/>
              </a:rPr>
              <a:t>case_when() from property_description.</a:t>
            </a:r>
          </a:p>
          <a:p>
            <a:pPr algn="just">
              <a:lnSpc>
                <a:spcPts val="2121"/>
              </a:lnSpc>
            </a:pPr>
          </a:p>
          <a:p>
            <a:pPr algn="just">
              <a:lnSpc>
                <a:spcPts val="2121"/>
              </a:lnSpc>
              <a:spcBef>
                <a:spcPct val="0"/>
              </a:spcBef>
            </a:pPr>
          </a:p>
          <a:p>
            <a:pPr algn="just">
              <a:lnSpc>
                <a:spcPts val="1561"/>
              </a:lnSpc>
              <a:spcBef>
                <a:spcPct val="0"/>
              </a:spcBef>
            </a:pPr>
          </a:p>
        </p:txBody>
      </p:sp>
      <p:sp>
        <p:nvSpPr>
          <p:cNvPr name="TextBox 19" id="19"/>
          <p:cNvSpPr txBox="true"/>
          <p:nvPr/>
        </p:nvSpPr>
        <p:spPr>
          <a:xfrm rot="0">
            <a:off x="756225" y="1953386"/>
            <a:ext cx="8390009" cy="2595494"/>
          </a:xfrm>
          <a:prstGeom prst="rect">
            <a:avLst/>
          </a:prstGeom>
        </p:spPr>
        <p:txBody>
          <a:bodyPr anchor="t" rtlCol="false" tIns="0" lIns="0" bIns="0" rIns="0">
            <a:spAutoFit/>
          </a:bodyPr>
          <a:lstStyle/>
          <a:p>
            <a:pPr algn="just">
              <a:lnSpc>
                <a:spcPts val="2121"/>
              </a:lnSpc>
            </a:pPr>
          </a:p>
          <a:p>
            <a:pPr algn="just" marL="327127" indent="-163564" lvl="1">
              <a:lnSpc>
                <a:spcPts val="2121"/>
              </a:lnSpc>
              <a:buFont typeface="Arial"/>
              <a:buChar char="•"/>
            </a:pPr>
            <a:r>
              <a:rPr lang="en-US" b="true" sz="1515">
                <a:solidFill>
                  <a:srgbClr val="253247"/>
                </a:solidFill>
                <a:latin typeface="Glacial Indifference Bold"/>
                <a:ea typeface="Glacial Indifference Bold"/>
                <a:cs typeface="Glacial Indifference Bold"/>
                <a:sym typeface="Glacial Indifference Bold"/>
              </a:rPr>
              <a:t>S</a:t>
            </a:r>
            <a:r>
              <a:rPr lang="en-US" b="true" sz="1515">
                <a:solidFill>
                  <a:srgbClr val="253247"/>
                </a:solidFill>
                <a:latin typeface="Glacial Indifference Bold"/>
                <a:ea typeface="Glacial Indifference Bold"/>
                <a:cs typeface="Glacial Indifference Bold"/>
                <a:sym typeface="Glacial Indifference Bold"/>
              </a:rPr>
              <a:t>easonal Factors</a:t>
            </a:r>
          </a:p>
          <a:p>
            <a:pPr algn="just" marL="654255" indent="-218085" lvl="2">
              <a:lnSpc>
                <a:spcPts val="2121"/>
              </a:lnSpc>
              <a:buFont typeface="Arial"/>
              <a:buChar char="⚬"/>
            </a:pPr>
            <a:r>
              <a:rPr lang="en-US" b="true" sz="1515">
                <a:solidFill>
                  <a:srgbClr val="253247"/>
                </a:solidFill>
                <a:latin typeface="Glacial Indifference Bold"/>
                <a:ea typeface="Glacial Indifference Bold"/>
                <a:cs typeface="Glacial Indifference Bold"/>
                <a:sym typeface="Glacial Indifference Bold"/>
              </a:rPr>
              <a:t>se</a:t>
            </a:r>
            <a:r>
              <a:rPr lang="en-US" b="true" sz="1515">
                <a:solidFill>
                  <a:srgbClr val="253247"/>
                </a:solidFill>
                <a:latin typeface="Glacial Indifference Bold"/>
                <a:ea typeface="Glacial Indifference Bold"/>
                <a:cs typeface="Glacial Indifference Bold"/>
                <a:sym typeface="Glacial Indifference Bold"/>
              </a:rPr>
              <a:t>asonal_factor: </a:t>
            </a:r>
            <a:r>
              <a:rPr lang="en-US" sz="1515">
                <a:solidFill>
                  <a:srgbClr val="253247"/>
                </a:solidFill>
                <a:latin typeface="Glacial Indifference"/>
                <a:ea typeface="Glacial Indifference"/>
                <a:cs typeface="Glacial Indifference"/>
                <a:sym typeface="Glacial Indifference"/>
              </a:rPr>
              <a:t>Spring, Summer, Autumn, Winter.</a:t>
            </a:r>
          </a:p>
          <a:p>
            <a:pPr algn="just" marL="654255" indent="-218085" lvl="2">
              <a:lnSpc>
                <a:spcPts val="2121"/>
              </a:lnSpc>
              <a:buFont typeface="Arial"/>
              <a:buChar char="⚬"/>
            </a:pPr>
            <a:r>
              <a:rPr lang="en-US" b="true" sz="1515">
                <a:solidFill>
                  <a:srgbClr val="253247"/>
                </a:solidFill>
                <a:latin typeface="Glacial Indifference Bold"/>
                <a:ea typeface="Glacial Indifference Bold"/>
                <a:cs typeface="Glacial Indifference Bold"/>
                <a:sym typeface="Glacial Indifference Bold"/>
              </a:rPr>
              <a:t>sale_quarter: </a:t>
            </a:r>
            <a:r>
              <a:rPr lang="en-US" sz="1515">
                <a:solidFill>
                  <a:srgbClr val="253247"/>
                </a:solidFill>
                <a:latin typeface="Glacial Indifference"/>
                <a:ea typeface="Glacial Indifference"/>
                <a:cs typeface="Glacial Indifference"/>
                <a:sym typeface="Glacial Indifference"/>
              </a:rPr>
              <a:t>Q1 to Q4.</a:t>
            </a:r>
          </a:p>
          <a:p>
            <a:pPr algn="just" marL="654255" indent="-218085" lvl="2">
              <a:lnSpc>
                <a:spcPts val="2121"/>
              </a:lnSpc>
              <a:buFont typeface="Arial"/>
              <a:buChar char="⚬"/>
            </a:pPr>
            <a:r>
              <a:rPr lang="en-US" b="true" sz="1515">
                <a:solidFill>
                  <a:srgbClr val="253247"/>
                </a:solidFill>
                <a:latin typeface="Glacial Indifference Bold"/>
                <a:ea typeface="Glacial Indifference Bold"/>
                <a:cs typeface="Glacial Indifference Bold"/>
                <a:sym typeface="Glacial Indifference Bold"/>
              </a:rPr>
              <a:t>Purpose: </a:t>
            </a:r>
            <a:r>
              <a:rPr lang="en-US" sz="1515">
                <a:solidFill>
                  <a:srgbClr val="253247"/>
                </a:solidFill>
                <a:latin typeface="Glacial Indifference"/>
                <a:ea typeface="Glacial Indifference"/>
                <a:cs typeface="Glacial Indifference"/>
                <a:sym typeface="Glacial Indifference"/>
              </a:rPr>
              <a:t>Seasonal analysis of sales trends.</a:t>
            </a:r>
          </a:p>
          <a:p>
            <a:pPr algn="just" marL="654255" indent="-218085" lvl="2">
              <a:lnSpc>
                <a:spcPts val="2121"/>
              </a:lnSpc>
              <a:buFont typeface="Arial"/>
              <a:buChar char="⚬"/>
            </a:pPr>
            <a:r>
              <a:rPr lang="en-US" b="true" sz="1515">
                <a:solidFill>
                  <a:srgbClr val="253247"/>
                </a:solidFill>
                <a:latin typeface="Glacial Indifference Bold"/>
                <a:ea typeface="Glacial Indifference Bold"/>
                <a:cs typeface="Glacial Indifference Bold"/>
                <a:sym typeface="Glacial Indifference Bold"/>
              </a:rPr>
              <a:t>Packages: </a:t>
            </a:r>
            <a:r>
              <a:rPr lang="en-US" sz="1515">
                <a:solidFill>
                  <a:srgbClr val="253247"/>
                </a:solidFill>
                <a:latin typeface="Glacial Indifference"/>
                <a:ea typeface="Glacial Indifference"/>
                <a:cs typeface="Glacial Indifference"/>
                <a:sym typeface="Glacial Indifference"/>
              </a:rPr>
              <a:t>dplyr</a:t>
            </a:r>
          </a:p>
          <a:p>
            <a:pPr algn="just" marL="654255" indent="-218085" lvl="2">
              <a:lnSpc>
                <a:spcPts val="2121"/>
              </a:lnSpc>
              <a:buFont typeface="Arial"/>
              <a:buChar char="⚬"/>
            </a:pPr>
            <a:r>
              <a:rPr lang="en-US" b="true" sz="1515">
                <a:solidFill>
                  <a:srgbClr val="253247"/>
                </a:solidFill>
                <a:latin typeface="Glacial Indifference Bold"/>
                <a:ea typeface="Glacial Indifference Bold"/>
                <a:cs typeface="Glacial Indifference Bold"/>
                <a:sym typeface="Glacial Indifference Bold"/>
              </a:rPr>
              <a:t>Functions: </a:t>
            </a:r>
            <a:r>
              <a:rPr lang="en-US" sz="1515">
                <a:solidFill>
                  <a:srgbClr val="253247"/>
                </a:solidFill>
                <a:latin typeface="Glacial Indifference"/>
                <a:ea typeface="Glacial Indifference"/>
                <a:cs typeface="Glacial Indifference"/>
                <a:sym typeface="Glacial Indifference"/>
              </a:rPr>
              <a:t>case_when() for grouping.</a:t>
            </a:r>
          </a:p>
          <a:p>
            <a:pPr algn="just">
              <a:lnSpc>
                <a:spcPts val="2121"/>
              </a:lnSpc>
            </a:pPr>
          </a:p>
          <a:p>
            <a:pPr algn="just">
              <a:lnSpc>
                <a:spcPts val="2121"/>
              </a:lnSpc>
              <a:spcBef>
                <a:spcPct val="0"/>
              </a:spcBef>
            </a:pPr>
          </a:p>
          <a:p>
            <a:pPr algn="just">
              <a:lnSpc>
                <a:spcPts val="1561"/>
              </a:lnSpc>
              <a:spcBef>
                <a:spcPct val="0"/>
              </a:spcBef>
            </a:pPr>
          </a:p>
        </p:txBody>
      </p:sp>
      <p:sp>
        <p:nvSpPr>
          <p:cNvPr name="Freeform 20" id="20"/>
          <p:cNvSpPr/>
          <p:nvPr/>
        </p:nvSpPr>
        <p:spPr>
          <a:xfrm flipH="false" flipV="false" rot="0">
            <a:off x="10900583" y="7086035"/>
            <a:ext cx="1046982" cy="1010338"/>
          </a:xfrm>
          <a:custGeom>
            <a:avLst/>
            <a:gdLst/>
            <a:ahLst/>
            <a:cxnLst/>
            <a:rect r="r" b="b" t="t" l="l"/>
            <a:pathLst>
              <a:path h="1010338" w="1046982">
                <a:moveTo>
                  <a:pt x="0" y="0"/>
                </a:moveTo>
                <a:lnTo>
                  <a:pt x="1046982" y="0"/>
                </a:lnTo>
                <a:lnTo>
                  <a:pt x="1046982" y="1010338"/>
                </a:lnTo>
                <a:lnTo>
                  <a:pt x="0" y="1010338"/>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TextBox 21" id="21"/>
          <p:cNvSpPr txBox="true"/>
          <p:nvPr/>
        </p:nvSpPr>
        <p:spPr>
          <a:xfrm rot="0">
            <a:off x="12616944" y="1888800"/>
            <a:ext cx="8390009" cy="2062094"/>
          </a:xfrm>
          <a:prstGeom prst="rect">
            <a:avLst/>
          </a:prstGeom>
        </p:spPr>
        <p:txBody>
          <a:bodyPr anchor="t" rtlCol="false" tIns="0" lIns="0" bIns="0" rIns="0">
            <a:spAutoFit/>
          </a:bodyPr>
          <a:lstStyle/>
          <a:p>
            <a:pPr algn="just">
              <a:lnSpc>
                <a:spcPts val="2121"/>
              </a:lnSpc>
            </a:pPr>
          </a:p>
          <a:p>
            <a:pPr algn="just" marL="327127" indent="-163564" lvl="1">
              <a:lnSpc>
                <a:spcPts val="2121"/>
              </a:lnSpc>
              <a:buFont typeface="Arial"/>
              <a:buChar char="•"/>
            </a:pPr>
            <a:r>
              <a:rPr lang="en-US" b="true" sz="1515">
                <a:solidFill>
                  <a:srgbClr val="253247"/>
                </a:solidFill>
                <a:latin typeface="Glacial Indifference Bold"/>
                <a:ea typeface="Glacial Indifference Bold"/>
                <a:cs typeface="Glacial Indifference Bold"/>
                <a:sym typeface="Glacial Indifference Bold"/>
              </a:rPr>
              <a:t>Market Condition (market_condition)</a:t>
            </a:r>
          </a:p>
          <a:p>
            <a:pPr algn="just" marL="654255" indent="-218085" lvl="2">
              <a:lnSpc>
                <a:spcPts val="2121"/>
              </a:lnSpc>
              <a:buFont typeface="Arial"/>
              <a:buChar char="⚬"/>
            </a:pPr>
            <a:r>
              <a:rPr lang="en-US" b="true" sz="1515">
                <a:solidFill>
                  <a:srgbClr val="253247"/>
                </a:solidFill>
                <a:latin typeface="Glacial Indifference Bold"/>
                <a:ea typeface="Glacial Indifference Bold"/>
                <a:cs typeface="Glacial Indifference Bold"/>
                <a:sym typeface="Glacial Indifference Bold"/>
              </a:rPr>
              <a:t>Purpose: </a:t>
            </a:r>
            <a:r>
              <a:rPr lang="en-US" sz="1515">
                <a:solidFill>
                  <a:srgbClr val="253247"/>
                </a:solidFill>
                <a:latin typeface="Glacial Indifference"/>
                <a:ea typeface="Glacial Indifference"/>
                <a:cs typeface="Glacial Indifference"/>
                <a:sym typeface="Glacial Indifference"/>
              </a:rPr>
              <a:t>Analyze the impact of seasonal demand.</a:t>
            </a:r>
          </a:p>
          <a:p>
            <a:pPr algn="just" marL="654255" indent="-218085" lvl="2">
              <a:lnSpc>
                <a:spcPts val="2121"/>
              </a:lnSpc>
              <a:buFont typeface="Arial"/>
              <a:buChar char="⚬"/>
            </a:pPr>
            <a:r>
              <a:rPr lang="en-US" b="true" sz="1515">
                <a:solidFill>
                  <a:srgbClr val="253247"/>
                </a:solidFill>
                <a:latin typeface="Glacial Indifference Bold"/>
                <a:ea typeface="Glacial Indifference Bold"/>
                <a:cs typeface="Glacial Indifference Bold"/>
                <a:sym typeface="Glacial Indifference Bold"/>
              </a:rPr>
              <a:t>Packages: </a:t>
            </a:r>
            <a:r>
              <a:rPr lang="en-US" sz="1515">
                <a:solidFill>
                  <a:srgbClr val="253247"/>
                </a:solidFill>
                <a:latin typeface="Glacial Indifference"/>
                <a:ea typeface="Glacial Indifference"/>
                <a:cs typeface="Glacial Indifference"/>
                <a:sym typeface="Glacial Indifference"/>
              </a:rPr>
              <a:t>dplyr</a:t>
            </a:r>
          </a:p>
          <a:p>
            <a:pPr algn="just" marL="654255" indent="-218085" lvl="2">
              <a:lnSpc>
                <a:spcPts val="2121"/>
              </a:lnSpc>
              <a:buFont typeface="Arial"/>
              <a:buChar char="⚬"/>
            </a:pPr>
            <a:r>
              <a:rPr lang="en-US" b="true" sz="1515">
                <a:solidFill>
                  <a:srgbClr val="253247"/>
                </a:solidFill>
                <a:latin typeface="Glacial Indifference Bold"/>
                <a:ea typeface="Glacial Indifference Bold"/>
                <a:cs typeface="Glacial Indifference Bold"/>
                <a:sym typeface="Glacial Indifference Bold"/>
              </a:rPr>
              <a:t>Functions:</a:t>
            </a:r>
            <a:r>
              <a:rPr lang="en-US" sz="1515">
                <a:solidFill>
                  <a:srgbClr val="253247"/>
                </a:solidFill>
                <a:latin typeface="Glacial Indifference"/>
                <a:ea typeface="Glacial Indifference"/>
                <a:cs typeface="Glacial Indifference"/>
                <a:sym typeface="Glacial Indifference"/>
              </a:rPr>
              <a:t> ifelse() to classify months.</a:t>
            </a:r>
          </a:p>
          <a:p>
            <a:pPr algn="just">
              <a:lnSpc>
                <a:spcPts val="2121"/>
              </a:lnSpc>
            </a:pPr>
          </a:p>
          <a:p>
            <a:pPr algn="just">
              <a:lnSpc>
                <a:spcPts val="2121"/>
              </a:lnSpc>
              <a:spcBef>
                <a:spcPct val="0"/>
              </a:spcBef>
            </a:pPr>
          </a:p>
          <a:p>
            <a:pPr algn="just">
              <a:lnSpc>
                <a:spcPts val="1561"/>
              </a:lnSpc>
              <a:spcBef>
                <a:spcPct val="0"/>
              </a:spcBef>
            </a:pPr>
          </a:p>
        </p:txBody>
      </p:sp>
      <p:sp>
        <p:nvSpPr>
          <p:cNvPr name="Freeform 22" id="22"/>
          <p:cNvSpPr/>
          <p:nvPr/>
        </p:nvSpPr>
        <p:spPr>
          <a:xfrm flipH="false" flipV="false" rot="1042783">
            <a:off x="5180171" y="3428677"/>
            <a:ext cx="1254094" cy="1261982"/>
          </a:xfrm>
          <a:custGeom>
            <a:avLst/>
            <a:gdLst/>
            <a:ahLst/>
            <a:cxnLst/>
            <a:rect r="r" b="b" t="t" l="l"/>
            <a:pathLst>
              <a:path h="1261982" w="1254094">
                <a:moveTo>
                  <a:pt x="0" y="0"/>
                </a:moveTo>
                <a:lnTo>
                  <a:pt x="1254094" y="0"/>
                </a:lnTo>
                <a:lnTo>
                  <a:pt x="1254094" y="1261982"/>
                </a:lnTo>
                <a:lnTo>
                  <a:pt x="0" y="1261982"/>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Freeform 23" id="23"/>
          <p:cNvSpPr/>
          <p:nvPr/>
        </p:nvSpPr>
        <p:spPr>
          <a:xfrm flipH="false" flipV="false" rot="-5400000">
            <a:off x="12812232" y="2751495"/>
            <a:ext cx="340027" cy="1725298"/>
          </a:xfrm>
          <a:custGeom>
            <a:avLst/>
            <a:gdLst/>
            <a:ahLst/>
            <a:cxnLst/>
            <a:rect r="r" b="b" t="t" l="l"/>
            <a:pathLst>
              <a:path h="1725298" w="340027">
                <a:moveTo>
                  <a:pt x="0" y="0"/>
                </a:moveTo>
                <a:lnTo>
                  <a:pt x="340028" y="0"/>
                </a:lnTo>
                <a:lnTo>
                  <a:pt x="340028" y="1725297"/>
                </a:lnTo>
                <a:lnTo>
                  <a:pt x="0" y="1725297"/>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spTree>
  </p:cSld>
  <p:clrMapOvr>
    <a:masterClrMapping/>
  </p:clrMapOvr>
</p:sld>
</file>

<file path=ppt/slides/slide19.xml><?xml version="1.0" encoding="utf-8"?>
<p:sld xmlns:p="http://schemas.openxmlformats.org/presentationml/2006/main" xmlns:a="http://schemas.openxmlformats.org/drawingml/2006/main" xmlns:r="http://schemas.openxmlformats.org/officeDocument/2006/relationships">
  <p:cSld>
    <p:bg>
      <p:bgPr>
        <a:solidFill>
          <a:srgbClr val="D9E4EC"/>
        </a:solidFill>
      </p:bgPr>
    </p:bg>
    <p:spTree>
      <p:nvGrpSpPr>
        <p:cNvPr id="1" name=""/>
        <p:cNvGrpSpPr/>
        <p:nvPr/>
      </p:nvGrpSpPr>
      <p:grpSpPr>
        <a:xfrm>
          <a:off x="0" y="0"/>
          <a:ext cx="0" cy="0"/>
          <a:chOff x="0" y="0"/>
          <a:chExt cx="0" cy="0"/>
        </a:xfrm>
      </p:grpSpPr>
      <p:sp>
        <p:nvSpPr>
          <p:cNvPr name="Freeform 2" id="2"/>
          <p:cNvSpPr/>
          <p:nvPr/>
        </p:nvSpPr>
        <p:spPr>
          <a:xfrm flipH="true" flipV="true" rot="0">
            <a:off x="15335897" y="-291796"/>
            <a:ext cx="2952103" cy="2944723"/>
          </a:xfrm>
          <a:custGeom>
            <a:avLst/>
            <a:gdLst/>
            <a:ahLst/>
            <a:cxnLst/>
            <a:rect r="r" b="b" t="t" l="l"/>
            <a:pathLst>
              <a:path h="2944723" w="2952103">
                <a:moveTo>
                  <a:pt x="2952103" y="2944722"/>
                </a:moveTo>
                <a:lnTo>
                  <a:pt x="0" y="2944722"/>
                </a:lnTo>
                <a:lnTo>
                  <a:pt x="0" y="0"/>
                </a:lnTo>
                <a:lnTo>
                  <a:pt x="2952103" y="0"/>
                </a:lnTo>
                <a:lnTo>
                  <a:pt x="2952103" y="2944722"/>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8828038">
            <a:off x="-1851762" y="-1988584"/>
            <a:ext cx="13665829" cy="1525700"/>
            <a:chOff x="0" y="0"/>
            <a:chExt cx="3599231" cy="401831"/>
          </a:xfrm>
        </p:grpSpPr>
        <p:sp>
          <p:nvSpPr>
            <p:cNvPr name="Freeform 4" id="4"/>
            <p:cNvSpPr/>
            <p:nvPr/>
          </p:nvSpPr>
          <p:spPr>
            <a:xfrm flipH="false" flipV="false" rot="0">
              <a:off x="0" y="0"/>
              <a:ext cx="3599231" cy="401831"/>
            </a:xfrm>
            <a:custGeom>
              <a:avLst/>
              <a:gdLst/>
              <a:ahLst/>
              <a:cxnLst/>
              <a:rect r="r" b="b" t="t" l="l"/>
              <a:pathLst>
                <a:path h="401831" w="3599231">
                  <a:moveTo>
                    <a:pt x="203200" y="0"/>
                  </a:moveTo>
                  <a:lnTo>
                    <a:pt x="3599231" y="0"/>
                  </a:lnTo>
                  <a:lnTo>
                    <a:pt x="3396031" y="401831"/>
                  </a:lnTo>
                  <a:lnTo>
                    <a:pt x="0" y="401831"/>
                  </a:lnTo>
                  <a:lnTo>
                    <a:pt x="203200" y="0"/>
                  </a:lnTo>
                  <a:close/>
                </a:path>
              </a:pathLst>
            </a:custGeom>
            <a:solidFill>
              <a:srgbClr val="578EAF"/>
            </a:solidFill>
          </p:spPr>
        </p:sp>
        <p:sp>
          <p:nvSpPr>
            <p:cNvPr name="TextBox 5" id="5"/>
            <p:cNvSpPr txBox="true"/>
            <p:nvPr/>
          </p:nvSpPr>
          <p:spPr>
            <a:xfrm>
              <a:off x="101600" y="-38100"/>
              <a:ext cx="3396031" cy="439931"/>
            </a:xfrm>
            <a:prstGeom prst="rect">
              <a:avLst/>
            </a:prstGeom>
          </p:spPr>
          <p:txBody>
            <a:bodyPr anchor="ctr" rtlCol="false" tIns="50800" lIns="50800" bIns="50800" rIns="50800"/>
            <a:lstStyle/>
            <a:p>
              <a:pPr algn="ctr">
                <a:lnSpc>
                  <a:spcPts val="2659"/>
                </a:lnSpc>
              </a:pPr>
            </a:p>
          </p:txBody>
        </p:sp>
      </p:grpSp>
      <p:grpSp>
        <p:nvGrpSpPr>
          <p:cNvPr name="Group 6" id="6"/>
          <p:cNvGrpSpPr/>
          <p:nvPr/>
        </p:nvGrpSpPr>
        <p:grpSpPr>
          <a:xfrm rot="-9061468">
            <a:off x="-3088929" y="-1143254"/>
            <a:ext cx="10495456" cy="1412986"/>
            <a:chOff x="0" y="0"/>
            <a:chExt cx="2764235" cy="372144"/>
          </a:xfrm>
        </p:grpSpPr>
        <p:sp>
          <p:nvSpPr>
            <p:cNvPr name="Freeform 7" id="7"/>
            <p:cNvSpPr/>
            <p:nvPr/>
          </p:nvSpPr>
          <p:spPr>
            <a:xfrm flipH="false" flipV="false" rot="0">
              <a:off x="0" y="0"/>
              <a:ext cx="2764235" cy="372144"/>
            </a:xfrm>
            <a:custGeom>
              <a:avLst/>
              <a:gdLst/>
              <a:ahLst/>
              <a:cxnLst/>
              <a:rect r="r" b="b" t="t" l="l"/>
              <a:pathLst>
                <a:path h="372144" w="2764235">
                  <a:moveTo>
                    <a:pt x="203200" y="0"/>
                  </a:moveTo>
                  <a:lnTo>
                    <a:pt x="2764235" y="0"/>
                  </a:lnTo>
                  <a:lnTo>
                    <a:pt x="2561035" y="372144"/>
                  </a:lnTo>
                  <a:lnTo>
                    <a:pt x="0" y="372144"/>
                  </a:lnTo>
                  <a:lnTo>
                    <a:pt x="203200" y="0"/>
                  </a:lnTo>
                  <a:close/>
                </a:path>
              </a:pathLst>
            </a:custGeom>
            <a:solidFill>
              <a:srgbClr val="6AABD2"/>
            </a:solidFill>
          </p:spPr>
        </p:sp>
        <p:sp>
          <p:nvSpPr>
            <p:cNvPr name="TextBox 8" id="8"/>
            <p:cNvSpPr txBox="true"/>
            <p:nvPr/>
          </p:nvSpPr>
          <p:spPr>
            <a:xfrm>
              <a:off x="101600" y="-38100"/>
              <a:ext cx="2561035" cy="410244"/>
            </a:xfrm>
            <a:prstGeom prst="rect">
              <a:avLst/>
            </a:prstGeom>
          </p:spPr>
          <p:txBody>
            <a:bodyPr anchor="ctr" rtlCol="false" tIns="50800" lIns="50800" bIns="50800" rIns="50800"/>
            <a:lstStyle/>
            <a:p>
              <a:pPr algn="ctr">
                <a:lnSpc>
                  <a:spcPts val="2659"/>
                </a:lnSpc>
              </a:pPr>
            </a:p>
          </p:txBody>
        </p:sp>
      </p:grpSp>
      <p:grpSp>
        <p:nvGrpSpPr>
          <p:cNvPr name="Group 9" id="9"/>
          <p:cNvGrpSpPr/>
          <p:nvPr/>
        </p:nvGrpSpPr>
        <p:grpSpPr>
          <a:xfrm rot="-2042265">
            <a:off x="-5182129" y="10349294"/>
            <a:ext cx="13665829" cy="1525700"/>
            <a:chOff x="0" y="0"/>
            <a:chExt cx="3599231" cy="401831"/>
          </a:xfrm>
        </p:grpSpPr>
        <p:sp>
          <p:nvSpPr>
            <p:cNvPr name="Freeform 10" id="10"/>
            <p:cNvSpPr/>
            <p:nvPr/>
          </p:nvSpPr>
          <p:spPr>
            <a:xfrm flipH="false" flipV="false" rot="0">
              <a:off x="0" y="0"/>
              <a:ext cx="3599231" cy="401831"/>
            </a:xfrm>
            <a:custGeom>
              <a:avLst/>
              <a:gdLst/>
              <a:ahLst/>
              <a:cxnLst/>
              <a:rect r="r" b="b" t="t" l="l"/>
              <a:pathLst>
                <a:path h="401831" w="3599231">
                  <a:moveTo>
                    <a:pt x="203200" y="0"/>
                  </a:moveTo>
                  <a:lnTo>
                    <a:pt x="3599231" y="0"/>
                  </a:lnTo>
                  <a:lnTo>
                    <a:pt x="3396031" y="401831"/>
                  </a:lnTo>
                  <a:lnTo>
                    <a:pt x="0" y="401831"/>
                  </a:lnTo>
                  <a:lnTo>
                    <a:pt x="203200" y="0"/>
                  </a:lnTo>
                  <a:close/>
                </a:path>
              </a:pathLst>
            </a:custGeom>
            <a:solidFill>
              <a:srgbClr val="578EAF"/>
            </a:solidFill>
          </p:spPr>
        </p:sp>
        <p:sp>
          <p:nvSpPr>
            <p:cNvPr name="TextBox 11" id="11"/>
            <p:cNvSpPr txBox="true"/>
            <p:nvPr/>
          </p:nvSpPr>
          <p:spPr>
            <a:xfrm>
              <a:off x="101600" y="-38100"/>
              <a:ext cx="3396031" cy="439931"/>
            </a:xfrm>
            <a:prstGeom prst="rect">
              <a:avLst/>
            </a:prstGeom>
          </p:spPr>
          <p:txBody>
            <a:bodyPr anchor="ctr" rtlCol="false" tIns="50800" lIns="50800" bIns="50800" rIns="50800"/>
            <a:lstStyle/>
            <a:p>
              <a:pPr algn="ctr">
                <a:lnSpc>
                  <a:spcPts val="2659"/>
                </a:lnSpc>
              </a:pPr>
            </a:p>
          </p:txBody>
        </p:sp>
      </p:grpSp>
      <p:grpSp>
        <p:nvGrpSpPr>
          <p:cNvPr name="Group 12" id="12"/>
          <p:cNvGrpSpPr/>
          <p:nvPr/>
        </p:nvGrpSpPr>
        <p:grpSpPr>
          <a:xfrm rot="1668227">
            <a:off x="-1572499" y="8112679"/>
            <a:ext cx="10495456" cy="1412986"/>
            <a:chOff x="0" y="0"/>
            <a:chExt cx="2764235" cy="372144"/>
          </a:xfrm>
        </p:grpSpPr>
        <p:sp>
          <p:nvSpPr>
            <p:cNvPr name="Freeform 13" id="13"/>
            <p:cNvSpPr/>
            <p:nvPr/>
          </p:nvSpPr>
          <p:spPr>
            <a:xfrm flipH="false" flipV="false" rot="0">
              <a:off x="0" y="0"/>
              <a:ext cx="2764235" cy="372144"/>
            </a:xfrm>
            <a:custGeom>
              <a:avLst/>
              <a:gdLst/>
              <a:ahLst/>
              <a:cxnLst/>
              <a:rect r="r" b="b" t="t" l="l"/>
              <a:pathLst>
                <a:path h="372144" w="2764235">
                  <a:moveTo>
                    <a:pt x="203200" y="0"/>
                  </a:moveTo>
                  <a:lnTo>
                    <a:pt x="2764235" y="0"/>
                  </a:lnTo>
                  <a:lnTo>
                    <a:pt x="2561035" y="372144"/>
                  </a:lnTo>
                  <a:lnTo>
                    <a:pt x="0" y="372144"/>
                  </a:lnTo>
                  <a:lnTo>
                    <a:pt x="203200" y="0"/>
                  </a:lnTo>
                  <a:close/>
                </a:path>
              </a:pathLst>
            </a:custGeom>
            <a:solidFill>
              <a:srgbClr val="6AABD2"/>
            </a:solidFill>
          </p:spPr>
        </p:sp>
        <p:sp>
          <p:nvSpPr>
            <p:cNvPr name="TextBox 14" id="14"/>
            <p:cNvSpPr txBox="true"/>
            <p:nvPr/>
          </p:nvSpPr>
          <p:spPr>
            <a:xfrm>
              <a:off x="101600" y="-38100"/>
              <a:ext cx="2561035" cy="410244"/>
            </a:xfrm>
            <a:prstGeom prst="rect">
              <a:avLst/>
            </a:prstGeom>
          </p:spPr>
          <p:txBody>
            <a:bodyPr anchor="ctr" rtlCol="false" tIns="50800" lIns="50800" bIns="50800" rIns="50800"/>
            <a:lstStyle/>
            <a:p>
              <a:pPr algn="ctr">
                <a:lnSpc>
                  <a:spcPts val="2659"/>
                </a:lnSpc>
              </a:pPr>
            </a:p>
          </p:txBody>
        </p:sp>
      </p:grpSp>
      <p:sp>
        <p:nvSpPr>
          <p:cNvPr name="Freeform 15" id="15"/>
          <p:cNvSpPr/>
          <p:nvPr/>
        </p:nvSpPr>
        <p:spPr>
          <a:xfrm flipH="false" flipV="false" rot="0">
            <a:off x="711052" y="5347561"/>
            <a:ext cx="3133211" cy="3133211"/>
          </a:xfrm>
          <a:custGeom>
            <a:avLst/>
            <a:gdLst/>
            <a:ahLst/>
            <a:cxnLst/>
            <a:rect r="r" b="b" t="t" l="l"/>
            <a:pathLst>
              <a:path h="3133211" w="3133211">
                <a:moveTo>
                  <a:pt x="0" y="0"/>
                </a:moveTo>
                <a:lnTo>
                  <a:pt x="3133211" y="0"/>
                </a:lnTo>
                <a:lnTo>
                  <a:pt x="3133211" y="3133211"/>
                </a:lnTo>
                <a:lnTo>
                  <a:pt x="0" y="313321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6" id="16"/>
          <p:cNvSpPr/>
          <p:nvPr/>
        </p:nvSpPr>
        <p:spPr>
          <a:xfrm flipH="false" flipV="false" rot="0">
            <a:off x="4474427" y="6301335"/>
            <a:ext cx="1080683" cy="1252966"/>
          </a:xfrm>
          <a:custGeom>
            <a:avLst/>
            <a:gdLst/>
            <a:ahLst/>
            <a:cxnLst/>
            <a:rect r="r" b="b" t="t" l="l"/>
            <a:pathLst>
              <a:path h="1252966" w="1080683">
                <a:moveTo>
                  <a:pt x="0" y="0"/>
                </a:moveTo>
                <a:lnTo>
                  <a:pt x="1080683" y="0"/>
                </a:lnTo>
                <a:lnTo>
                  <a:pt x="1080683" y="1252965"/>
                </a:lnTo>
                <a:lnTo>
                  <a:pt x="0" y="1252965"/>
                </a:lnTo>
                <a:lnTo>
                  <a:pt x="0" y="0"/>
                </a:lnTo>
                <a:close/>
              </a:path>
            </a:pathLst>
          </a:custGeom>
          <a:blipFill>
            <a:blip r:embed="rId6"/>
            <a:stretch>
              <a:fillRect l="0" t="0" r="0" b="0"/>
            </a:stretch>
          </a:blipFill>
        </p:spPr>
      </p:sp>
      <p:sp>
        <p:nvSpPr>
          <p:cNvPr name="Freeform 17" id="17"/>
          <p:cNvSpPr/>
          <p:nvPr/>
        </p:nvSpPr>
        <p:spPr>
          <a:xfrm flipH="false" flipV="false" rot="0">
            <a:off x="5843218" y="6274033"/>
            <a:ext cx="1109032" cy="1280268"/>
          </a:xfrm>
          <a:custGeom>
            <a:avLst/>
            <a:gdLst/>
            <a:ahLst/>
            <a:cxnLst/>
            <a:rect r="r" b="b" t="t" l="l"/>
            <a:pathLst>
              <a:path h="1280268" w="1109032">
                <a:moveTo>
                  <a:pt x="0" y="0"/>
                </a:moveTo>
                <a:lnTo>
                  <a:pt x="1109032" y="0"/>
                </a:lnTo>
                <a:lnTo>
                  <a:pt x="1109032" y="1280267"/>
                </a:lnTo>
                <a:lnTo>
                  <a:pt x="0" y="1280267"/>
                </a:lnTo>
                <a:lnTo>
                  <a:pt x="0" y="0"/>
                </a:lnTo>
                <a:close/>
              </a:path>
            </a:pathLst>
          </a:custGeom>
          <a:blipFill>
            <a:blip r:embed="rId7"/>
            <a:stretch>
              <a:fillRect l="0" t="0" r="0" b="0"/>
            </a:stretch>
          </a:blipFill>
        </p:spPr>
      </p:sp>
      <p:sp>
        <p:nvSpPr>
          <p:cNvPr name="Freeform 18" id="18"/>
          <p:cNvSpPr/>
          <p:nvPr/>
        </p:nvSpPr>
        <p:spPr>
          <a:xfrm flipH="false" flipV="false" rot="0">
            <a:off x="7362472" y="6388557"/>
            <a:ext cx="1010956" cy="1165743"/>
          </a:xfrm>
          <a:custGeom>
            <a:avLst/>
            <a:gdLst/>
            <a:ahLst/>
            <a:cxnLst/>
            <a:rect r="r" b="b" t="t" l="l"/>
            <a:pathLst>
              <a:path h="1165743" w="1010956">
                <a:moveTo>
                  <a:pt x="0" y="0"/>
                </a:moveTo>
                <a:lnTo>
                  <a:pt x="1010956" y="0"/>
                </a:lnTo>
                <a:lnTo>
                  <a:pt x="1010956" y="1165743"/>
                </a:lnTo>
                <a:lnTo>
                  <a:pt x="0" y="1165743"/>
                </a:lnTo>
                <a:lnTo>
                  <a:pt x="0" y="0"/>
                </a:lnTo>
                <a:close/>
              </a:path>
            </a:pathLst>
          </a:custGeom>
          <a:blipFill>
            <a:blip r:embed="rId8"/>
            <a:stretch>
              <a:fillRect l="0" t="0" r="0" b="0"/>
            </a:stretch>
          </a:blipFill>
        </p:spPr>
      </p:sp>
      <p:sp>
        <p:nvSpPr>
          <p:cNvPr name="TextBox 19" id="19"/>
          <p:cNvSpPr txBox="true"/>
          <p:nvPr/>
        </p:nvSpPr>
        <p:spPr>
          <a:xfrm rot="0">
            <a:off x="466175" y="3503391"/>
            <a:ext cx="9587684" cy="1310770"/>
          </a:xfrm>
          <a:prstGeom prst="rect">
            <a:avLst/>
          </a:prstGeom>
        </p:spPr>
        <p:txBody>
          <a:bodyPr anchor="t" rtlCol="false" tIns="0" lIns="0" bIns="0" rIns="0">
            <a:spAutoFit/>
          </a:bodyPr>
          <a:lstStyle/>
          <a:p>
            <a:pPr algn="l">
              <a:lnSpc>
                <a:spcPts val="10702"/>
              </a:lnSpc>
            </a:pPr>
            <a:r>
              <a:rPr lang="en-US" sz="7644">
                <a:solidFill>
                  <a:srgbClr val="253247"/>
                </a:solidFill>
                <a:latin typeface="League Spartan"/>
                <a:ea typeface="League Spartan"/>
                <a:cs typeface="League Spartan"/>
                <a:sym typeface="League Spartan"/>
              </a:rPr>
              <a:t>VISUALIZATION</a:t>
            </a:r>
          </a:p>
        </p:txBody>
      </p:sp>
      <p:sp>
        <p:nvSpPr>
          <p:cNvPr name="TextBox 20" id="20"/>
          <p:cNvSpPr txBox="true"/>
          <p:nvPr/>
        </p:nvSpPr>
        <p:spPr>
          <a:xfrm rot="0">
            <a:off x="9335298" y="3529339"/>
            <a:ext cx="7924002" cy="5559070"/>
          </a:xfrm>
          <a:prstGeom prst="rect">
            <a:avLst/>
          </a:prstGeom>
        </p:spPr>
        <p:txBody>
          <a:bodyPr anchor="t" rtlCol="false" tIns="0" lIns="0" bIns="0" rIns="0">
            <a:spAutoFit/>
          </a:bodyPr>
          <a:lstStyle/>
          <a:p>
            <a:pPr algn="l">
              <a:lnSpc>
                <a:spcPts val="3173"/>
              </a:lnSpc>
              <a:spcBef>
                <a:spcPct val="0"/>
              </a:spcBef>
            </a:pPr>
            <a:r>
              <a:rPr lang="en-US" b="true" sz="2267">
                <a:solidFill>
                  <a:srgbClr val="253247"/>
                </a:solidFill>
                <a:latin typeface="Glacial Indifference Bold"/>
                <a:ea typeface="Glacial Indifference Bold"/>
                <a:cs typeface="Glacial Indifference Bold"/>
                <a:sym typeface="Glacial Indifference Bold"/>
              </a:rPr>
              <a:t>Purpose: </a:t>
            </a:r>
            <a:r>
              <a:rPr lang="en-US" sz="2267">
                <a:solidFill>
                  <a:srgbClr val="253247"/>
                </a:solidFill>
                <a:latin typeface="Glacial Indifference"/>
                <a:ea typeface="Glacial Indifference"/>
                <a:cs typeface="Glacial Indifference"/>
                <a:sym typeface="Glacial Indifference"/>
              </a:rPr>
              <a:t>Provide visual insights into property trends, regional variations, and market dynamics</a:t>
            </a:r>
          </a:p>
          <a:p>
            <a:pPr algn="l">
              <a:lnSpc>
                <a:spcPts val="3173"/>
              </a:lnSpc>
              <a:spcBef>
                <a:spcPct val="0"/>
              </a:spcBef>
            </a:pPr>
          </a:p>
          <a:p>
            <a:pPr algn="l">
              <a:lnSpc>
                <a:spcPts val="3173"/>
              </a:lnSpc>
              <a:spcBef>
                <a:spcPct val="0"/>
              </a:spcBef>
            </a:pPr>
            <a:r>
              <a:rPr lang="en-US" b="true" sz="2267">
                <a:solidFill>
                  <a:srgbClr val="253247"/>
                </a:solidFill>
                <a:latin typeface="Glacial Indifference Bold"/>
                <a:ea typeface="Glacial Indifference Bold"/>
                <a:cs typeface="Glacial Indifference Bold"/>
                <a:sym typeface="Glacial Indifference Bold"/>
              </a:rPr>
              <a:t>Steps Taken:</a:t>
            </a:r>
          </a:p>
          <a:p>
            <a:pPr algn="l" marL="489468" indent="-244734" lvl="1">
              <a:lnSpc>
                <a:spcPts val="3173"/>
              </a:lnSpc>
              <a:buFont typeface="Arial"/>
              <a:buChar char="•"/>
            </a:pPr>
            <a:r>
              <a:rPr lang="en-US" sz="2267">
                <a:solidFill>
                  <a:srgbClr val="253247"/>
                </a:solidFill>
                <a:latin typeface="Glacial Indifference"/>
                <a:ea typeface="Glacial Indifference"/>
                <a:cs typeface="Glacial Indifference"/>
                <a:sym typeface="Glacial Indifference"/>
              </a:rPr>
              <a:t>Created density plots to show price distribution across property_type</a:t>
            </a:r>
          </a:p>
          <a:p>
            <a:pPr algn="l" marL="489468" indent="-244734" lvl="1">
              <a:lnSpc>
                <a:spcPts val="3173"/>
              </a:lnSpc>
              <a:buFont typeface="Arial"/>
              <a:buChar char="•"/>
            </a:pPr>
            <a:r>
              <a:rPr lang="en-US" sz="2267">
                <a:solidFill>
                  <a:srgbClr val="253247"/>
                </a:solidFill>
                <a:latin typeface="Glacial Indifference"/>
                <a:ea typeface="Glacial Indifference"/>
                <a:cs typeface="Glacial Indifference"/>
                <a:sym typeface="Glacial Indifference"/>
              </a:rPr>
              <a:t>Visualized yearly price trends using line charts</a:t>
            </a:r>
          </a:p>
          <a:p>
            <a:pPr algn="l" marL="489468" indent="-244734" lvl="1">
              <a:lnSpc>
                <a:spcPts val="3173"/>
              </a:lnSpc>
              <a:buFont typeface="Arial"/>
              <a:buChar char="•"/>
            </a:pPr>
            <a:r>
              <a:rPr lang="en-US" sz="2267">
                <a:solidFill>
                  <a:srgbClr val="253247"/>
                </a:solidFill>
                <a:latin typeface="Glacial Indifference"/>
                <a:ea typeface="Glacial Indifference"/>
                <a:cs typeface="Glacial Indifference"/>
                <a:sym typeface="Glacial Indifference"/>
              </a:rPr>
              <a:t>Used box plots to compare price across market_condition</a:t>
            </a:r>
          </a:p>
          <a:p>
            <a:pPr algn="l" marL="489468" indent="-244734" lvl="1">
              <a:lnSpc>
                <a:spcPts val="3173"/>
              </a:lnSpc>
              <a:buFont typeface="Arial"/>
              <a:buChar char="•"/>
            </a:pPr>
            <a:r>
              <a:rPr lang="en-US" sz="2267">
                <a:solidFill>
                  <a:srgbClr val="253247"/>
                </a:solidFill>
                <a:latin typeface="Glacial Indifference"/>
                <a:ea typeface="Glacial Indifference"/>
                <a:cs typeface="Glacial Indifference"/>
                <a:sym typeface="Glacial Indifference"/>
              </a:rPr>
              <a:t>Bar plots highlighted average price by county</a:t>
            </a:r>
          </a:p>
          <a:p>
            <a:pPr algn="l" marL="489468" indent="-244734" lvl="1">
              <a:lnSpc>
                <a:spcPts val="3173"/>
              </a:lnSpc>
              <a:buFont typeface="Arial"/>
              <a:buChar char="•"/>
            </a:pPr>
            <a:r>
              <a:rPr lang="en-US" sz="2267">
                <a:solidFill>
                  <a:srgbClr val="253247"/>
                </a:solidFill>
                <a:latin typeface="Glacial Indifference"/>
                <a:ea typeface="Glacial Indifference"/>
                <a:cs typeface="Glacial Indifference"/>
                <a:sym typeface="Glacial Indifference"/>
              </a:rPr>
              <a:t>Pie charts displayed sales distribution by county</a:t>
            </a:r>
          </a:p>
          <a:p>
            <a:pPr algn="l" marL="489468" indent="-244734" lvl="1">
              <a:lnSpc>
                <a:spcPts val="3173"/>
              </a:lnSpc>
              <a:buFont typeface="Arial"/>
              <a:buChar char="•"/>
            </a:pPr>
            <a:r>
              <a:rPr lang="en-US" sz="2267">
                <a:solidFill>
                  <a:srgbClr val="253247"/>
                </a:solidFill>
                <a:latin typeface="Glacial Indifference"/>
                <a:ea typeface="Glacial Indifference"/>
                <a:cs typeface="Glacial Indifference"/>
                <a:sym typeface="Glacial Indifference"/>
              </a:rPr>
              <a:t>Heatmaps explored average price segmented by county and price_category</a:t>
            </a:r>
          </a:p>
          <a:p>
            <a:pPr algn="l">
              <a:lnSpc>
                <a:spcPts val="3173"/>
              </a:lnSpc>
            </a:pPr>
          </a:p>
          <a:p>
            <a:pPr algn="l">
              <a:lnSpc>
                <a:spcPts val="3173"/>
              </a:lnSpc>
              <a:spcBef>
                <a:spcPct val="0"/>
              </a:spcBef>
            </a:pPr>
            <a:r>
              <a:rPr lang="en-US" b="true" sz="2267">
                <a:solidFill>
                  <a:srgbClr val="253247"/>
                </a:solidFill>
                <a:latin typeface="Glacial Indifference Bold"/>
                <a:ea typeface="Glacial Indifference Bold"/>
                <a:cs typeface="Glacial Indifference Bold"/>
                <a:sym typeface="Glacial Indifference Bold"/>
              </a:rPr>
              <a:t>Packages Used:</a:t>
            </a:r>
            <a:r>
              <a:rPr lang="en-US" sz="2267">
                <a:solidFill>
                  <a:srgbClr val="253247"/>
                </a:solidFill>
                <a:latin typeface="Glacial Indifference"/>
                <a:ea typeface="Glacial Indifference"/>
                <a:cs typeface="Glacial Indifference"/>
                <a:sym typeface="Glacial Indifference"/>
              </a:rPr>
              <a:t> ggplot2, dplyr, scales.</a:t>
            </a:r>
          </a:p>
        </p:txBody>
      </p:sp>
    </p:spTree>
  </p:cSld>
  <p:clrMapOvr>
    <a:masterClrMapping/>
  </p:clrMapOvr>
</p:sld>
</file>

<file path=ppt/slides/slide20.xml><?xml version="1.0" encoding="utf-8"?>
<p:sld xmlns:p="http://schemas.openxmlformats.org/presentationml/2006/main" xmlns:a="http://schemas.openxmlformats.org/drawingml/2006/main" xmlns:r="http://schemas.openxmlformats.org/officeDocument/2006/relationships">
  <p:cSld>
    <p:bg>
      <p:bgPr>
        <a:solidFill>
          <a:srgbClr val="D9E4EC"/>
        </a:solidFill>
      </p:bgPr>
    </p:bg>
    <p:spTree>
      <p:nvGrpSpPr>
        <p:cNvPr id="1" name=""/>
        <p:cNvGrpSpPr/>
        <p:nvPr/>
      </p:nvGrpSpPr>
      <p:grpSpPr>
        <a:xfrm>
          <a:off x="0" y="0"/>
          <a:ext cx="0" cy="0"/>
          <a:chOff x="0" y="0"/>
          <a:chExt cx="0" cy="0"/>
        </a:xfrm>
      </p:grpSpPr>
      <p:sp>
        <p:nvSpPr>
          <p:cNvPr name="Freeform 2" id="2"/>
          <p:cNvSpPr/>
          <p:nvPr/>
        </p:nvSpPr>
        <p:spPr>
          <a:xfrm flipH="true" flipV="true" rot="0">
            <a:off x="15335897" y="-291796"/>
            <a:ext cx="2952103" cy="2944723"/>
          </a:xfrm>
          <a:custGeom>
            <a:avLst/>
            <a:gdLst/>
            <a:ahLst/>
            <a:cxnLst/>
            <a:rect r="r" b="b" t="t" l="l"/>
            <a:pathLst>
              <a:path h="2944723" w="2952103">
                <a:moveTo>
                  <a:pt x="2952103" y="2944722"/>
                </a:moveTo>
                <a:lnTo>
                  <a:pt x="0" y="2944722"/>
                </a:lnTo>
                <a:lnTo>
                  <a:pt x="0" y="0"/>
                </a:lnTo>
                <a:lnTo>
                  <a:pt x="2952103" y="0"/>
                </a:lnTo>
                <a:lnTo>
                  <a:pt x="2952103" y="2944722"/>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8828038">
            <a:off x="4271547" y="-2750518"/>
            <a:ext cx="13665829" cy="1525700"/>
            <a:chOff x="0" y="0"/>
            <a:chExt cx="3599231" cy="401831"/>
          </a:xfrm>
        </p:grpSpPr>
        <p:sp>
          <p:nvSpPr>
            <p:cNvPr name="Freeform 4" id="4"/>
            <p:cNvSpPr/>
            <p:nvPr/>
          </p:nvSpPr>
          <p:spPr>
            <a:xfrm flipH="false" flipV="false" rot="0">
              <a:off x="0" y="0"/>
              <a:ext cx="3599231" cy="401831"/>
            </a:xfrm>
            <a:custGeom>
              <a:avLst/>
              <a:gdLst/>
              <a:ahLst/>
              <a:cxnLst/>
              <a:rect r="r" b="b" t="t" l="l"/>
              <a:pathLst>
                <a:path h="401831" w="3599231">
                  <a:moveTo>
                    <a:pt x="203200" y="0"/>
                  </a:moveTo>
                  <a:lnTo>
                    <a:pt x="3599231" y="0"/>
                  </a:lnTo>
                  <a:lnTo>
                    <a:pt x="3396031" y="401831"/>
                  </a:lnTo>
                  <a:lnTo>
                    <a:pt x="0" y="401831"/>
                  </a:lnTo>
                  <a:lnTo>
                    <a:pt x="203200" y="0"/>
                  </a:lnTo>
                  <a:close/>
                </a:path>
              </a:pathLst>
            </a:custGeom>
            <a:solidFill>
              <a:srgbClr val="578EAF"/>
            </a:solidFill>
          </p:spPr>
        </p:sp>
        <p:sp>
          <p:nvSpPr>
            <p:cNvPr name="TextBox 5" id="5"/>
            <p:cNvSpPr txBox="true"/>
            <p:nvPr/>
          </p:nvSpPr>
          <p:spPr>
            <a:xfrm>
              <a:off x="101600" y="-38100"/>
              <a:ext cx="3396031" cy="439931"/>
            </a:xfrm>
            <a:prstGeom prst="rect">
              <a:avLst/>
            </a:prstGeom>
          </p:spPr>
          <p:txBody>
            <a:bodyPr anchor="ctr" rtlCol="false" tIns="50800" lIns="50800" bIns="50800" rIns="50800"/>
            <a:lstStyle/>
            <a:p>
              <a:pPr algn="ctr">
                <a:lnSpc>
                  <a:spcPts val="2659"/>
                </a:lnSpc>
              </a:pPr>
            </a:p>
          </p:txBody>
        </p:sp>
      </p:grpSp>
      <p:grpSp>
        <p:nvGrpSpPr>
          <p:cNvPr name="Group 6" id="6"/>
          <p:cNvGrpSpPr/>
          <p:nvPr/>
        </p:nvGrpSpPr>
        <p:grpSpPr>
          <a:xfrm rot="-9061468">
            <a:off x="-3088929" y="-1143254"/>
            <a:ext cx="10495456" cy="1412986"/>
            <a:chOff x="0" y="0"/>
            <a:chExt cx="2764235" cy="372144"/>
          </a:xfrm>
        </p:grpSpPr>
        <p:sp>
          <p:nvSpPr>
            <p:cNvPr name="Freeform 7" id="7"/>
            <p:cNvSpPr/>
            <p:nvPr/>
          </p:nvSpPr>
          <p:spPr>
            <a:xfrm flipH="false" flipV="false" rot="0">
              <a:off x="0" y="0"/>
              <a:ext cx="2764235" cy="372144"/>
            </a:xfrm>
            <a:custGeom>
              <a:avLst/>
              <a:gdLst/>
              <a:ahLst/>
              <a:cxnLst/>
              <a:rect r="r" b="b" t="t" l="l"/>
              <a:pathLst>
                <a:path h="372144" w="2764235">
                  <a:moveTo>
                    <a:pt x="203200" y="0"/>
                  </a:moveTo>
                  <a:lnTo>
                    <a:pt x="2764235" y="0"/>
                  </a:lnTo>
                  <a:lnTo>
                    <a:pt x="2561035" y="372144"/>
                  </a:lnTo>
                  <a:lnTo>
                    <a:pt x="0" y="372144"/>
                  </a:lnTo>
                  <a:lnTo>
                    <a:pt x="203200" y="0"/>
                  </a:lnTo>
                  <a:close/>
                </a:path>
              </a:pathLst>
            </a:custGeom>
            <a:solidFill>
              <a:srgbClr val="6AABD2"/>
            </a:solidFill>
          </p:spPr>
        </p:sp>
        <p:sp>
          <p:nvSpPr>
            <p:cNvPr name="TextBox 8" id="8"/>
            <p:cNvSpPr txBox="true"/>
            <p:nvPr/>
          </p:nvSpPr>
          <p:spPr>
            <a:xfrm>
              <a:off x="101600" y="-38100"/>
              <a:ext cx="2561035" cy="410244"/>
            </a:xfrm>
            <a:prstGeom prst="rect">
              <a:avLst/>
            </a:prstGeom>
          </p:spPr>
          <p:txBody>
            <a:bodyPr anchor="ctr" rtlCol="false" tIns="50800" lIns="50800" bIns="50800" rIns="50800"/>
            <a:lstStyle/>
            <a:p>
              <a:pPr algn="ctr">
                <a:lnSpc>
                  <a:spcPts val="2659"/>
                </a:lnSpc>
              </a:pPr>
            </a:p>
          </p:txBody>
        </p:sp>
      </p:grpSp>
      <p:grpSp>
        <p:nvGrpSpPr>
          <p:cNvPr name="Group 9" id="9"/>
          <p:cNvGrpSpPr/>
          <p:nvPr/>
        </p:nvGrpSpPr>
        <p:grpSpPr>
          <a:xfrm rot="-2042265">
            <a:off x="-9170706" y="10779985"/>
            <a:ext cx="13665829" cy="1525700"/>
            <a:chOff x="0" y="0"/>
            <a:chExt cx="3599231" cy="401831"/>
          </a:xfrm>
        </p:grpSpPr>
        <p:sp>
          <p:nvSpPr>
            <p:cNvPr name="Freeform 10" id="10"/>
            <p:cNvSpPr/>
            <p:nvPr/>
          </p:nvSpPr>
          <p:spPr>
            <a:xfrm flipH="false" flipV="false" rot="0">
              <a:off x="0" y="0"/>
              <a:ext cx="3599231" cy="401831"/>
            </a:xfrm>
            <a:custGeom>
              <a:avLst/>
              <a:gdLst/>
              <a:ahLst/>
              <a:cxnLst/>
              <a:rect r="r" b="b" t="t" l="l"/>
              <a:pathLst>
                <a:path h="401831" w="3599231">
                  <a:moveTo>
                    <a:pt x="203200" y="0"/>
                  </a:moveTo>
                  <a:lnTo>
                    <a:pt x="3599231" y="0"/>
                  </a:lnTo>
                  <a:lnTo>
                    <a:pt x="3396031" y="401831"/>
                  </a:lnTo>
                  <a:lnTo>
                    <a:pt x="0" y="401831"/>
                  </a:lnTo>
                  <a:lnTo>
                    <a:pt x="203200" y="0"/>
                  </a:lnTo>
                  <a:close/>
                </a:path>
              </a:pathLst>
            </a:custGeom>
            <a:solidFill>
              <a:srgbClr val="578EAF"/>
            </a:solidFill>
          </p:spPr>
        </p:sp>
        <p:sp>
          <p:nvSpPr>
            <p:cNvPr name="TextBox 11" id="11"/>
            <p:cNvSpPr txBox="true"/>
            <p:nvPr/>
          </p:nvSpPr>
          <p:spPr>
            <a:xfrm>
              <a:off x="101600" y="-38100"/>
              <a:ext cx="3396031" cy="439931"/>
            </a:xfrm>
            <a:prstGeom prst="rect">
              <a:avLst/>
            </a:prstGeom>
          </p:spPr>
          <p:txBody>
            <a:bodyPr anchor="ctr" rtlCol="false" tIns="50800" lIns="50800" bIns="50800" rIns="50800"/>
            <a:lstStyle/>
            <a:p>
              <a:pPr algn="ctr">
                <a:lnSpc>
                  <a:spcPts val="2659"/>
                </a:lnSpc>
              </a:pPr>
            </a:p>
          </p:txBody>
        </p:sp>
      </p:grpSp>
      <p:grpSp>
        <p:nvGrpSpPr>
          <p:cNvPr name="Group 12" id="12"/>
          <p:cNvGrpSpPr/>
          <p:nvPr/>
        </p:nvGrpSpPr>
        <p:grpSpPr>
          <a:xfrm rot="1668227">
            <a:off x="1326557" y="9102829"/>
            <a:ext cx="10495456" cy="1412986"/>
            <a:chOff x="0" y="0"/>
            <a:chExt cx="2764235" cy="372144"/>
          </a:xfrm>
        </p:grpSpPr>
        <p:sp>
          <p:nvSpPr>
            <p:cNvPr name="Freeform 13" id="13"/>
            <p:cNvSpPr/>
            <p:nvPr/>
          </p:nvSpPr>
          <p:spPr>
            <a:xfrm flipH="false" flipV="false" rot="0">
              <a:off x="0" y="0"/>
              <a:ext cx="2764235" cy="372144"/>
            </a:xfrm>
            <a:custGeom>
              <a:avLst/>
              <a:gdLst/>
              <a:ahLst/>
              <a:cxnLst/>
              <a:rect r="r" b="b" t="t" l="l"/>
              <a:pathLst>
                <a:path h="372144" w="2764235">
                  <a:moveTo>
                    <a:pt x="203200" y="0"/>
                  </a:moveTo>
                  <a:lnTo>
                    <a:pt x="2764235" y="0"/>
                  </a:lnTo>
                  <a:lnTo>
                    <a:pt x="2561035" y="372144"/>
                  </a:lnTo>
                  <a:lnTo>
                    <a:pt x="0" y="372144"/>
                  </a:lnTo>
                  <a:lnTo>
                    <a:pt x="203200" y="0"/>
                  </a:lnTo>
                  <a:close/>
                </a:path>
              </a:pathLst>
            </a:custGeom>
            <a:solidFill>
              <a:srgbClr val="6AABD2"/>
            </a:solidFill>
          </p:spPr>
        </p:sp>
        <p:sp>
          <p:nvSpPr>
            <p:cNvPr name="TextBox 14" id="14"/>
            <p:cNvSpPr txBox="true"/>
            <p:nvPr/>
          </p:nvSpPr>
          <p:spPr>
            <a:xfrm>
              <a:off x="101600" y="-38100"/>
              <a:ext cx="2561035" cy="410244"/>
            </a:xfrm>
            <a:prstGeom prst="rect">
              <a:avLst/>
            </a:prstGeom>
          </p:spPr>
          <p:txBody>
            <a:bodyPr anchor="ctr" rtlCol="false" tIns="50800" lIns="50800" bIns="50800" rIns="50800"/>
            <a:lstStyle/>
            <a:p>
              <a:pPr algn="ctr">
                <a:lnSpc>
                  <a:spcPts val="2659"/>
                </a:lnSpc>
              </a:pPr>
            </a:p>
          </p:txBody>
        </p:sp>
      </p:grpSp>
      <p:sp>
        <p:nvSpPr>
          <p:cNvPr name="Freeform 15" id="15"/>
          <p:cNvSpPr/>
          <p:nvPr/>
        </p:nvSpPr>
        <p:spPr>
          <a:xfrm flipH="false" flipV="false" rot="0">
            <a:off x="1028700" y="5625071"/>
            <a:ext cx="4734607" cy="2921929"/>
          </a:xfrm>
          <a:custGeom>
            <a:avLst/>
            <a:gdLst/>
            <a:ahLst/>
            <a:cxnLst/>
            <a:rect r="r" b="b" t="t" l="l"/>
            <a:pathLst>
              <a:path h="2921929" w="4734607">
                <a:moveTo>
                  <a:pt x="0" y="0"/>
                </a:moveTo>
                <a:lnTo>
                  <a:pt x="4734607" y="0"/>
                </a:lnTo>
                <a:lnTo>
                  <a:pt x="4734607" y="2921929"/>
                </a:lnTo>
                <a:lnTo>
                  <a:pt x="0" y="2921929"/>
                </a:lnTo>
                <a:lnTo>
                  <a:pt x="0" y="0"/>
                </a:lnTo>
                <a:close/>
              </a:path>
            </a:pathLst>
          </a:custGeom>
          <a:blipFill>
            <a:blip r:embed="rId4"/>
            <a:stretch>
              <a:fillRect l="0" t="0" r="0" b="0"/>
            </a:stretch>
          </a:blipFill>
        </p:spPr>
      </p:sp>
      <p:sp>
        <p:nvSpPr>
          <p:cNvPr name="Freeform 16" id="16"/>
          <p:cNvSpPr/>
          <p:nvPr/>
        </p:nvSpPr>
        <p:spPr>
          <a:xfrm flipH="false" flipV="false" rot="0">
            <a:off x="13305407" y="2723486"/>
            <a:ext cx="4528343" cy="2794634"/>
          </a:xfrm>
          <a:custGeom>
            <a:avLst/>
            <a:gdLst/>
            <a:ahLst/>
            <a:cxnLst/>
            <a:rect r="r" b="b" t="t" l="l"/>
            <a:pathLst>
              <a:path h="2794634" w="4528343">
                <a:moveTo>
                  <a:pt x="0" y="0"/>
                </a:moveTo>
                <a:lnTo>
                  <a:pt x="4528342" y="0"/>
                </a:lnTo>
                <a:lnTo>
                  <a:pt x="4528342" y="2794634"/>
                </a:lnTo>
                <a:lnTo>
                  <a:pt x="0" y="2794634"/>
                </a:lnTo>
                <a:lnTo>
                  <a:pt x="0" y="0"/>
                </a:lnTo>
                <a:close/>
              </a:path>
            </a:pathLst>
          </a:custGeom>
          <a:blipFill>
            <a:blip r:embed="rId5"/>
            <a:stretch>
              <a:fillRect l="0" t="0" r="0" b="0"/>
            </a:stretch>
          </a:blipFill>
        </p:spPr>
      </p:sp>
      <p:sp>
        <p:nvSpPr>
          <p:cNvPr name="Freeform 17" id="17"/>
          <p:cNvSpPr/>
          <p:nvPr/>
        </p:nvSpPr>
        <p:spPr>
          <a:xfrm flipH="false" flipV="false" rot="0">
            <a:off x="6574285" y="6546350"/>
            <a:ext cx="4394363" cy="2711950"/>
          </a:xfrm>
          <a:custGeom>
            <a:avLst/>
            <a:gdLst/>
            <a:ahLst/>
            <a:cxnLst/>
            <a:rect r="r" b="b" t="t" l="l"/>
            <a:pathLst>
              <a:path h="2711950" w="4394363">
                <a:moveTo>
                  <a:pt x="0" y="0"/>
                </a:moveTo>
                <a:lnTo>
                  <a:pt x="4394364" y="0"/>
                </a:lnTo>
                <a:lnTo>
                  <a:pt x="4394364" y="2711950"/>
                </a:lnTo>
                <a:lnTo>
                  <a:pt x="0" y="2711950"/>
                </a:lnTo>
                <a:lnTo>
                  <a:pt x="0" y="0"/>
                </a:lnTo>
                <a:close/>
              </a:path>
            </a:pathLst>
          </a:custGeom>
          <a:blipFill>
            <a:blip r:embed="rId6"/>
            <a:stretch>
              <a:fillRect l="0" t="0" r="0" b="0"/>
            </a:stretch>
          </a:blipFill>
        </p:spPr>
      </p:sp>
      <p:sp>
        <p:nvSpPr>
          <p:cNvPr name="Freeform 18" id="18"/>
          <p:cNvSpPr/>
          <p:nvPr/>
        </p:nvSpPr>
        <p:spPr>
          <a:xfrm flipH="false" flipV="false" rot="1787912">
            <a:off x="4960258" y="5090431"/>
            <a:ext cx="1039706" cy="856340"/>
          </a:xfrm>
          <a:custGeom>
            <a:avLst/>
            <a:gdLst/>
            <a:ahLst/>
            <a:cxnLst/>
            <a:rect r="r" b="b" t="t" l="l"/>
            <a:pathLst>
              <a:path h="856340" w="1039706">
                <a:moveTo>
                  <a:pt x="0" y="0"/>
                </a:moveTo>
                <a:lnTo>
                  <a:pt x="1039706" y="0"/>
                </a:lnTo>
                <a:lnTo>
                  <a:pt x="1039706" y="856340"/>
                </a:lnTo>
                <a:lnTo>
                  <a:pt x="0" y="856340"/>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TextBox 19" id="19"/>
          <p:cNvSpPr txBox="true"/>
          <p:nvPr/>
        </p:nvSpPr>
        <p:spPr>
          <a:xfrm rot="0">
            <a:off x="745549" y="1869444"/>
            <a:ext cx="5828736" cy="3571911"/>
          </a:xfrm>
          <a:prstGeom prst="rect">
            <a:avLst/>
          </a:prstGeom>
        </p:spPr>
        <p:txBody>
          <a:bodyPr anchor="t" rtlCol="false" tIns="0" lIns="0" bIns="0" rIns="0">
            <a:spAutoFit/>
          </a:bodyPr>
          <a:lstStyle/>
          <a:p>
            <a:pPr algn="l">
              <a:lnSpc>
                <a:spcPts val="2417"/>
              </a:lnSpc>
            </a:pPr>
            <a:r>
              <a:rPr lang="en-US" sz="1726" b="true">
                <a:solidFill>
                  <a:srgbClr val="253247"/>
                </a:solidFill>
                <a:latin typeface="Glacial Indifference Bold"/>
                <a:ea typeface="Glacial Indifference Bold"/>
                <a:cs typeface="Glacial Indifference Bold"/>
                <a:sym typeface="Glacial Indifference Bold"/>
              </a:rPr>
              <a:t>Price Distribution by Property Type</a:t>
            </a:r>
          </a:p>
          <a:p>
            <a:pPr algn="l">
              <a:lnSpc>
                <a:spcPts val="2417"/>
              </a:lnSpc>
            </a:pPr>
          </a:p>
          <a:p>
            <a:pPr algn="l" marL="372746" indent="-186373" lvl="1">
              <a:lnSpc>
                <a:spcPts val="2417"/>
              </a:lnSpc>
              <a:buFont typeface="Arial"/>
              <a:buChar char="•"/>
            </a:pPr>
            <a:r>
              <a:rPr lang="en-US" b="true" sz="1726">
                <a:solidFill>
                  <a:srgbClr val="253247"/>
                </a:solidFill>
                <a:latin typeface="Glacial Indifference Bold"/>
                <a:ea typeface="Glacial Indifference Bold"/>
                <a:cs typeface="Glacial Indifference Bold"/>
                <a:sym typeface="Glacial Indifference Bold"/>
              </a:rPr>
              <a:t>Chart:</a:t>
            </a:r>
            <a:r>
              <a:rPr lang="en-US" sz="1726">
                <a:solidFill>
                  <a:srgbClr val="253247"/>
                </a:solidFill>
                <a:latin typeface="Glacial Indifference"/>
                <a:ea typeface="Glacial Indifference"/>
                <a:cs typeface="Glacial Indifference"/>
                <a:sym typeface="Glacial Indifference"/>
              </a:rPr>
              <a:t> Density Plot</a:t>
            </a:r>
          </a:p>
          <a:p>
            <a:pPr algn="l" marL="372746" indent="-186373" lvl="1">
              <a:lnSpc>
                <a:spcPts val="2417"/>
              </a:lnSpc>
              <a:buFont typeface="Arial"/>
              <a:buChar char="•"/>
            </a:pPr>
            <a:r>
              <a:rPr lang="en-US" b="true" sz="1726">
                <a:solidFill>
                  <a:srgbClr val="253247"/>
                </a:solidFill>
                <a:latin typeface="Glacial Indifference Bold"/>
                <a:ea typeface="Glacial Indifference Bold"/>
                <a:cs typeface="Glacial Indifference Bold"/>
                <a:sym typeface="Glacial Indifference Bold"/>
              </a:rPr>
              <a:t>Purpose: </a:t>
            </a:r>
            <a:r>
              <a:rPr lang="en-US" sz="1726">
                <a:solidFill>
                  <a:srgbClr val="253247"/>
                </a:solidFill>
                <a:latin typeface="Glacial Indifference"/>
                <a:ea typeface="Glacial Indifference"/>
                <a:cs typeface="Glacial Indifference"/>
                <a:sym typeface="Glacial Indifference"/>
              </a:rPr>
              <a:t>Compare price distributions across property types (e.g., detached, apartment)</a:t>
            </a:r>
          </a:p>
          <a:p>
            <a:pPr algn="l" marL="372746" indent="-186373" lvl="1">
              <a:lnSpc>
                <a:spcPts val="2417"/>
              </a:lnSpc>
              <a:buFont typeface="Arial"/>
              <a:buChar char="•"/>
            </a:pPr>
            <a:r>
              <a:rPr lang="en-US" b="true" sz="1726">
                <a:solidFill>
                  <a:srgbClr val="253247"/>
                </a:solidFill>
                <a:latin typeface="Glacial Indifference Bold"/>
                <a:ea typeface="Glacial Indifference Bold"/>
                <a:cs typeface="Glacial Indifference Bold"/>
                <a:sym typeface="Glacial Indifference Bold"/>
              </a:rPr>
              <a:t>Packages: </a:t>
            </a:r>
            <a:r>
              <a:rPr lang="en-US" sz="1726">
                <a:solidFill>
                  <a:srgbClr val="253247"/>
                </a:solidFill>
                <a:latin typeface="Glacial Indifference"/>
                <a:ea typeface="Glacial Indifference"/>
                <a:cs typeface="Glacial Indifference"/>
                <a:sym typeface="Glacial Indifference"/>
              </a:rPr>
              <a:t>ggplot2</a:t>
            </a:r>
          </a:p>
          <a:p>
            <a:pPr algn="l" marL="372746" indent="-186373" lvl="1">
              <a:lnSpc>
                <a:spcPts val="2417"/>
              </a:lnSpc>
              <a:buFont typeface="Arial"/>
              <a:buChar char="•"/>
            </a:pPr>
            <a:r>
              <a:rPr lang="en-US" b="true" sz="1726">
                <a:solidFill>
                  <a:srgbClr val="253247"/>
                </a:solidFill>
                <a:latin typeface="Glacial Indifference Bold"/>
                <a:ea typeface="Glacial Indifference Bold"/>
                <a:cs typeface="Glacial Indifference Bold"/>
                <a:sym typeface="Glacial Indifference Bold"/>
              </a:rPr>
              <a:t>Functions: </a:t>
            </a:r>
            <a:r>
              <a:rPr lang="en-US" sz="1726">
                <a:solidFill>
                  <a:srgbClr val="253247"/>
                </a:solidFill>
                <a:latin typeface="Glacial Indifference"/>
                <a:ea typeface="Glacial Indifference"/>
                <a:cs typeface="Glacial Indifference"/>
                <a:sym typeface="Glacial Indifference"/>
              </a:rPr>
              <a:t>geom_density(), aes(), theme_minimal()</a:t>
            </a:r>
          </a:p>
          <a:p>
            <a:pPr algn="l" marL="372746" indent="-186373" lvl="1">
              <a:lnSpc>
                <a:spcPts val="2417"/>
              </a:lnSpc>
              <a:buFont typeface="Arial"/>
              <a:buChar char="•"/>
            </a:pPr>
            <a:r>
              <a:rPr lang="en-US" b="true" sz="1726">
                <a:solidFill>
                  <a:srgbClr val="253247"/>
                </a:solidFill>
                <a:latin typeface="Glacial Indifference Bold"/>
                <a:ea typeface="Glacial Indifference Bold"/>
                <a:cs typeface="Glacial Indifference Bold"/>
                <a:sym typeface="Glacial Indifference Bold"/>
              </a:rPr>
              <a:t>Key Features:</a:t>
            </a:r>
          </a:p>
          <a:p>
            <a:pPr algn="l" marL="745493" indent="-248498" lvl="2">
              <a:lnSpc>
                <a:spcPts val="2417"/>
              </a:lnSpc>
              <a:buFont typeface="Arial"/>
              <a:buChar char="⚬"/>
            </a:pPr>
            <a:r>
              <a:rPr lang="en-US" sz="1726">
                <a:solidFill>
                  <a:srgbClr val="253247"/>
                </a:solidFill>
                <a:latin typeface="Glacial Indifference"/>
                <a:ea typeface="Glacial Indifference"/>
                <a:cs typeface="Glacial Indifference"/>
                <a:sym typeface="Glacial Indifference"/>
              </a:rPr>
              <a:t>aes(fill = property_type) for color differentiation</a:t>
            </a:r>
          </a:p>
          <a:p>
            <a:pPr algn="l" marL="745493" indent="-248498" lvl="2">
              <a:lnSpc>
                <a:spcPts val="2417"/>
              </a:lnSpc>
              <a:buFont typeface="Arial"/>
              <a:buChar char="⚬"/>
            </a:pPr>
            <a:r>
              <a:rPr lang="en-US" sz="1726">
                <a:solidFill>
                  <a:srgbClr val="253247"/>
                </a:solidFill>
                <a:latin typeface="Glacial Indifference"/>
                <a:ea typeface="Glacial Indifference"/>
                <a:cs typeface="Glacial Indifference"/>
                <a:sym typeface="Glacial Indifference"/>
              </a:rPr>
              <a:t>alpha = 0.6 for transparency</a:t>
            </a:r>
          </a:p>
          <a:p>
            <a:pPr algn="l" marL="745493" indent="-248498" lvl="2">
              <a:lnSpc>
                <a:spcPts val="2417"/>
              </a:lnSpc>
              <a:buFont typeface="Arial"/>
              <a:buChar char="⚬"/>
            </a:pPr>
            <a:r>
              <a:rPr lang="en-US" sz="1726">
                <a:solidFill>
                  <a:srgbClr val="253247"/>
                </a:solidFill>
                <a:latin typeface="Glacial Indifference"/>
                <a:ea typeface="Glacial Indifference"/>
                <a:cs typeface="Glacial Indifference"/>
                <a:sym typeface="Glacial Indifference"/>
              </a:rPr>
              <a:t>Rotated x-axis labels for readability</a:t>
            </a:r>
          </a:p>
          <a:p>
            <a:pPr algn="just">
              <a:lnSpc>
                <a:spcPts val="1778"/>
              </a:lnSpc>
              <a:spcBef>
                <a:spcPct val="0"/>
              </a:spcBef>
            </a:pPr>
          </a:p>
        </p:txBody>
      </p:sp>
      <p:sp>
        <p:nvSpPr>
          <p:cNvPr name="TextBox 20" id="20"/>
          <p:cNvSpPr txBox="true"/>
          <p:nvPr/>
        </p:nvSpPr>
        <p:spPr>
          <a:xfrm rot="0">
            <a:off x="11104461" y="6110399"/>
            <a:ext cx="6867413" cy="3885532"/>
          </a:xfrm>
          <a:prstGeom prst="rect">
            <a:avLst/>
          </a:prstGeom>
        </p:spPr>
        <p:txBody>
          <a:bodyPr anchor="t" rtlCol="false" tIns="0" lIns="0" bIns="0" rIns="0">
            <a:spAutoFit/>
          </a:bodyPr>
          <a:lstStyle/>
          <a:p>
            <a:pPr algn="just">
              <a:lnSpc>
                <a:spcPts val="2461"/>
              </a:lnSpc>
            </a:pPr>
            <a:r>
              <a:rPr lang="en-US" sz="1758" b="true">
                <a:solidFill>
                  <a:srgbClr val="253247"/>
                </a:solidFill>
                <a:latin typeface="Glacial Indifference Bold"/>
                <a:ea typeface="Glacial Indifference Bold"/>
                <a:cs typeface="Glacial Indifference Bold"/>
                <a:sym typeface="Glacial Indifference Bold"/>
              </a:rPr>
              <a:t>M</a:t>
            </a:r>
            <a:r>
              <a:rPr lang="en-US" sz="1758" b="true">
                <a:solidFill>
                  <a:srgbClr val="253247"/>
                </a:solidFill>
                <a:latin typeface="Glacial Indifference Bold"/>
                <a:ea typeface="Glacial Indifference Bold"/>
                <a:cs typeface="Glacial Indifference Bold"/>
                <a:sym typeface="Glacial Indifference Bold"/>
              </a:rPr>
              <a:t>arket Condition vs. Price</a:t>
            </a:r>
          </a:p>
          <a:p>
            <a:pPr algn="just">
              <a:lnSpc>
                <a:spcPts val="2461"/>
              </a:lnSpc>
            </a:pPr>
          </a:p>
          <a:p>
            <a:pPr algn="just" marL="379633" indent="-189817" lvl="1">
              <a:lnSpc>
                <a:spcPts val="2461"/>
              </a:lnSpc>
              <a:buFont typeface="Arial"/>
              <a:buChar char="•"/>
            </a:pPr>
            <a:r>
              <a:rPr lang="en-US" b="true" sz="1758">
                <a:solidFill>
                  <a:srgbClr val="253247"/>
                </a:solidFill>
                <a:latin typeface="Glacial Indifference Bold"/>
                <a:ea typeface="Glacial Indifference Bold"/>
                <a:cs typeface="Glacial Indifference Bold"/>
                <a:sym typeface="Glacial Indifference Bold"/>
              </a:rPr>
              <a:t>Chart</a:t>
            </a:r>
            <a:r>
              <a:rPr lang="en-US" sz="1758">
                <a:solidFill>
                  <a:srgbClr val="253247"/>
                </a:solidFill>
                <a:latin typeface="Glacial Indifference"/>
                <a:ea typeface="Glacial Indifference"/>
                <a:cs typeface="Glacial Indifference"/>
                <a:sym typeface="Glacial Indifference"/>
              </a:rPr>
              <a:t>: Box Plot</a:t>
            </a:r>
          </a:p>
          <a:p>
            <a:pPr algn="just" marL="379633" indent="-189817" lvl="1">
              <a:lnSpc>
                <a:spcPts val="2461"/>
              </a:lnSpc>
              <a:buFont typeface="Arial"/>
              <a:buChar char="•"/>
            </a:pPr>
            <a:r>
              <a:rPr lang="en-US" b="true" sz="1758">
                <a:solidFill>
                  <a:srgbClr val="253247"/>
                </a:solidFill>
                <a:latin typeface="Glacial Indifference Bold"/>
                <a:ea typeface="Glacial Indifference Bold"/>
                <a:cs typeface="Glacial Indifference Bold"/>
                <a:sym typeface="Glacial Indifference Bold"/>
              </a:rPr>
              <a:t>Purpose</a:t>
            </a:r>
            <a:r>
              <a:rPr lang="en-US" sz="1758">
                <a:solidFill>
                  <a:srgbClr val="253247"/>
                </a:solidFill>
                <a:latin typeface="Glacial Indifference"/>
                <a:ea typeface="Glacial Indifference"/>
                <a:cs typeface="Glacial Indifference"/>
                <a:sym typeface="Glacial Indifference"/>
              </a:rPr>
              <a:t>: Compare price ranges across market conditions (e.g., buyer's/seller's market)</a:t>
            </a:r>
          </a:p>
          <a:p>
            <a:pPr algn="just" marL="379633" indent="-189817" lvl="1">
              <a:lnSpc>
                <a:spcPts val="2461"/>
              </a:lnSpc>
              <a:buFont typeface="Arial"/>
              <a:buChar char="•"/>
            </a:pPr>
            <a:r>
              <a:rPr lang="en-US" b="true" sz="1758">
                <a:solidFill>
                  <a:srgbClr val="253247"/>
                </a:solidFill>
                <a:latin typeface="Glacial Indifference Bold"/>
                <a:ea typeface="Glacial Indifference Bold"/>
                <a:cs typeface="Glacial Indifference Bold"/>
                <a:sym typeface="Glacial Indifference Bold"/>
              </a:rPr>
              <a:t>Packages</a:t>
            </a:r>
            <a:r>
              <a:rPr lang="en-US" sz="1758">
                <a:solidFill>
                  <a:srgbClr val="253247"/>
                </a:solidFill>
                <a:latin typeface="Glacial Indifference"/>
                <a:ea typeface="Glacial Indifference"/>
                <a:cs typeface="Glacial Indifference"/>
                <a:sym typeface="Glacial Indifference"/>
              </a:rPr>
              <a:t>: ggplot2</a:t>
            </a:r>
          </a:p>
          <a:p>
            <a:pPr algn="just" marL="379633" indent="-189817" lvl="1">
              <a:lnSpc>
                <a:spcPts val="2461"/>
              </a:lnSpc>
              <a:buFont typeface="Arial"/>
              <a:buChar char="•"/>
            </a:pPr>
            <a:r>
              <a:rPr lang="en-US" b="true" sz="1758">
                <a:solidFill>
                  <a:srgbClr val="253247"/>
                </a:solidFill>
                <a:latin typeface="Glacial Indifference Bold"/>
                <a:ea typeface="Glacial Indifference Bold"/>
                <a:cs typeface="Glacial Indifference Bold"/>
                <a:sym typeface="Glacial Indifference Bold"/>
              </a:rPr>
              <a:t>Functions</a:t>
            </a:r>
            <a:r>
              <a:rPr lang="en-US" sz="1758">
                <a:solidFill>
                  <a:srgbClr val="253247"/>
                </a:solidFill>
                <a:latin typeface="Glacial Indifference"/>
                <a:ea typeface="Glacial Indifference"/>
                <a:cs typeface="Glacial Indifference"/>
                <a:sym typeface="Glacial Indifference"/>
              </a:rPr>
              <a:t>: geom_boxplot(), aes(), theme_minimal()</a:t>
            </a:r>
          </a:p>
          <a:p>
            <a:pPr algn="just" marL="379633" indent="-189817" lvl="1">
              <a:lnSpc>
                <a:spcPts val="2461"/>
              </a:lnSpc>
              <a:buFont typeface="Arial"/>
              <a:buChar char="•"/>
            </a:pPr>
            <a:r>
              <a:rPr lang="en-US" b="true" sz="1758">
                <a:solidFill>
                  <a:srgbClr val="253247"/>
                </a:solidFill>
                <a:latin typeface="Glacial Indifference Bold"/>
                <a:ea typeface="Glacial Indifference Bold"/>
                <a:cs typeface="Glacial Indifference Bold"/>
                <a:sym typeface="Glacial Indifference Bold"/>
              </a:rPr>
              <a:t>Key Features:</a:t>
            </a:r>
          </a:p>
          <a:p>
            <a:pPr algn="just" marL="759266" indent="-253089" lvl="2">
              <a:lnSpc>
                <a:spcPts val="2461"/>
              </a:lnSpc>
              <a:buFont typeface="Arial"/>
              <a:buChar char="⚬"/>
            </a:pPr>
            <a:r>
              <a:rPr lang="en-US" sz="1758">
                <a:solidFill>
                  <a:srgbClr val="253247"/>
                </a:solidFill>
                <a:latin typeface="Glacial Indifference"/>
                <a:ea typeface="Glacial Indifference"/>
                <a:cs typeface="Glacial Indifference"/>
                <a:sym typeface="Glacial Indifference"/>
              </a:rPr>
              <a:t>Colors assigned using aes(color = market_condition)</a:t>
            </a:r>
          </a:p>
          <a:p>
            <a:pPr algn="just" marL="759266" indent="-253089" lvl="2">
              <a:lnSpc>
                <a:spcPts val="2461"/>
              </a:lnSpc>
              <a:buFont typeface="Arial"/>
              <a:buChar char="⚬"/>
            </a:pPr>
            <a:r>
              <a:rPr lang="en-US" sz="1758">
                <a:solidFill>
                  <a:srgbClr val="253247"/>
                </a:solidFill>
                <a:latin typeface="Glacial Indifference"/>
                <a:ea typeface="Glacial Indifference"/>
                <a:cs typeface="Glacial Indifference"/>
                <a:sym typeface="Glacial Indifference"/>
              </a:rPr>
              <a:t>X-axis label rotation for clarity</a:t>
            </a:r>
          </a:p>
          <a:p>
            <a:pPr algn="l">
              <a:lnSpc>
                <a:spcPts val="2461"/>
              </a:lnSpc>
            </a:pPr>
          </a:p>
          <a:p>
            <a:pPr algn="just">
              <a:lnSpc>
                <a:spcPts val="2461"/>
              </a:lnSpc>
              <a:spcBef>
                <a:spcPct val="0"/>
              </a:spcBef>
            </a:pPr>
          </a:p>
          <a:p>
            <a:pPr algn="just">
              <a:lnSpc>
                <a:spcPts val="1811"/>
              </a:lnSpc>
              <a:spcBef>
                <a:spcPct val="0"/>
              </a:spcBef>
            </a:pPr>
          </a:p>
        </p:txBody>
      </p:sp>
      <p:sp>
        <p:nvSpPr>
          <p:cNvPr name="TextBox 21" id="21"/>
          <p:cNvSpPr txBox="true"/>
          <p:nvPr/>
        </p:nvSpPr>
        <p:spPr>
          <a:xfrm rot="0">
            <a:off x="7091903" y="2470222"/>
            <a:ext cx="6867413" cy="2971132"/>
          </a:xfrm>
          <a:prstGeom prst="rect">
            <a:avLst/>
          </a:prstGeom>
        </p:spPr>
        <p:txBody>
          <a:bodyPr anchor="t" rtlCol="false" tIns="0" lIns="0" bIns="0" rIns="0">
            <a:spAutoFit/>
          </a:bodyPr>
          <a:lstStyle/>
          <a:p>
            <a:pPr algn="just">
              <a:lnSpc>
                <a:spcPts val="2461"/>
              </a:lnSpc>
            </a:pPr>
            <a:r>
              <a:rPr lang="en-US" sz="1758" b="true">
                <a:solidFill>
                  <a:srgbClr val="253247"/>
                </a:solidFill>
                <a:latin typeface="Glacial Indifference Bold"/>
                <a:ea typeface="Glacial Indifference Bold"/>
                <a:cs typeface="Glacial Indifference Bold"/>
                <a:sym typeface="Glacial Indifference Bold"/>
              </a:rPr>
              <a:t>Price Trend by Time (By Year)</a:t>
            </a:r>
          </a:p>
          <a:p>
            <a:pPr algn="just">
              <a:lnSpc>
                <a:spcPts val="2461"/>
              </a:lnSpc>
            </a:pPr>
          </a:p>
          <a:p>
            <a:pPr algn="just" marL="379633" indent="-189817" lvl="1">
              <a:lnSpc>
                <a:spcPts val="2461"/>
              </a:lnSpc>
              <a:buFont typeface="Arial"/>
              <a:buChar char="•"/>
            </a:pPr>
            <a:r>
              <a:rPr lang="en-US" b="true" sz="1758">
                <a:solidFill>
                  <a:srgbClr val="253247"/>
                </a:solidFill>
                <a:latin typeface="Glacial Indifference Bold"/>
                <a:ea typeface="Glacial Indifference Bold"/>
                <a:cs typeface="Glacial Indifference Bold"/>
                <a:sym typeface="Glacial Indifference Bold"/>
              </a:rPr>
              <a:t>Chart: </a:t>
            </a:r>
            <a:r>
              <a:rPr lang="en-US" sz="1758">
                <a:solidFill>
                  <a:srgbClr val="253247"/>
                </a:solidFill>
                <a:latin typeface="Glacial Indifference"/>
                <a:ea typeface="Glacial Indifference"/>
                <a:cs typeface="Glacial Indifference"/>
                <a:sym typeface="Glacial Indifference"/>
              </a:rPr>
              <a:t>Line Plot</a:t>
            </a:r>
          </a:p>
          <a:p>
            <a:pPr algn="just" marL="379633" indent="-189817" lvl="1">
              <a:lnSpc>
                <a:spcPts val="2461"/>
              </a:lnSpc>
              <a:buFont typeface="Arial"/>
              <a:buChar char="•"/>
            </a:pPr>
            <a:r>
              <a:rPr lang="en-US" b="true" sz="1758">
                <a:solidFill>
                  <a:srgbClr val="253247"/>
                </a:solidFill>
                <a:latin typeface="Glacial Indifference Bold"/>
                <a:ea typeface="Glacial Indifference Bold"/>
                <a:cs typeface="Glacial Indifference Bold"/>
                <a:sym typeface="Glacial Indifference Bold"/>
              </a:rPr>
              <a:t>Purpose: </a:t>
            </a:r>
            <a:r>
              <a:rPr lang="en-US" sz="1758">
                <a:solidFill>
                  <a:srgbClr val="253247"/>
                </a:solidFill>
                <a:latin typeface="Glacial Indifference"/>
                <a:ea typeface="Glacial Indifference"/>
                <a:cs typeface="Glacial Indifference"/>
                <a:sym typeface="Glacial Indifference"/>
              </a:rPr>
              <a:t>Observe average property price trends over time</a:t>
            </a:r>
          </a:p>
          <a:p>
            <a:pPr algn="just" marL="379633" indent="-189817" lvl="1">
              <a:lnSpc>
                <a:spcPts val="2461"/>
              </a:lnSpc>
              <a:buFont typeface="Arial"/>
              <a:buChar char="•"/>
            </a:pPr>
            <a:r>
              <a:rPr lang="en-US" b="true" sz="1758">
                <a:solidFill>
                  <a:srgbClr val="253247"/>
                </a:solidFill>
                <a:latin typeface="Glacial Indifference Bold"/>
                <a:ea typeface="Glacial Indifference Bold"/>
                <a:cs typeface="Glacial Indifference Bold"/>
                <a:sym typeface="Glacial Indifference Bold"/>
              </a:rPr>
              <a:t>Packages: </a:t>
            </a:r>
            <a:r>
              <a:rPr lang="en-US" sz="1758">
                <a:solidFill>
                  <a:srgbClr val="253247"/>
                </a:solidFill>
                <a:latin typeface="Glacial Indifference"/>
                <a:ea typeface="Glacial Indifference"/>
                <a:cs typeface="Glacial Indifference"/>
                <a:sym typeface="Glacial Indifference"/>
              </a:rPr>
              <a:t>ggplot2</a:t>
            </a:r>
          </a:p>
          <a:p>
            <a:pPr algn="just" marL="379633" indent="-189817" lvl="1">
              <a:lnSpc>
                <a:spcPts val="2461"/>
              </a:lnSpc>
              <a:buFont typeface="Arial"/>
              <a:buChar char="•"/>
            </a:pPr>
            <a:r>
              <a:rPr lang="en-US" b="true" sz="1758">
                <a:solidFill>
                  <a:srgbClr val="253247"/>
                </a:solidFill>
                <a:latin typeface="Glacial Indifference Bold"/>
                <a:ea typeface="Glacial Indifference Bold"/>
                <a:cs typeface="Glacial Indifference Bold"/>
                <a:sym typeface="Glacial Indifference Bold"/>
              </a:rPr>
              <a:t>Functions: </a:t>
            </a:r>
            <a:r>
              <a:rPr lang="en-US" sz="1758">
                <a:solidFill>
                  <a:srgbClr val="253247"/>
                </a:solidFill>
                <a:latin typeface="Glacial Indifference"/>
                <a:ea typeface="Glacial Indifference"/>
                <a:cs typeface="Glacial Indifference"/>
                <a:sym typeface="Glacial Indifference"/>
              </a:rPr>
              <a:t>stat_summary(fun = "mean"), theme_minimal()</a:t>
            </a:r>
          </a:p>
          <a:p>
            <a:pPr algn="just" marL="379633" indent="-189817" lvl="1">
              <a:lnSpc>
                <a:spcPts val="2461"/>
              </a:lnSpc>
              <a:buFont typeface="Arial"/>
              <a:buChar char="•"/>
            </a:pPr>
            <a:r>
              <a:rPr lang="en-US" b="true" sz="1758">
                <a:solidFill>
                  <a:srgbClr val="253247"/>
                </a:solidFill>
                <a:latin typeface="Glacial Indifference Bold"/>
                <a:ea typeface="Glacial Indifference Bold"/>
                <a:cs typeface="Glacial Indifference Bold"/>
                <a:sym typeface="Glacial Indifference Bold"/>
              </a:rPr>
              <a:t>Key Features:</a:t>
            </a:r>
          </a:p>
          <a:p>
            <a:pPr algn="just" marL="759266" indent="-253089" lvl="2">
              <a:lnSpc>
                <a:spcPts val="2461"/>
              </a:lnSpc>
              <a:buFont typeface="Arial"/>
              <a:buChar char="⚬"/>
            </a:pPr>
            <a:r>
              <a:rPr lang="en-US" sz="1758">
                <a:solidFill>
                  <a:srgbClr val="253247"/>
                </a:solidFill>
                <a:latin typeface="Glacial Indifference"/>
                <a:ea typeface="Glacial Indifference"/>
                <a:cs typeface="Glacial Indifference"/>
                <a:sym typeface="Glacial Indifference"/>
              </a:rPr>
              <a:t>Average price computed using fun = "mean"</a:t>
            </a:r>
          </a:p>
          <a:p>
            <a:pPr algn="just" marL="759266" indent="-253089" lvl="2">
              <a:lnSpc>
                <a:spcPts val="2461"/>
              </a:lnSpc>
              <a:buFont typeface="Arial"/>
              <a:buChar char="⚬"/>
            </a:pPr>
            <a:r>
              <a:rPr lang="en-US" sz="1758">
                <a:solidFill>
                  <a:srgbClr val="253247"/>
                </a:solidFill>
                <a:latin typeface="Glacial Indifference"/>
                <a:ea typeface="Glacial Indifference"/>
                <a:cs typeface="Glacial Indifference"/>
                <a:sym typeface="Glacial Indifference"/>
              </a:rPr>
              <a:t>Line aesthetics controlled with color</a:t>
            </a:r>
          </a:p>
          <a:p>
            <a:pPr algn="just">
              <a:lnSpc>
                <a:spcPts val="1811"/>
              </a:lnSpc>
              <a:spcBef>
                <a:spcPct val="0"/>
              </a:spcBef>
            </a:pPr>
          </a:p>
        </p:txBody>
      </p:sp>
      <p:sp>
        <p:nvSpPr>
          <p:cNvPr name="Freeform 22" id="22"/>
          <p:cNvSpPr/>
          <p:nvPr/>
        </p:nvSpPr>
        <p:spPr>
          <a:xfrm flipH="false" flipV="false" rot="5400000">
            <a:off x="12814712" y="4272983"/>
            <a:ext cx="202740" cy="1028700"/>
          </a:xfrm>
          <a:custGeom>
            <a:avLst/>
            <a:gdLst/>
            <a:ahLst/>
            <a:cxnLst/>
            <a:rect r="r" b="b" t="t" l="l"/>
            <a:pathLst>
              <a:path h="1028700" w="202740">
                <a:moveTo>
                  <a:pt x="0" y="0"/>
                </a:moveTo>
                <a:lnTo>
                  <a:pt x="202739" y="0"/>
                </a:lnTo>
                <a:lnTo>
                  <a:pt x="202739" y="1028700"/>
                </a:lnTo>
                <a:lnTo>
                  <a:pt x="0" y="1028700"/>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Freeform 23" id="23"/>
          <p:cNvSpPr/>
          <p:nvPr/>
        </p:nvSpPr>
        <p:spPr>
          <a:xfrm flipH="false" flipV="false" rot="-5400000">
            <a:off x="10639755" y="6571685"/>
            <a:ext cx="202740" cy="1028700"/>
          </a:xfrm>
          <a:custGeom>
            <a:avLst/>
            <a:gdLst/>
            <a:ahLst/>
            <a:cxnLst/>
            <a:rect r="r" b="b" t="t" l="l"/>
            <a:pathLst>
              <a:path h="1028700" w="202740">
                <a:moveTo>
                  <a:pt x="0" y="0"/>
                </a:moveTo>
                <a:lnTo>
                  <a:pt x="202740" y="0"/>
                </a:lnTo>
                <a:lnTo>
                  <a:pt x="202740" y="1028700"/>
                </a:lnTo>
                <a:lnTo>
                  <a:pt x="0" y="1028700"/>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Tree>
  </p:cSld>
  <p:clrMapOvr>
    <a:masterClrMapping/>
  </p:clrMapOvr>
</p:sld>
</file>

<file path=ppt/slides/slide21.xml><?xml version="1.0" encoding="utf-8"?>
<p:sld xmlns:p="http://schemas.openxmlformats.org/presentationml/2006/main" xmlns:a="http://schemas.openxmlformats.org/drawingml/2006/main" xmlns:r="http://schemas.openxmlformats.org/officeDocument/2006/relationships">
  <p:cSld>
    <p:bg>
      <p:bgPr>
        <a:solidFill>
          <a:srgbClr val="D9E4EC"/>
        </a:solidFill>
      </p:bgPr>
    </p:bg>
    <p:spTree>
      <p:nvGrpSpPr>
        <p:cNvPr id="1" name=""/>
        <p:cNvGrpSpPr/>
        <p:nvPr/>
      </p:nvGrpSpPr>
      <p:grpSpPr>
        <a:xfrm>
          <a:off x="0" y="0"/>
          <a:ext cx="0" cy="0"/>
          <a:chOff x="0" y="0"/>
          <a:chExt cx="0" cy="0"/>
        </a:xfrm>
      </p:grpSpPr>
      <p:sp>
        <p:nvSpPr>
          <p:cNvPr name="Freeform 2" id="2"/>
          <p:cNvSpPr/>
          <p:nvPr/>
        </p:nvSpPr>
        <p:spPr>
          <a:xfrm flipH="true" flipV="true" rot="0">
            <a:off x="15335897" y="-291796"/>
            <a:ext cx="2952103" cy="2944723"/>
          </a:xfrm>
          <a:custGeom>
            <a:avLst/>
            <a:gdLst/>
            <a:ahLst/>
            <a:cxnLst/>
            <a:rect r="r" b="b" t="t" l="l"/>
            <a:pathLst>
              <a:path h="2944723" w="2952103">
                <a:moveTo>
                  <a:pt x="2952103" y="2944722"/>
                </a:moveTo>
                <a:lnTo>
                  <a:pt x="0" y="2944722"/>
                </a:lnTo>
                <a:lnTo>
                  <a:pt x="0" y="0"/>
                </a:lnTo>
                <a:lnTo>
                  <a:pt x="2952103" y="0"/>
                </a:lnTo>
                <a:lnTo>
                  <a:pt x="2952103" y="2944722"/>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8828038">
            <a:off x="4271547" y="-2750518"/>
            <a:ext cx="13665829" cy="1525700"/>
            <a:chOff x="0" y="0"/>
            <a:chExt cx="3599231" cy="401831"/>
          </a:xfrm>
        </p:grpSpPr>
        <p:sp>
          <p:nvSpPr>
            <p:cNvPr name="Freeform 4" id="4"/>
            <p:cNvSpPr/>
            <p:nvPr/>
          </p:nvSpPr>
          <p:spPr>
            <a:xfrm flipH="false" flipV="false" rot="0">
              <a:off x="0" y="0"/>
              <a:ext cx="3599231" cy="401831"/>
            </a:xfrm>
            <a:custGeom>
              <a:avLst/>
              <a:gdLst/>
              <a:ahLst/>
              <a:cxnLst/>
              <a:rect r="r" b="b" t="t" l="l"/>
              <a:pathLst>
                <a:path h="401831" w="3599231">
                  <a:moveTo>
                    <a:pt x="203200" y="0"/>
                  </a:moveTo>
                  <a:lnTo>
                    <a:pt x="3599231" y="0"/>
                  </a:lnTo>
                  <a:lnTo>
                    <a:pt x="3396031" y="401831"/>
                  </a:lnTo>
                  <a:lnTo>
                    <a:pt x="0" y="401831"/>
                  </a:lnTo>
                  <a:lnTo>
                    <a:pt x="203200" y="0"/>
                  </a:lnTo>
                  <a:close/>
                </a:path>
              </a:pathLst>
            </a:custGeom>
            <a:solidFill>
              <a:srgbClr val="578EAF"/>
            </a:solidFill>
          </p:spPr>
        </p:sp>
        <p:sp>
          <p:nvSpPr>
            <p:cNvPr name="TextBox 5" id="5"/>
            <p:cNvSpPr txBox="true"/>
            <p:nvPr/>
          </p:nvSpPr>
          <p:spPr>
            <a:xfrm>
              <a:off x="101600" y="-38100"/>
              <a:ext cx="3396031" cy="439931"/>
            </a:xfrm>
            <a:prstGeom prst="rect">
              <a:avLst/>
            </a:prstGeom>
          </p:spPr>
          <p:txBody>
            <a:bodyPr anchor="ctr" rtlCol="false" tIns="50800" lIns="50800" bIns="50800" rIns="50800"/>
            <a:lstStyle/>
            <a:p>
              <a:pPr algn="ctr">
                <a:lnSpc>
                  <a:spcPts val="2659"/>
                </a:lnSpc>
              </a:pPr>
            </a:p>
          </p:txBody>
        </p:sp>
      </p:grpSp>
      <p:grpSp>
        <p:nvGrpSpPr>
          <p:cNvPr name="Group 6" id="6"/>
          <p:cNvGrpSpPr/>
          <p:nvPr/>
        </p:nvGrpSpPr>
        <p:grpSpPr>
          <a:xfrm rot="-9061468">
            <a:off x="-3088929" y="-1143254"/>
            <a:ext cx="10495456" cy="1412986"/>
            <a:chOff x="0" y="0"/>
            <a:chExt cx="2764235" cy="372144"/>
          </a:xfrm>
        </p:grpSpPr>
        <p:sp>
          <p:nvSpPr>
            <p:cNvPr name="Freeform 7" id="7"/>
            <p:cNvSpPr/>
            <p:nvPr/>
          </p:nvSpPr>
          <p:spPr>
            <a:xfrm flipH="false" flipV="false" rot="0">
              <a:off x="0" y="0"/>
              <a:ext cx="2764235" cy="372144"/>
            </a:xfrm>
            <a:custGeom>
              <a:avLst/>
              <a:gdLst/>
              <a:ahLst/>
              <a:cxnLst/>
              <a:rect r="r" b="b" t="t" l="l"/>
              <a:pathLst>
                <a:path h="372144" w="2764235">
                  <a:moveTo>
                    <a:pt x="203200" y="0"/>
                  </a:moveTo>
                  <a:lnTo>
                    <a:pt x="2764235" y="0"/>
                  </a:lnTo>
                  <a:lnTo>
                    <a:pt x="2561035" y="372144"/>
                  </a:lnTo>
                  <a:lnTo>
                    <a:pt x="0" y="372144"/>
                  </a:lnTo>
                  <a:lnTo>
                    <a:pt x="203200" y="0"/>
                  </a:lnTo>
                  <a:close/>
                </a:path>
              </a:pathLst>
            </a:custGeom>
            <a:solidFill>
              <a:srgbClr val="6AABD2"/>
            </a:solidFill>
          </p:spPr>
        </p:sp>
        <p:sp>
          <p:nvSpPr>
            <p:cNvPr name="TextBox 8" id="8"/>
            <p:cNvSpPr txBox="true"/>
            <p:nvPr/>
          </p:nvSpPr>
          <p:spPr>
            <a:xfrm>
              <a:off x="101600" y="-38100"/>
              <a:ext cx="2561035" cy="410244"/>
            </a:xfrm>
            <a:prstGeom prst="rect">
              <a:avLst/>
            </a:prstGeom>
          </p:spPr>
          <p:txBody>
            <a:bodyPr anchor="ctr" rtlCol="false" tIns="50800" lIns="50800" bIns="50800" rIns="50800"/>
            <a:lstStyle/>
            <a:p>
              <a:pPr algn="ctr">
                <a:lnSpc>
                  <a:spcPts val="2659"/>
                </a:lnSpc>
              </a:pPr>
            </a:p>
          </p:txBody>
        </p:sp>
      </p:grpSp>
      <p:grpSp>
        <p:nvGrpSpPr>
          <p:cNvPr name="Group 9" id="9"/>
          <p:cNvGrpSpPr/>
          <p:nvPr/>
        </p:nvGrpSpPr>
        <p:grpSpPr>
          <a:xfrm rot="-2042265">
            <a:off x="-9170706" y="10779985"/>
            <a:ext cx="13665829" cy="1525700"/>
            <a:chOff x="0" y="0"/>
            <a:chExt cx="3599231" cy="401831"/>
          </a:xfrm>
        </p:grpSpPr>
        <p:sp>
          <p:nvSpPr>
            <p:cNvPr name="Freeform 10" id="10"/>
            <p:cNvSpPr/>
            <p:nvPr/>
          </p:nvSpPr>
          <p:spPr>
            <a:xfrm flipH="false" flipV="false" rot="0">
              <a:off x="0" y="0"/>
              <a:ext cx="3599231" cy="401831"/>
            </a:xfrm>
            <a:custGeom>
              <a:avLst/>
              <a:gdLst/>
              <a:ahLst/>
              <a:cxnLst/>
              <a:rect r="r" b="b" t="t" l="l"/>
              <a:pathLst>
                <a:path h="401831" w="3599231">
                  <a:moveTo>
                    <a:pt x="203200" y="0"/>
                  </a:moveTo>
                  <a:lnTo>
                    <a:pt x="3599231" y="0"/>
                  </a:lnTo>
                  <a:lnTo>
                    <a:pt x="3396031" y="401831"/>
                  </a:lnTo>
                  <a:lnTo>
                    <a:pt x="0" y="401831"/>
                  </a:lnTo>
                  <a:lnTo>
                    <a:pt x="203200" y="0"/>
                  </a:lnTo>
                  <a:close/>
                </a:path>
              </a:pathLst>
            </a:custGeom>
            <a:solidFill>
              <a:srgbClr val="578EAF"/>
            </a:solidFill>
          </p:spPr>
        </p:sp>
        <p:sp>
          <p:nvSpPr>
            <p:cNvPr name="TextBox 11" id="11"/>
            <p:cNvSpPr txBox="true"/>
            <p:nvPr/>
          </p:nvSpPr>
          <p:spPr>
            <a:xfrm>
              <a:off x="101600" y="-38100"/>
              <a:ext cx="3396031" cy="439931"/>
            </a:xfrm>
            <a:prstGeom prst="rect">
              <a:avLst/>
            </a:prstGeom>
          </p:spPr>
          <p:txBody>
            <a:bodyPr anchor="ctr" rtlCol="false" tIns="50800" lIns="50800" bIns="50800" rIns="50800"/>
            <a:lstStyle/>
            <a:p>
              <a:pPr algn="ctr">
                <a:lnSpc>
                  <a:spcPts val="2659"/>
                </a:lnSpc>
              </a:pPr>
            </a:p>
          </p:txBody>
        </p:sp>
      </p:grpSp>
      <p:grpSp>
        <p:nvGrpSpPr>
          <p:cNvPr name="Group 12" id="12"/>
          <p:cNvGrpSpPr/>
          <p:nvPr/>
        </p:nvGrpSpPr>
        <p:grpSpPr>
          <a:xfrm rot="1668227">
            <a:off x="1326557" y="9102829"/>
            <a:ext cx="10495456" cy="1412986"/>
            <a:chOff x="0" y="0"/>
            <a:chExt cx="2764235" cy="372144"/>
          </a:xfrm>
        </p:grpSpPr>
        <p:sp>
          <p:nvSpPr>
            <p:cNvPr name="Freeform 13" id="13"/>
            <p:cNvSpPr/>
            <p:nvPr/>
          </p:nvSpPr>
          <p:spPr>
            <a:xfrm flipH="false" flipV="false" rot="0">
              <a:off x="0" y="0"/>
              <a:ext cx="2764235" cy="372144"/>
            </a:xfrm>
            <a:custGeom>
              <a:avLst/>
              <a:gdLst/>
              <a:ahLst/>
              <a:cxnLst/>
              <a:rect r="r" b="b" t="t" l="l"/>
              <a:pathLst>
                <a:path h="372144" w="2764235">
                  <a:moveTo>
                    <a:pt x="203200" y="0"/>
                  </a:moveTo>
                  <a:lnTo>
                    <a:pt x="2764235" y="0"/>
                  </a:lnTo>
                  <a:lnTo>
                    <a:pt x="2561035" y="372144"/>
                  </a:lnTo>
                  <a:lnTo>
                    <a:pt x="0" y="372144"/>
                  </a:lnTo>
                  <a:lnTo>
                    <a:pt x="203200" y="0"/>
                  </a:lnTo>
                  <a:close/>
                </a:path>
              </a:pathLst>
            </a:custGeom>
            <a:solidFill>
              <a:srgbClr val="6AABD2"/>
            </a:solidFill>
          </p:spPr>
        </p:sp>
        <p:sp>
          <p:nvSpPr>
            <p:cNvPr name="TextBox 14" id="14"/>
            <p:cNvSpPr txBox="true"/>
            <p:nvPr/>
          </p:nvSpPr>
          <p:spPr>
            <a:xfrm>
              <a:off x="101600" y="-38100"/>
              <a:ext cx="2561035" cy="410244"/>
            </a:xfrm>
            <a:prstGeom prst="rect">
              <a:avLst/>
            </a:prstGeom>
          </p:spPr>
          <p:txBody>
            <a:bodyPr anchor="ctr" rtlCol="false" tIns="50800" lIns="50800" bIns="50800" rIns="50800"/>
            <a:lstStyle/>
            <a:p>
              <a:pPr algn="ctr">
                <a:lnSpc>
                  <a:spcPts val="2659"/>
                </a:lnSpc>
              </a:pPr>
            </a:p>
          </p:txBody>
        </p:sp>
      </p:grpSp>
      <p:sp>
        <p:nvSpPr>
          <p:cNvPr name="Freeform 15" id="15"/>
          <p:cNvSpPr/>
          <p:nvPr/>
        </p:nvSpPr>
        <p:spPr>
          <a:xfrm flipH="false" flipV="false" rot="0">
            <a:off x="412617" y="1684304"/>
            <a:ext cx="5463687" cy="3371875"/>
          </a:xfrm>
          <a:custGeom>
            <a:avLst/>
            <a:gdLst/>
            <a:ahLst/>
            <a:cxnLst/>
            <a:rect r="r" b="b" t="t" l="l"/>
            <a:pathLst>
              <a:path h="3371875" w="5463687">
                <a:moveTo>
                  <a:pt x="0" y="0"/>
                </a:moveTo>
                <a:lnTo>
                  <a:pt x="5463687" y="0"/>
                </a:lnTo>
                <a:lnTo>
                  <a:pt x="5463687" y="3371875"/>
                </a:lnTo>
                <a:lnTo>
                  <a:pt x="0" y="3371875"/>
                </a:lnTo>
                <a:lnTo>
                  <a:pt x="0" y="0"/>
                </a:lnTo>
                <a:close/>
              </a:path>
            </a:pathLst>
          </a:custGeom>
          <a:blipFill>
            <a:blip r:embed="rId4"/>
            <a:stretch>
              <a:fillRect l="0" t="0" r="0" b="0"/>
            </a:stretch>
          </a:blipFill>
        </p:spPr>
      </p:sp>
      <p:sp>
        <p:nvSpPr>
          <p:cNvPr name="Freeform 16" id="16"/>
          <p:cNvSpPr/>
          <p:nvPr/>
        </p:nvSpPr>
        <p:spPr>
          <a:xfrm flipH="false" flipV="false" rot="0">
            <a:off x="12902536" y="2361145"/>
            <a:ext cx="4528343" cy="2794634"/>
          </a:xfrm>
          <a:custGeom>
            <a:avLst/>
            <a:gdLst/>
            <a:ahLst/>
            <a:cxnLst/>
            <a:rect r="r" b="b" t="t" l="l"/>
            <a:pathLst>
              <a:path h="2794634" w="4528343">
                <a:moveTo>
                  <a:pt x="0" y="0"/>
                </a:moveTo>
                <a:lnTo>
                  <a:pt x="4528343" y="0"/>
                </a:lnTo>
                <a:lnTo>
                  <a:pt x="4528343" y="2794634"/>
                </a:lnTo>
                <a:lnTo>
                  <a:pt x="0" y="2794634"/>
                </a:lnTo>
                <a:lnTo>
                  <a:pt x="0" y="0"/>
                </a:lnTo>
                <a:close/>
              </a:path>
            </a:pathLst>
          </a:custGeom>
          <a:blipFill>
            <a:blip r:embed="rId5"/>
            <a:stretch>
              <a:fillRect l="0" t="0" r="0" b="0"/>
            </a:stretch>
          </a:blipFill>
        </p:spPr>
      </p:sp>
      <p:sp>
        <p:nvSpPr>
          <p:cNvPr name="Freeform 17" id="17"/>
          <p:cNvSpPr/>
          <p:nvPr/>
        </p:nvSpPr>
        <p:spPr>
          <a:xfrm flipH="false" flipV="false" rot="0">
            <a:off x="6746420" y="6096848"/>
            <a:ext cx="4358041" cy="2689534"/>
          </a:xfrm>
          <a:custGeom>
            <a:avLst/>
            <a:gdLst/>
            <a:ahLst/>
            <a:cxnLst/>
            <a:rect r="r" b="b" t="t" l="l"/>
            <a:pathLst>
              <a:path h="2689534" w="4358041">
                <a:moveTo>
                  <a:pt x="0" y="0"/>
                </a:moveTo>
                <a:lnTo>
                  <a:pt x="4358041" y="0"/>
                </a:lnTo>
                <a:lnTo>
                  <a:pt x="4358041" y="2689534"/>
                </a:lnTo>
                <a:lnTo>
                  <a:pt x="0" y="2689534"/>
                </a:lnTo>
                <a:lnTo>
                  <a:pt x="0" y="0"/>
                </a:lnTo>
                <a:close/>
              </a:path>
            </a:pathLst>
          </a:custGeom>
          <a:blipFill>
            <a:blip r:embed="rId6"/>
            <a:stretch>
              <a:fillRect l="0" t="0" r="0" b="0"/>
            </a:stretch>
          </a:blipFill>
        </p:spPr>
      </p:sp>
      <p:sp>
        <p:nvSpPr>
          <p:cNvPr name="TextBox 18" id="18"/>
          <p:cNvSpPr txBox="true"/>
          <p:nvPr/>
        </p:nvSpPr>
        <p:spPr>
          <a:xfrm rot="0">
            <a:off x="1602867" y="5618989"/>
            <a:ext cx="4847604" cy="4495132"/>
          </a:xfrm>
          <a:prstGeom prst="rect">
            <a:avLst/>
          </a:prstGeom>
        </p:spPr>
        <p:txBody>
          <a:bodyPr anchor="t" rtlCol="false" tIns="0" lIns="0" bIns="0" rIns="0">
            <a:spAutoFit/>
          </a:bodyPr>
          <a:lstStyle/>
          <a:p>
            <a:pPr algn="just">
              <a:lnSpc>
                <a:spcPts val="2461"/>
              </a:lnSpc>
            </a:pPr>
            <a:r>
              <a:rPr lang="en-US" sz="1758" b="true">
                <a:solidFill>
                  <a:srgbClr val="253247"/>
                </a:solidFill>
                <a:latin typeface="Glacial Indifference Bold"/>
                <a:ea typeface="Glacial Indifference Bold"/>
                <a:cs typeface="Glacial Indifference Bold"/>
                <a:sym typeface="Glacial Indifference Bold"/>
              </a:rPr>
              <a:t>Heatm</a:t>
            </a:r>
            <a:r>
              <a:rPr lang="en-US" sz="1758" b="true">
                <a:solidFill>
                  <a:srgbClr val="253247"/>
                </a:solidFill>
                <a:latin typeface="Glacial Indifference Bold"/>
                <a:ea typeface="Glacial Indifference Bold"/>
                <a:cs typeface="Glacial Indifference Bold"/>
                <a:sym typeface="Glacial Indifference Bold"/>
              </a:rPr>
              <a:t>ap: Average Price by County and Price</a:t>
            </a:r>
          </a:p>
          <a:p>
            <a:pPr algn="just">
              <a:lnSpc>
                <a:spcPts val="2461"/>
              </a:lnSpc>
            </a:pPr>
          </a:p>
          <a:p>
            <a:pPr algn="just">
              <a:lnSpc>
                <a:spcPts val="2461"/>
              </a:lnSpc>
            </a:pPr>
            <a:r>
              <a:rPr lang="en-US" sz="1758" b="true">
                <a:solidFill>
                  <a:srgbClr val="253247"/>
                </a:solidFill>
                <a:latin typeface="Glacial Indifference Bold"/>
                <a:ea typeface="Glacial Indifference Bold"/>
                <a:cs typeface="Glacial Indifference Bold"/>
                <a:sym typeface="Glacial Indifference Bold"/>
              </a:rPr>
              <a:t> Category</a:t>
            </a:r>
          </a:p>
          <a:p>
            <a:pPr algn="just" marL="379633" indent="-189817" lvl="1">
              <a:lnSpc>
                <a:spcPts val="2461"/>
              </a:lnSpc>
              <a:buFont typeface="Arial"/>
              <a:buChar char="•"/>
            </a:pPr>
            <a:r>
              <a:rPr lang="en-US" b="true" sz="1758">
                <a:solidFill>
                  <a:srgbClr val="253247"/>
                </a:solidFill>
                <a:latin typeface="Glacial Indifference Bold"/>
                <a:ea typeface="Glacial Indifference Bold"/>
                <a:cs typeface="Glacial Indifference Bold"/>
                <a:sym typeface="Glacial Indifference Bold"/>
              </a:rPr>
              <a:t>Chart: </a:t>
            </a:r>
            <a:r>
              <a:rPr lang="en-US" sz="1758">
                <a:solidFill>
                  <a:srgbClr val="253247"/>
                </a:solidFill>
                <a:latin typeface="Glacial Indifference"/>
                <a:ea typeface="Glacial Indifference"/>
                <a:cs typeface="Glacial Indifference"/>
                <a:sym typeface="Glacial Indifference"/>
              </a:rPr>
              <a:t>Heatmap</a:t>
            </a:r>
          </a:p>
          <a:p>
            <a:pPr algn="just" marL="379633" indent="-189817" lvl="1">
              <a:lnSpc>
                <a:spcPts val="2461"/>
              </a:lnSpc>
              <a:buFont typeface="Arial"/>
              <a:buChar char="•"/>
            </a:pPr>
            <a:r>
              <a:rPr lang="en-US" b="true" sz="1758">
                <a:solidFill>
                  <a:srgbClr val="253247"/>
                </a:solidFill>
                <a:latin typeface="Glacial Indifference Bold"/>
                <a:ea typeface="Glacial Indifference Bold"/>
                <a:cs typeface="Glacial Indifference Bold"/>
                <a:sym typeface="Glacial Indifference Bold"/>
              </a:rPr>
              <a:t>Purpose: </a:t>
            </a:r>
            <a:r>
              <a:rPr lang="en-US" sz="1758">
                <a:solidFill>
                  <a:srgbClr val="253247"/>
                </a:solidFill>
                <a:latin typeface="Glacial Indifference"/>
                <a:ea typeface="Glacial Indifference"/>
                <a:cs typeface="Glacial Indifference"/>
                <a:sym typeface="Glacial Indifference"/>
              </a:rPr>
              <a:t>Show average prices across counties segmented by price categories</a:t>
            </a:r>
          </a:p>
          <a:p>
            <a:pPr algn="just" marL="379633" indent="-189817" lvl="1">
              <a:lnSpc>
                <a:spcPts val="2461"/>
              </a:lnSpc>
              <a:buFont typeface="Arial"/>
              <a:buChar char="•"/>
            </a:pPr>
            <a:r>
              <a:rPr lang="en-US" b="true" sz="1758">
                <a:solidFill>
                  <a:srgbClr val="253247"/>
                </a:solidFill>
                <a:latin typeface="Glacial Indifference Bold"/>
                <a:ea typeface="Glacial Indifference Bold"/>
                <a:cs typeface="Glacial Indifference Bold"/>
                <a:sym typeface="Glacial Indifference Bold"/>
              </a:rPr>
              <a:t>Packages: </a:t>
            </a:r>
            <a:r>
              <a:rPr lang="en-US" sz="1758">
                <a:solidFill>
                  <a:srgbClr val="253247"/>
                </a:solidFill>
                <a:latin typeface="Glacial Indifference"/>
                <a:ea typeface="Glacial Indifference"/>
                <a:cs typeface="Glacial Indifference"/>
                <a:sym typeface="Glacial Indifference"/>
              </a:rPr>
              <a:t>ggplot2, dplyr</a:t>
            </a:r>
          </a:p>
          <a:p>
            <a:pPr algn="just" marL="379633" indent="-189817" lvl="1">
              <a:lnSpc>
                <a:spcPts val="2461"/>
              </a:lnSpc>
              <a:buFont typeface="Arial"/>
              <a:buChar char="•"/>
            </a:pPr>
            <a:r>
              <a:rPr lang="en-US" b="true" sz="1758">
                <a:solidFill>
                  <a:srgbClr val="253247"/>
                </a:solidFill>
                <a:latin typeface="Glacial Indifference Bold"/>
                <a:ea typeface="Glacial Indifference Bold"/>
                <a:cs typeface="Glacial Indifference Bold"/>
                <a:sym typeface="Glacial Indifference Bold"/>
              </a:rPr>
              <a:t>Functions: </a:t>
            </a:r>
            <a:r>
              <a:rPr lang="en-US" sz="1758">
                <a:solidFill>
                  <a:srgbClr val="253247"/>
                </a:solidFill>
                <a:latin typeface="Glacial Indifference"/>
                <a:ea typeface="Glacial Indifference"/>
                <a:cs typeface="Glacial Indifference"/>
                <a:sym typeface="Glacial Indifference"/>
              </a:rPr>
              <a:t>geom_tile(), scale_fill_gradient()</a:t>
            </a:r>
          </a:p>
          <a:p>
            <a:pPr algn="just" marL="379633" indent="-189817" lvl="1">
              <a:lnSpc>
                <a:spcPts val="2461"/>
              </a:lnSpc>
              <a:buFont typeface="Arial"/>
              <a:buChar char="•"/>
            </a:pPr>
            <a:r>
              <a:rPr lang="en-US" b="true" sz="1758">
                <a:solidFill>
                  <a:srgbClr val="253247"/>
                </a:solidFill>
                <a:latin typeface="Glacial Indifference Bold"/>
                <a:ea typeface="Glacial Indifference Bold"/>
                <a:cs typeface="Glacial Indifference Bold"/>
                <a:sym typeface="Glacial Indifference Bold"/>
              </a:rPr>
              <a:t>Key Features:</a:t>
            </a:r>
          </a:p>
          <a:p>
            <a:pPr algn="just" marL="759266" indent="-253089" lvl="2">
              <a:lnSpc>
                <a:spcPts val="2461"/>
              </a:lnSpc>
              <a:buFont typeface="Arial"/>
              <a:buChar char="⚬"/>
            </a:pPr>
            <a:r>
              <a:rPr lang="en-US" sz="1758">
                <a:solidFill>
                  <a:srgbClr val="253247"/>
                </a:solidFill>
                <a:latin typeface="Glacial Indifference"/>
                <a:ea typeface="Glacial Indifference"/>
                <a:cs typeface="Glacial Indifference"/>
                <a:sym typeface="Glacial Indifference"/>
              </a:rPr>
              <a:t>G</a:t>
            </a:r>
            <a:r>
              <a:rPr lang="en-US" sz="1758">
                <a:solidFill>
                  <a:srgbClr val="253247"/>
                </a:solidFill>
                <a:latin typeface="Glacial Indifference"/>
                <a:ea typeface="Glacial Indifference"/>
                <a:cs typeface="Glacial Indifference"/>
                <a:sym typeface="Glacial Indifference"/>
              </a:rPr>
              <a:t>radient colors to indicate price intensity</a:t>
            </a:r>
          </a:p>
          <a:p>
            <a:pPr algn="just" marL="759266" indent="-253089" lvl="2">
              <a:lnSpc>
                <a:spcPts val="2461"/>
              </a:lnSpc>
              <a:buFont typeface="Arial"/>
              <a:buChar char="⚬"/>
            </a:pPr>
            <a:r>
              <a:rPr lang="en-US" sz="1758">
                <a:solidFill>
                  <a:srgbClr val="253247"/>
                </a:solidFill>
                <a:latin typeface="Glacial Indifference"/>
                <a:ea typeface="Glacial Indifference"/>
                <a:cs typeface="Glacial Indifference"/>
                <a:sym typeface="Glacial Indifference"/>
              </a:rPr>
              <a:t>Border</a:t>
            </a:r>
            <a:r>
              <a:rPr lang="en-US" sz="1758">
                <a:solidFill>
                  <a:srgbClr val="253247"/>
                </a:solidFill>
                <a:latin typeface="Glacial Indifference"/>
                <a:ea typeface="Glacial Indifference"/>
                <a:cs typeface="Glacial Indifference"/>
                <a:sym typeface="Glacial Indifference"/>
              </a:rPr>
              <a:t>s between tiles for clear visualization</a:t>
            </a:r>
          </a:p>
          <a:p>
            <a:pPr algn="l">
              <a:lnSpc>
                <a:spcPts val="2461"/>
              </a:lnSpc>
            </a:pPr>
          </a:p>
          <a:p>
            <a:pPr algn="just">
              <a:lnSpc>
                <a:spcPts val="2461"/>
              </a:lnSpc>
              <a:spcBef>
                <a:spcPct val="0"/>
              </a:spcBef>
            </a:pPr>
          </a:p>
          <a:p>
            <a:pPr algn="just">
              <a:lnSpc>
                <a:spcPts val="1811"/>
              </a:lnSpc>
              <a:spcBef>
                <a:spcPct val="0"/>
              </a:spcBef>
            </a:pPr>
          </a:p>
        </p:txBody>
      </p:sp>
      <p:sp>
        <p:nvSpPr>
          <p:cNvPr name="Freeform 19" id="19"/>
          <p:cNvSpPr/>
          <p:nvPr/>
        </p:nvSpPr>
        <p:spPr>
          <a:xfrm flipH="false" flipV="false" rot="5400000">
            <a:off x="6349101" y="5855697"/>
            <a:ext cx="202740" cy="1028700"/>
          </a:xfrm>
          <a:custGeom>
            <a:avLst/>
            <a:gdLst/>
            <a:ahLst/>
            <a:cxnLst/>
            <a:rect r="r" b="b" t="t" l="l"/>
            <a:pathLst>
              <a:path h="1028700" w="202740">
                <a:moveTo>
                  <a:pt x="0" y="0"/>
                </a:moveTo>
                <a:lnTo>
                  <a:pt x="202740" y="0"/>
                </a:lnTo>
                <a:lnTo>
                  <a:pt x="202740" y="1028700"/>
                </a:lnTo>
                <a:lnTo>
                  <a:pt x="0" y="1028700"/>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20" id="20"/>
          <p:cNvSpPr/>
          <p:nvPr/>
        </p:nvSpPr>
        <p:spPr>
          <a:xfrm flipH="false" flipV="false" rot="1717713">
            <a:off x="5121972" y="4457109"/>
            <a:ext cx="1008659" cy="750190"/>
          </a:xfrm>
          <a:custGeom>
            <a:avLst/>
            <a:gdLst/>
            <a:ahLst/>
            <a:cxnLst/>
            <a:rect r="r" b="b" t="t" l="l"/>
            <a:pathLst>
              <a:path h="750190" w="1008659">
                <a:moveTo>
                  <a:pt x="0" y="0"/>
                </a:moveTo>
                <a:lnTo>
                  <a:pt x="1008659" y="0"/>
                </a:lnTo>
                <a:lnTo>
                  <a:pt x="1008659" y="750190"/>
                </a:lnTo>
                <a:lnTo>
                  <a:pt x="0" y="750190"/>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Freeform 21" id="21"/>
          <p:cNvSpPr/>
          <p:nvPr/>
        </p:nvSpPr>
        <p:spPr>
          <a:xfrm flipH="false" flipV="false" rot="8463997">
            <a:off x="16302280" y="5362428"/>
            <a:ext cx="1019338" cy="1023175"/>
          </a:xfrm>
          <a:custGeom>
            <a:avLst/>
            <a:gdLst/>
            <a:ahLst/>
            <a:cxnLst/>
            <a:rect r="r" b="b" t="t" l="l"/>
            <a:pathLst>
              <a:path h="1023175" w="1019338">
                <a:moveTo>
                  <a:pt x="0" y="0"/>
                </a:moveTo>
                <a:lnTo>
                  <a:pt x="1019337" y="0"/>
                </a:lnTo>
                <a:lnTo>
                  <a:pt x="1019337" y="1023175"/>
                </a:lnTo>
                <a:lnTo>
                  <a:pt x="0" y="1023175"/>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sp>
        <p:nvSpPr>
          <p:cNvPr name="TextBox 22" id="22"/>
          <p:cNvSpPr txBox="true"/>
          <p:nvPr/>
        </p:nvSpPr>
        <p:spPr>
          <a:xfrm rot="0">
            <a:off x="6049601" y="1870036"/>
            <a:ext cx="5992319" cy="3267111"/>
          </a:xfrm>
          <a:prstGeom prst="rect">
            <a:avLst/>
          </a:prstGeom>
        </p:spPr>
        <p:txBody>
          <a:bodyPr anchor="t" rtlCol="false" tIns="0" lIns="0" bIns="0" rIns="0">
            <a:spAutoFit/>
          </a:bodyPr>
          <a:lstStyle/>
          <a:p>
            <a:pPr algn="l">
              <a:lnSpc>
                <a:spcPts val="2417"/>
              </a:lnSpc>
            </a:pPr>
            <a:r>
              <a:rPr lang="en-US" sz="1726" b="true">
                <a:solidFill>
                  <a:srgbClr val="253247"/>
                </a:solidFill>
                <a:latin typeface="Glacial Indifference Bold"/>
                <a:ea typeface="Glacial Indifference Bold"/>
                <a:cs typeface="Glacial Indifference Bold"/>
                <a:sym typeface="Glacial Indifference Bold"/>
              </a:rPr>
              <a:t>Price Distribution by County</a:t>
            </a:r>
          </a:p>
          <a:p>
            <a:pPr algn="l">
              <a:lnSpc>
                <a:spcPts val="2417"/>
              </a:lnSpc>
            </a:pPr>
          </a:p>
          <a:p>
            <a:pPr algn="l" marL="372746" indent="-186373" lvl="1">
              <a:lnSpc>
                <a:spcPts val="2417"/>
              </a:lnSpc>
              <a:buFont typeface="Arial"/>
              <a:buChar char="•"/>
            </a:pPr>
            <a:r>
              <a:rPr lang="en-US" b="true" sz="1726">
                <a:solidFill>
                  <a:srgbClr val="253247"/>
                </a:solidFill>
                <a:latin typeface="Glacial Indifference Bold"/>
                <a:ea typeface="Glacial Indifference Bold"/>
                <a:cs typeface="Glacial Indifference Bold"/>
                <a:sym typeface="Glacial Indifference Bold"/>
              </a:rPr>
              <a:t>Chart: </a:t>
            </a:r>
            <a:r>
              <a:rPr lang="en-US" sz="1726">
                <a:solidFill>
                  <a:srgbClr val="253247"/>
                </a:solidFill>
                <a:latin typeface="Glacial Indifference"/>
                <a:ea typeface="Glacial Indifference"/>
                <a:cs typeface="Glacial Indifference"/>
                <a:sym typeface="Glacial Indifference"/>
              </a:rPr>
              <a:t>Bar Plot</a:t>
            </a:r>
          </a:p>
          <a:p>
            <a:pPr algn="l" marL="372746" indent="-186373" lvl="1">
              <a:lnSpc>
                <a:spcPts val="2417"/>
              </a:lnSpc>
              <a:buFont typeface="Arial"/>
              <a:buChar char="•"/>
            </a:pPr>
            <a:r>
              <a:rPr lang="en-US" b="true" sz="1726">
                <a:solidFill>
                  <a:srgbClr val="253247"/>
                </a:solidFill>
                <a:latin typeface="Glacial Indifference Bold"/>
                <a:ea typeface="Glacial Indifference Bold"/>
                <a:cs typeface="Glacial Indifference Bold"/>
                <a:sym typeface="Glacial Indifference Bold"/>
              </a:rPr>
              <a:t>Purpose: </a:t>
            </a:r>
            <a:r>
              <a:rPr lang="en-US" sz="1726">
                <a:solidFill>
                  <a:srgbClr val="253247"/>
                </a:solidFill>
                <a:latin typeface="Glacial Indifference"/>
                <a:ea typeface="Glacial Indifference"/>
                <a:cs typeface="Glacial Indifference"/>
                <a:sym typeface="Glacial Indifference"/>
              </a:rPr>
              <a:t>Compare average property prices across counties</a:t>
            </a:r>
          </a:p>
          <a:p>
            <a:pPr algn="l" marL="372746" indent="-186373" lvl="1">
              <a:lnSpc>
                <a:spcPts val="2417"/>
              </a:lnSpc>
              <a:buFont typeface="Arial"/>
              <a:buChar char="•"/>
            </a:pPr>
            <a:r>
              <a:rPr lang="en-US" b="true" sz="1726">
                <a:solidFill>
                  <a:srgbClr val="253247"/>
                </a:solidFill>
                <a:latin typeface="Glacial Indifference Bold"/>
                <a:ea typeface="Glacial Indifference Bold"/>
                <a:cs typeface="Glacial Indifference Bold"/>
                <a:sym typeface="Glacial Indifference Bold"/>
              </a:rPr>
              <a:t>Packages: </a:t>
            </a:r>
            <a:r>
              <a:rPr lang="en-US" sz="1726">
                <a:solidFill>
                  <a:srgbClr val="253247"/>
                </a:solidFill>
                <a:latin typeface="Glacial Indifference"/>
                <a:ea typeface="Glacial Indifference"/>
                <a:cs typeface="Glacial Indifference"/>
                <a:sym typeface="Glacial Indifference"/>
              </a:rPr>
              <a:t>ggplot2, scales</a:t>
            </a:r>
          </a:p>
          <a:p>
            <a:pPr algn="l" marL="372746" indent="-186373" lvl="1">
              <a:lnSpc>
                <a:spcPts val="2417"/>
              </a:lnSpc>
              <a:buFont typeface="Arial"/>
              <a:buChar char="•"/>
            </a:pPr>
            <a:r>
              <a:rPr lang="en-US" b="true" sz="1726">
                <a:solidFill>
                  <a:srgbClr val="253247"/>
                </a:solidFill>
                <a:latin typeface="Glacial Indifference Bold"/>
                <a:ea typeface="Glacial Indifference Bold"/>
                <a:cs typeface="Glacial Indifference Bold"/>
                <a:sym typeface="Glacial Indifference Bold"/>
              </a:rPr>
              <a:t>Functions: </a:t>
            </a:r>
            <a:r>
              <a:rPr lang="en-US" sz="1726">
                <a:solidFill>
                  <a:srgbClr val="253247"/>
                </a:solidFill>
                <a:latin typeface="Glacial Indifference"/>
                <a:ea typeface="Glacial Indifference"/>
                <a:cs typeface="Glacial Indifference"/>
                <a:sym typeface="Glacial Indifference"/>
              </a:rPr>
              <a:t>stat_summary(fun = "mean"), theme_minimal()</a:t>
            </a:r>
          </a:p>
          <a:p>
            <a:pPr algn="l" marL="372746" indent="-186373" lvl="1">
              <a:lnSpc>
                <a:spcPts val="2417"/>
              </a:lnSpc>
              <a:buFont typeface="Arial"/>
              <a:buChar char="•"/>
            </a:pPr>
            <a:r>
              <a:rPr lang="en-US" b="true" sz="1726">
                <a:solidFill>
                  <a:srgbClr val="253247"/>
                </a:solidFill>
                <a:latin typeface="Glacial Indifference Bold"/>
                <a:ea typeface="Glacial Indifference Bold"/>
                <a:cs typeface="Glacial Indifference Bold"/>
                <a:sym typeface="Glacial Indifference Bold"/>
              </a:rPr>
              <a:t>Key Features:</a:t>
            </a:r>
          </a:p>
          <a:p>
            <a:pPr algn="l" marL="745493" indent="-248498" lvl="2">
              <a:lnSpc>
                <a:spcPts val="2417"/>
              </a:lnSpc>
              <a:buFont typeface="Arial"/>
              <a:buChar char="⚬"/>
            </a:pPr>
            <a:r>
              <a:rPr lang="en-US" sz="1726">
                <a:solidFill>
                  <a:srgbClr val="253247"/>
                </a:solidFill>
                <a:latin typeface="Glacial Indifference"/>
                <a:ea typeface="Glacial Indifference"/>
                <a:cs typeface="Glacial Indifference"/>
                <a:sym typeface="Glacial Indifference"/>
              </a:rPr>
              <a:t>Un</a:t>
            </a:r>
            <a:r>
              <a:rPr lang="en-US" sz="1726">
                <a:solidFill>
                  <a:srgbClr val="253247"/>
                </a:solidFill>
                <a:latin typeface="Glacial Indifference"/>
                <a:ea typeface="Glacial Indifference"/>
                <a:cs typeface="Glacial Indifference"/>
                <a:sym typeface="Glacial Indifference"/>
              </a:rPr>
              <a:t>ique colors assigned with scale_fill_manual()</a:t>
            </a:r>
          </a:p>
          <a:p>
            <a:pPr algn="l" marL="745493" indent="-248498" lvl="2">
              <a:lnSpc>
                <a:spcPts val="2417"/>
              </a:lnSpc>
              <a:buFont typeface="Arial"/>
              <a:buChar char="⚬"/>
            </a:pPr>
            <a:r>
              <a:rPr lang="en-US" sz="1726">
                <a:solidFill>
                  <a:srgbClr val="253247"/>
                </a:solidFill>
                <a:latin typeface="Glacial Indifference"/>
                <a:ea typeface="Glacial Indifference"/>
                <a:cs typeface="Glacial Indifference"/>
                <a:sym typeface="Glacial Indifference"/>
              </a:rPr>
              <a:t>X</a:t>
            </a:r>
            <a:r>
              <a:rPr lang="en-US" sz="1726">
                <a:solidFill>
                  <a:srgbClr val="253247"/>
                </a:solidFill>
                <a:latin typeface="Glacial Indifference"/>
                <a:ea typeface="Glacial Indifference"/>
                <a:cs typeface="Glacial Indifference"/>
                <a:sym typeface="Glacial Indifference"/>
              </a:rPr>
              <a:t>-axis labels rotated for better readability</a:t>
            </a:r>
          </a:p>
          <a:p>
            <a:pPr algn="just">
              <a:lnSpc>
                <a:spcPts val="1778"/>
              </a:lnSpc>
              <a:spcBef>
                <a:spcPct val="0"/>
              </a:spcBef>
            </a:pPr>
          </a:p>
        </p:txBody>
      </p:sp>
      <p:sp>
        <p:nvSpPr>
          <p:cNvPr name="TextBox 23" id="23"/>
          <p:cNvSpPr txBox="true"/>
          <p:nvPr/>
        </p:nvSpPr>
        <p:spPr>
          <a:xfrm rot="0">
            <a:off x="11733001" y="5364981"/>
            <a:ext cx="6867413" cy="3275932"/>
          </a:xfrm>
          <a:prstGeom prst="rect">
            <a:avLst/>
          </a:prstGeom>
        </p:spPr>
        <p:txBody>
          <a:bodyPr anchor="t" rtlCol="false" tIns="0" lIns="0" bIns="0" rIns="0">
            <a:spAutoFit/>
          </a:bodyPr>
          <a:lstStyle/>
          <a:p>
            <a:pPr algn="just">
              <a:lnSpc>
                <a:spcPts val="2461"/>
              </a:lnSpc>
            </a:pPr>
            <a:r>
              <a:rPr lang="en-US" sz="1758" b="true">
                <a:solidFill>
                  <a:srgbClr val="253247"/>
                </a:solidFill>
                <a:latin typeface="Glacial Indifference Bold"/>
                <a:ea typeface="Glacial Indifference Bold"/>
                <a:cs typeface="Glacial Indifference Bold"/>
                <a:sym typeface="Glacial Indifference Bold"/>
              </a:rPr>
              <a:t>Distribution of Properties Sold by County</a:t>
            </a:r>
          </a:p>
          <a:p>
            <a:pPr algn="just">
              <a:lnSpc>
                <a:spcPts val="2461"/>
              </a:lnSpc>
            </a:pPr>
          </a:p>
          <a:p>
            <a:pPr algn="just" marL="379633" indent="-189817" lvl="1">
              <a:lnSpc>
                <a:spcPts val="2461"/>
              </a:lnSpc>
              <a:buFont typeface="Arial"/>
              <a:buChar char="•"/>
            </a:pPr>
            <a:r>
              <a:rPr lang="en-US" b="true" sz="1758">
                <a:solidFill>
                  <a:srgbClr val="253247"/>
                </a:solidFill>
                <a:latin typeface="Glacial Indifference Bold"/>
                <a:ea typeface="Glacial Indifference Bold"/>
                <a:cs typeface="Glacial Indifference Bold"/>
                <a:sym typeface="Glacial Indifference Bold"/>
              </a:rPr>
              <a:t>Chart: </a:t>
            </a:r>
            <a:r>
              <a:rPr lang="en-US" sz="1758">
                <a:solidFill>
                  <a:srgbClr val="253247"/>
                </a:solidFill>
                <a:latin typeface="Glacial Indifference"/>
                <a:ea typeface="Glacial Indifference"/>
                <a:cs typeface="Glacial Indifference"/>
                <a:sym typeface="Glacial Indifference"/>
              </a:rPr>
              <a:t>Pie Chart</a:t>
            </a:r>
          </a:p>
          <a:p>
            <a:pPr algn="just" marL="379633" indent="-189817" lvl="1">
              <a:lnSpc>
                <a:spcPts val="2461"/>
              </a:lnSpc>
              <a:buFont typeface="Arial"/>
              <a:buChar char="•"/>
            </a:pPr>
            <a:r>
              <a:rPr lang="en-US" b="true" sz="1758">
                <a:solidFill>
                  <a:srgbClr val="253247"/>
                </a:solidFill>
                <a:latin typeface="Glacial Indifference Bold"/>
                <a:ea typeface="Glacial Indifference Bold"/>
                <a:cs typeface="Glacial Indifference Bold"/>
                <a:sym typeface="Glacial Indifference Bold"/>
              </a:rPr>
              <a:t>Purpose: </a:t>
            </a:r>
            <a:r>
              <a:rPr lang="en-US" sz="1758">
                <a:solidFill>
                  <a:srgbClr val="253247"/>
                </a:solidFill>
                <a:latin typeface="Glacial Indifference"/>
                <a:ea typeface="Glacial Indifference"/>
                <a:cs typeface="Glacial Indifference"/>
                <a:sym typeface="Glacial Indifference"/>
              </a:rPr>
              <a:t>Visualize sales volume proportions for each county</a:t>
            </a:r>
          </a:p>
          <a:p>
            <a:pPr algn="just" marL="379633" indent="-189817" lvl="1">
              <a:lnSpc>
                <a:spcPts val="2461"/>
              </a:lnSpc>
              <a:buFont typeface="Arial"/>
              <a:buChar char="•"/>
            </a:pPr>
            <a:r>
              <a:rPr lang="en-US" b="true" sz="1758">
                <a:solidFill>
                  <a:srgbClr val="253247"/>
                </a:solidFill>
                <a:latin typeface="Glacial Indifference Bold"/>
                <a:ea typeface="Glacial Indifference Bold"/>
                <a:cs typeface="Glacial Indifference Bold"/>
                <a:sym typeface="Glacial Indifference Bold"/>
              </a:rPr>
              <a:t>Packages: </a:t>
            </a:r>
            <a:r>
              <a:rPr lang="en-US" sz="1758">
                <a:solidFill>
                  <a:srgbClr val="253247"/>
                </a:solidFill>
                <a:latin typeface="Glacial Indifference"/>
                <a:ea typeface="Glacial Indifference"/>
                <a:cs typeface="Glacial Indifference"/>
                <a:sym typeface="Glacial Indifference"/>
              </a:rPr>
              <a:t>ggplot2, scales</a:t>
            </a:r>
          </a:p>
          <a:p>
            <a:pPr algn="just" marL="379633" indent="-189817" lvl="1">
              <a:lnSpc>
                <a:spcPts val="2461"/>
              </a:lnSpc>
              <a:buFont typeface="Arial"/>
              <a:buChar char="•"/>
            </a:pPr>
            <a:r>
              <a:rPr lang="en-US" b="true" sz="1758">
                <a:solidFill>
                  <a:srgbClr val="253247"/>
                </a:solidFill>
                <a:latin typeface="Glacial Indifference Bold"/>
                <a:ea typeface="Glacial Indifference Bold"/>
                <a:cs typeface="Glacial Indifference Bold"/>
                <a:sym typeface="Glacial Indifference Bold"/>
              </a:rPr>
              <a:t>Functions: </a:t>
            </a:r>
            <a:r>
              <a:rPr lang="en-US" sz="1758">
                <a:solidFill>
                  <a:srgbClr val="253247"/>
                </a:solidFill>
                <a:latin typeface="Glacial Indifference"/>
                <a:ea typeface="Glacial Indifference"/>
                <a:cs typeface="Glacial Indifference"/>
                <a:sym typeface="Glacial Indifference"/>
              </a:rPr>
              <a:t>geom_bar(), coord_polar(), theme_void()</a:t>
            </a:r>
          </a:p>
          <a:p>
            <a:pPr algn="just" marL="379633" indent="-189817" lvl="1">
              <a:lnSpc>
                <a:spcPts val="2461"/>
              </a:lnSpc>
              <a:buFont typeface="Arial"/>
              <a:buChar char="•"/>
            </a:pPr>
            <a:r>
              <a:rPr lang="en-US" b="true" sz="1758">
                <a:solidFill>
                  <a:srgbClr val="253247"/>
                </a:solidFill>
                <a:latin typeface="Glacial Indifference Bold"/>
                <a:ea typeface="Glacial Indifference Bold"/>
                <a:cs typeface="Glacial Indifference Bold"/>
                <a:sym typeface="Glacial Indifference Bold"/>
              </a:rPr>
              <a:t>Key Features:</a:t>
            </a:r>
          </a:p>
          <a:p>
            <a:pPr algn="just" marL="759266" indent="-253089" lvl="2">
              <a:lnSpc>
                <a:spcPts val="2461"/>
              </a:lnSpc>
              <a:buFont typeface="Arial"/>
              <a:buChar char="⚬"/>
            </a:pPr>
            <a:r>
              <a:rPr lang="en-US" sz="1758">
                <a:solidFill>
                  <a:srgbClr val="253247"/>
                </a:solidFill>
                <a:latin typeface="Glacial Indifference"/>
                <a:ea typeface="Glacial Indifference"/>
                <a:cs typeface="Glacial Indifference"/>
                <a:sym typeface="Glacial Indifference"/>
              </a:rPr>
              <a:t>Dist</a:t>
            </a:r>
            <a:r>
              <a:rPr lang="en-US" sz="1758">
                <a:solidFill>
                  <a:srgbClr val="253247"/>
                </a:solidFill>
                <a:latin typeface="Glacial Indifference"/>
                <a:ea typeface="Glacial Indifference"/>
                <a:cs typeface="Glacial Indifference"/>
                <a:sym typeface="Glacial Indifference"/>
              </a:rPr>
              <a:t>inct colors with scale_fill_manual()</a:t>
            </a:r>
          </a:p>
          <a:p>
            <a:pPr algn="just" marL="759266" indent="-253089" lvl="2">
              <a:lnSpc>
                <a:spcPts val="2461"/>
              </a:lnSpc>
              <a:buFont typeface="Arial"/>
              <a:buChar char="⚬"/>
            </a:pPr>
            <a:r>
              <a:rPr lang="en-US" sz="1758">
                <a:solidFill>
                  <a:srgbClr val="253247"/>
                </a:solidFill>
                <a:latin typeface="Glacial Indifference"/>
                <a:ea typeface="Glacial Indifference"/>
                <a:cs typeface="Glacial Indifference"/>
                <a:sym typeface="Glacial Indifference"/>
              </a:rPr>
              <a:t>Clea</a:t>
            </a:r>
            <a:r>
              <a:rPr lang="en-US" sz="1758">
                <a:solidFill>
                  <a:srgbClr val="253247"/>
                </a:solidFill>
                <a:latin typeface="Glacial Indifference"/>
                <a:ea typeface="Glacial Indifference"/>
                <a:cs typeface="Glacial Indifference"/>
                <a:sym typeface="Glacial Indifference"/>
              </a:rPr>
              <a:t>n layout using theme_void()</a:t>
            </a:r>
          </a:p>
          <a:p>
            <a:pPr algn="just">
              <a:lnSpc>
                <a:spcPts val="2461"/>
              </a:lnSpc>
            </a:pPr>
          </a:p>
          <a:p>
            <a:pPr algn="just">
              <a:lnSpc>
                <a:spcPts val="1811"/>
              </a:lnSpc>
              <a:spcBef>
                <a:spcPct val="0"/>
              </a:spcBef>
            </a:pPr>
          </a:p>
        </p:txBody>
      </p:sp>
    </p:spTree>
  </p:cSld>
  <p:clrMapOvr>
    <a:masterClrMapping/>
  </p:clrMapOvr>
</p:sld>
</file>

<file path=ppt/slides/slide2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520" t="-9253" r="-11258" b="-23212"/>
            </a:stretch>
          </a:blipFill>
        </p:spPr>
      </p:sp>
      <p:grpSp>
        <p:nvGrpSpPr>
          <p:cNvPr name="Group 3" id="3"/>
          <p:cNvGrpSpPr/>
          <p:nvPr/>
        </p:nvGrpSpPr>
        <p:grpSpPr>
          <a:xfrm rot="0">
            <a:off x="0" y="3522123"/>
            <a:ext cx="4486905" cy="3926041"/>
            <a:chOff x="0" y="0"/>
            <a:chExt cx="812800" cy="711200"/>
          </a:xfrm>
        </p:grpSpPr>
        <p:sp>
          <p:nvSpPr>
            <p:cNvPr name="Freeform 4" id="4"/>
            <p:cNvSpPr/>
            <p:nvPr/>
          </p:nvSpPr>
          <p:spPr>
            <a:xfrm flipH="false" flipV="false" rot="0">
              <a:off x="0" y="0"/>
              <a:ext cx="812800" cy="711200"/>
            </a:xfrm>
            <a:custGeom>
              <a:avLst/>
              <a:gdLst/>
              <a:ahLst/>
              <a:cxnLst/>
              <a:rect r="r" b="b" t="t" l="l"/>
              <a:pathLst>
                <a:path h="711200" w="812800">
                  <a:moveTo>
                    <a:pt x="406400" y="0"/>
                  </a:moveTo>
                  <a:lnTo>
                    <a:pt x="812800" y="711200"/>
                  </a:lnTo>
                  <a:lnTo>
                    <a:pt x="0" y="711200"/>
                  </a:lnTo>
                  <a:lnTo>
                    <a:pt x="406400" y="0"/>
                  </a:lnTo>
                  <a:close/>
                </a:path>
              </a:pathLst>
            </a:custGeom>
            <a:blipFill>
              <a:blip r:embed="rId3"/>
              <a:stretch>
                <a:fillRect l="-30247" t="0" r="-28863" b="-21227"/>
              </a:stretch>
            </a:blipFill>
            <a:ln w="38100" cap="sq">
              <a:solidFill>
                <a:srgbClr val="FFFFFF"/>
              </a:solidFill>
              <a:prstDash val="solid"/>
              <a:miter/>
            </a:ln>
          </p:spPr>
        </p:sp>
      </p:grpSp>
      <p:grpSp>
        <p:nvGrpSpPr>
          <p:cNvPr name="Group 5" id="5"/>
          <p:cNvGrpSpPr/>
          <p:nvPr/>
        </p:nvGrpSpPr>
        <p:grpSpPr>
          <a:xfrm rot="-10800000">
            <a:off x="623008" y="0"/>
            <a:ext cx="7298662" cy="6386329"/>
            <a:chOff x="0" y="0"/>
            <a:chExt cx="812800" cy="711200"/>
          </a:xfrm>
        </p:grpSpPr>
        <p:sp>
          <p:nvSpPr>
            <p:cNvPr name="Freeform 6" id="6"/>
            <p:cNvSpPr/>
            <p:nvPr/>
          </p:nvSpPr>
          <p:spPr>
            <a:xfrm flipH="true" flipV="true" rot="0">
              <a:off x="0" y="0"/>
              <a:ext cx="812800" cy="711200"/>
            </a:xfrm>
            <a:custGeom>
              <a:avLst/>
              <a:gdLst/>
              <a:ahLst/>
              <a:cxnLst/>
              <a:rect r="r" b="b" t="t" l="l"/>
              <a:pathLst>
                <a:path h="711200" w="812800">
                  <a:moveTo>
                    <a:pt x="406400" y="711200"/>
                  </a:moveTo>
                  <a:lnTo>
                    <a:pt x="0" y="0"/>
                  </a:lnTo>
                  <a:lnTo>
                    <a:pt x="812800" y="0"/>
                  </a:lnTo>
                  <a:lnTo>
                    <a:pt x="406400" y="711200"/>
                  </a:lnTo>
                  <a:close/>
                </a:path>
              </a:pathLst>
            </a:custGeom>
            <a:blipFill>
              <a:blip r:embed="rId3"/>
              <a:stretch>
                <a:fillRect l="-30247" t="0" r="-28863" b="-21227"/>
              </a:stretch>
            </a:blipFill>
            <a:ln w="38100" cap="sq">
              <a:solidFill>
                <a:srgbClr val="FFFFFF"/>
              </a:solidFill>
              <a:prstDash val="solid"/>
              <a:miter/>
            </a:ln>
          </p:spPr>
        </p:sp>
      </p:grpSp>
      <p:grpSp>
        <p:nvGrpSpPr>
          <p:cNvPr name="Group 7" id="7"/>
          <p:cNvGrpSpPr/>
          <p:nvPr/>
        </p:nvGrpSpPr>
        <p:grpSpPr>
          <a:xfrm rot="0">
            <a:off x="4486905" y="1117093"/>
            <a:ext cx="18475481" cy="12662144"/>
            <a:chOff x="0" y="0"/>
            <a:chExt cx="1019189" cy="698500"/>
          </a:xfrm>
        </p:grpSpPr>
        <p:sp>
          <p:nvSpPr>
            <p:cNvPr name="Freeform 8" id="8"/>
            <p:cNvSpPr/>
            <p:nvPr/>
          </p:nvSpPr>
          <p:spPr>
            <a:xfrm flipH="false" flipV="false" rot="0">
              <a:off x="0" y="0"/>
              <a:ext cx="1019189" cy="698500"/>
            </a:xfrm>
            <a:custGeom>
              <a:avLst/>
              <a:gdLst/>
              <a:ahLst/>
              <a:cxnLst/>
              <a:rect r="r" b="b" t="t" l="l"/>
              <a:pathLst>
                <a:path h="698500" w="1019189">
                  <a:moveTo>
                    <a:pt x="1019189" y="349250"/>
                  </a:moveTo>
                  <a:lnTo>
                    <a:pt x="815989" y="698500"/>
                  </a:lnTo>
                  <a:lnTo>
                    <a:pt x="203200" y="698500"/>
                  </a:lnTo>
                  <a:lnTo>
                    <a:pt x="0" y="349250"/>
                  </a:lnTo>
                  <a:lnTo>
                    <a:pt x="203200" y="0"/>
                  </a:lnTo>
                  <a:lnTo>
                    <a:pt x="815989" y="0"/>
                  </a:lnTo>
                  <a:lnTo>
                    <a:pt x="1019189" y="349250"/>
                  </a:lnTo>
                  <a:close/>
                </a:path>
              </a:pathLst>
            </a:custGeom>
            <a:solidFill>
              <a:srgbClr val="FFFFFF">
                <a:alpha val="93725"/>
              </a:srgbClr>
            </a:solidFill>
          </p:spPr>
        </p:sp>
        <p:sp>
          <p:nvSpPr>
            <p:cNvPr name="TextBox 9" id="9"/>
            <p:cNvSpPr txBox="true"/>
            <p:nvPr/>
          </p:nvSpPr>
          <p:spPr>
            <a:xfrm>
              <a:off x="114300" y="-38100"/>
              <a:ext cx="790589" cy="736600"/>
            </a:xfrm>
            <a:prstGeom prst="rect">
              <a:avLst/>
            </a:prstGeom>
          </p:spPr>
          <p:txBody>
            <a:bodyPr anchor="ctr" rtlCol="false" tIns="50800" lIns="50800" bIns="50800" rIns="50800"/>
            <a:lstStyle/>
            <a:p>
              <a:pPr algn="ctr">
                <a:lnSpc>
                  <a:spcPts val="2659"/>
                </a:lnSpc>
                <a:spcBef>
                  <a:spcPct val="0"/>
                </a:spcBef>
              </a:pPr>
            </a:p>
          </p:txBody>
        </p:sp>
      </p:grpSp>
      <p:sp>
        <p:nvSpPr>
          <p:cNvPr name="TextBox 10" id="10"/>
          <p:cNvSpPr txBox="true"/>
          <p:nvPr/>
        </p:nvSpPr>
        <p:spPr>
          <a:xfrm rot="0">
            <a:off x="7013057" y="3746676"/>
            <a:ext cx="10000845" cy="1203757"/>
          </a:xfrm>
          <a:prstGeom prst="rect">
            <a:avLst/>
          </a:prstGeom>
        </p:spPr>
        <p:txBody>
          <a:bodyPr anchor="t" rtlCol="false" tIns="0" lIns="0" bIns="0" rIns="0">
            <a:spAutoFit/>
          </a:bodyPr>
          <a:lstStyle/>
          <a:p>
            <a:pPr algn="r">
              <a:lnSpc>
                <a:spcPts val="9889"/>
              </a:lnSpc>
            </a:pPr>
            <a:r>
              <a:rPr lang="en-US" sz="7064">
                <a:solidFill>
                  <a:srgbClr val="253247"/>
                </a:solidFill>
                <a:latin typeface="League Spartan"/>
                <a:ea typeface="League Spartan"/>
                <a:cs typeface="League Spartan"/>
                <a:sym typeface="League Spartan"/>
              </a:rPr>
              <a:t>CONCLUSION</a:t>
            </a:r>
          </a:p>
        </p:txBody>
      </p:sp>
      <p:sp>
        <p:nvSpPr>
          <p:cNvPr name="TextBox 11" id="11"/>
          <p:cNvSpPr txBox="true"/>
          <p:nvPr/>
        </p:nvSpPr>
        <p:spPr>
          <a:xfrm rot="0">
            <a:off x="8571920" y="5230840"/>
            <a:ext cx="8687380" cy="2658936"/>
          </a:xfrm>
          <a:prstGeom prst="rect">
            <a:avLst/>
          </a:prstGeom>
        </p:spPr>
        <p:txBody>
          <a:bodyPr anchor="t" rtlCol="false" tIns="0" lIns="0" bIns="0" rIns="0">
            <a:spAutoFit/>
          </a:bodyPr>
          <a:lstStyle/>
          <a:p>
            <a:pPr algn="r">
              <a:lnSpc>
                <a:spcPts val="3069"/>
              </a:lnSpc>
              <a:spcBef>
                <a:spcPct val="0"/>
              </a:spcBef>
            </a:pPr>
            <a:r>
              <a:rPr lang="en-US" sz="2192">
                <a:solidFill>
                  <a:srgbClr val="253247"/>
                </a:solidFill>
                <a:latin typeface="Glacial Indifference"/>
                <a:ea typeface="Glacial Indifference"/>
                <a:cs typeface="Glacial Indifference"/>
                <a:sym typeface="Glacial Indifference"/>
              </a:rPr>
              <a:t>The project enhanced data consistency by addressing duplicates, standardizing formats, and ensuring reliable data structures. Outliers were identified and managed to improve the integrity and accuracy of the dataset. Additional columns were created to enrich the data and support meaningful analysis. Visualizations were developed to effectively highlight trends, distributions, and relationships, providing clear insights for decision-making.</a:t>
            </a:r>
          </a:p>
        </p:txBody>
      </p:sp>
    </p:spTree>
  </p:cSld>
  <p:clrMapOvr>
    <a:masterClrMapping/>
  </p:clrMapOvr>
</p:sld>
</file>

<file path=ppt/slides/slide2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520" t="-9253" r="-11258" b="-23212"/>
            </a:stretch>
          </a:blipFill>
        </p:spPr>
      </p:sp>
      <p:grpSp>
        <p:nvGrpSpPr>
          <p:cNvPr name="Group 3" id="3"/>
          <p:cNvGrpSpPr/>
          <p:nvPr/>
        </p:nvGrpSpPr>
        <p:grpSpPr>
          <a:xfrm rot="0">
            <a:off x="-4491542" y="-1187572"/>
            <a:ext cx="16846659" cy="12662144"/>
            <a:chOff x="0" y="0"/>
            <a:chExt cx="929336" cy="698500"/>
          </a:xfrm>
        </p:grpSpPr>
        <p:sp>
          <p:nvSpPr>
            <p:cNvPr name="Freeform 4" id="4"/>
            <p:cNvSpPr/>
            <p:nvPr/>
          </p:nvSpPr>
          <p:spPr>
            <a:xfrm flipH="false" flipV="false" rot="0">
              <a:off x="0" y="0"/>
              <a:ext cx="929336" cy="698500"/>
            </a:xfrm>
            <a:custGeom>
              <a:avLst/>
              <a:gdLst/>
              <a:ahLst/>
              <a:cxnLst/>
              <a:rect r="r" b="b" t="t" l="l"/>
              <a:pathLst>
                <a:path h="698500" w="929336">
                  <a:moveTo>
                    <a:pt x="929336" y="349250"/>
                  </a:moveTo>
                  <a:lnTo>
                    <a:pt x="726136" y="698500"/>
                  </a:lnTo>
                  <a:lnTo>
                    <a:pt x="203200" y="698500"/>
                  </a:lnTo>
                  <a:lnTo>
                    <a:pt x="0" y="349250"/>
                  </a:lnTo>
                  <a:lnTo>
                    <a:pt x="203200" y="0"/>
                  </a:lnTo>
                  <a:lnTo>
                    <a:pt x="726136" y="0"/>
                  </a:lnTo>
                  <a:lnTo>
                    <a:pt x="929336" y="349250"/>
                  </a:lnTo>
                  <a:close/>
                </a:path>
              </a:pathLst>
            </a:custGeom>
            <a:solidFill>
              <a:srgbClr val="FFFFFF">
                <a:alpha val="83922"/>
              </a:srgbClr>
            </a:solidFill>
          </p:spPr>
        </p:sp>
        <p:sp>
          <p:nvSpPr>
            <p:cNvPr name="TextBox 5" id="5"/>
            <p:cNvSpPr txBox="true"/>
            <p:nvPr/>
          </p:nvSpPr>
          <p:spPr>
            <a:xfrm>
              <a:off x="114300" y="-38100"/>
              <a:ext cx="700736" cy="736600"/>
            </a:xfrm>
            <a:prstGeom prst="rect">
              <a:avLst/>
            </a:prstGeom>
          </p:spPr>
          <p:txBody>
            <a:bodyPr anchor="ctr" rtlCol="false" tIns="50800" lIns="50800" bIns="50800" rIns="50800"/>
            <a:lstStyle/>
            <a:p>
              <a:pPr algn="ctr">
                <a:lnSpc>
                  <a:spcPts val="2659"/>
                </a:lnSpc>
                <a:spcBef>
                  <a:spcPct val="0"/>
                </a:spcBef>
              </a:pPr>
            </a:p>
          </p:txBody>
        </p:sp>
      </p:grpSp>
      <p:sp>
        <p:nvSpPr>
          <p:cNvPr name="Freeform 6" id="6"/>
          <p:cNvSpPr/>
          <p:nvPr/>
        </p:nvSpPr>
        <p:spPr>
          <a:xfrm flipH="false" flipV="false" rot="0">
            <a:off x="0" y="6365042"/>
            <a:ext cx="3931788" cy="3921958"/>
          </a:xfrm>
          <a:custGeom>
            <a:avLst/>
            <a:gdLst/>
            <a:ahLst/>
            <a:cxnLst/>
            <a:rect r="r" b="b" t="t" l="l"/>
            <a:pathLst>
              <a:path h="3921958" w="3931788">
                <a:moveTo>
                  <a:pt x="0" y="0"/>
                </a:moveTo>
                <a:lnTo>
                  <a:pt x="3931788" y="0"/>
                </a:lnTo>
                <a:lnTo>
                  <a:pt x="3931788" y="3921958"/>
                </a:lnTo>
                <a:lnTo>
                  <a:pt x="0" y="3921958"/>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7" id="7"/>
          <p:cNvGrpSpPr/>
          <p:nvPr/>
        </p:nvGrpSpPr>
        <p:grpSpPr>
          <a:xfrm rot="3514545">
            <a:off x="2136743" y="1871976"/>
            <a:ext cx="13665829" cy="1525700"/>
            <a:chOff x="0" y="0"/>
            <a:chExt cx="3599231" cy="401831"/>
          </a:xfrm>
        </p:grpSpPr>
        <p:sp>
          <p:nvSpPr>
            <p:cNvPr name="Freeform 8" id="8"/>
            <p:cNvSpPr/>
            <p:nvPr/>
          </p:nvSpPr>
          <p:spPr>
            <a:xfrm flipH="false" flipV="false" rot="0">
              <a:off x="0" y="0"/>
              <a:ext cx="3599231" cy="401831"/>
            </a:xfrm>
            <a:custGeom>
              <a:avLst/>
              <a:gdLst/>
              <a:ahLst/>
              <a:cxnLst/>
              <a:rect r="r" b="b" t="t" l="l"/>
              <a:pathLst>
                <a:path h="401831" w="3599231">
                  <a:moveTo>
                    <a:pt x="203200" y="0"/>
                  </a:moveTo>
                  <a:lnTo>
                    <a:pt x="3599231" y="0"/>
                  </a:lnTo>
                  <a:lnTo>
                    <a:pt x="3396031" y="401831"/>
                  </a:lnTo>
                  <a:lnTo>
                    <a:pt x="0" y="401831"/>
                  </a:lnTo>
                  <a:lnTo>
                    <a:pt x="203200" y="0"/>
                  </a:lnTo>
                  <a:close/>
                </a:path>
              </a:pathLst>
            </a:custGeom>
            <a:solidFill>
              <a:srgbClr val="578EAF"/>
            </a:solidFill>
          </p:spPr>
        </p:sp>
        <p:sp>
          <p:nvSpPr>
            <p:cNvPr name="TextBox 9" id="9"/>
            <p:cNvSpPr txBox="true"/>
            <p:nvPr/>
          </p:nvSpPr>
          <p:spPr>
            <a:xfrm>
              <a:off x="101600" y="-38100"/>
              <a:ext cx="3396031" cy="439931"/>
            </a:xfrm>
            <a:prstGeom prst="rect">
              <a:avLst/>
            </a:prstGeom>
          </p:spPr>
          <p:txBody>
            <a:bodyPr anchor="ctr" rtlCol="false" tIns="50800" lIns="50800" bIns="50800" rIns="50800"/>
            <a:lstStyle/>
            <a:p>
              <a:pPr algn="ctr">
                <a:lnSpc>
                  <a:spcPts val="2659"/>
                </a:lnSpc>
              </a:pPr>
            </a:p>
          </p:txBody>
        </p:sp>
      </p:grpSp>
      <p:grpSp>
        <p:nvGrpSpPr>
          <p:cNvPr name="Group 10" id="10"/>
          <p:cNvGrpSpPr/>
          <p:nvPr/>
        </p:nvGrpSpPr>
        <p:grpSpPr>
          <a:xfrm rot="7225038">
            <a:off x="5047261" y="10910186"/>
            <a:ext cx="10495456" cy="1412986"/>
            <a:chOff x="0" y="0"/>
            <a:chExt cx="2764235" cy="372144"/>
          </a:xfrm>
        </p:grpSpPr>
        <p:sp>
          <p:nvSpPr>
            <p:cNvPr name="Freeform 11" id="11"/>
            <p:cNvSpPr/>
            <p:nvPr/>
          </p:nvSpPr>
          <p:spPr>
            <a:xfrm flipH="false" flipV="false" rot="0">
              <a:off x="0" y="0"/>
              <a:ext cx="2764235" cy="372144"/>
            </a:xfrm>
            <a:custGeom>
              <a:avLst/>
              <a:gdLst/>
              <a:ahLst/>
              <a:cxnLst/>
              <a:rect r="r" b="b" t="t" l="l"/>
              <a:pathLst>
                <a:path h="372144" w="2764235">
                  <a:moveTo>
                    <a:pt x="203200" y="0"/>
                  </a:moveTo>
                  <a:lnTo>
                    <a:pt x="2764235" y="0"/>
                  </a:lnTo>
                  <a:lnTo>
                    <a:pt x="2561035" y="372144"/>
                  </a:lnTo>
                  <a:lnTo>
                    <a:pt x="0" y="372144"/>
                  </a:lnTo>
                  <a:lnTo>
                    <a:pt x="203200" y="0"/>
                  </a:lnTo>
                  <a:close/>
                </a:path>
              </a:pathLst>
            </a:custGeom>
            <a:solidFill>
              <a:srgbClr val="6AABD2"/>
            </a:solidFill>
          </p:spPr>
        </p:sp>
        <p:sp>
          <p:nvSpPr>
            <p:cNvPr name="TextBox 12" id="12"/>
            <p:cNvSpPr txBox="true"/>
            <p:nvPr/>
          </p:nvSpPr>
          <p:spPr>
            <a:xfrm>
              <a:off x="101600" y="-38100"/>
              <a:ext cx="2561035" cy="410244"/>
            </a:xfrm>
            <a:prstGeom prst="rect">
              <a:avLst/>
            </a:prstGeom>
          </p:spPr>
          <p:txBody>
            <a:bodyPr anchor="ctr" rtlCol="false" tIns="50800" lIns="50800" bIns="50800" rIns="50800"/>
            <a:lstStyle/>
            <a:p>
              <a:pPr algn="ctr">
                <a:lnSpc>
                  <a:spcPts val="2659"/>
                </a:lnSpc>
              </a:pPr>
            </a:p>
          </p:txBody>
        </p:sp>
      </p:grpSp>
      <p:sp>
        <p:nvSpPr>
          <p:cNvPr name="TextBox 13" id="13"/>
          <p:cNvSpPr txBox="true"/>
          <p:nvPr/>
        </p:nvSpPr>
        <p:spPr>
          <a:xfrm rot="0">
            <a:off x="1028700" y="4618242"/>
            <a:ext cx="7305270" cy="1389967"/>
          </a:xfrm>
          <a:prstGeom prst="rect">
            <a:avLst/>
          </a:prstGeom>
        </p:spPr>
        <p:txBody>
          <a:bodyPr anchor="t" rtlCol="false" tIns="0" lIns="0" bIns="0" rIns="0">
            <a:spAutoFit/>
          </a:bodyPr>
          <a:lstStyle/>
          <a:p>
            <a:pPr algn="l">
              <a:lnSpc>
                <a:spcPts val="11398"/>
              </a:lnSpc>
            </a:pPr>
            <a:r>
              <a:rPr lang="en-US" sz="8141">
                <a:solidFill>
                  <a:srgbClr val="253247"/>
                </a:solidFill>
                <a:latin typeface="League Spartan"/>
                <a:ea typeface="League Spartan"/>
                <a:cs typeface="League Spartan"/>
                <a:sym typeface="League Spartan"/>
              </a:rPr>
              <a:t>THANK YOU</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DAGYolGG1Ds</dc:identifier>
  <dcterms:modified xsi:type="dcterms:W3CDTF">2011-08-01T06:04:30Z</dcterms:modified>
  <cp:revision>1</cp:revision>
  <dc:title>Business</dc:title>
</cp:coreProperties>
</file>